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3" r:id="rId3"/>
    <p:sldId id="256" r:id="rId4"/>
    <p:sldId id="266" r:id="rId5"/>
    <p:sldId id="268" r:id="rId6"/>
    <p:sldId id="269" r:id="rId7"/>
    <p:sldId id="264" r:id="rId8"/>
    <p:sldId id="260" r:id="rId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B7B7B"/>
    <a:srgbClr val="000000"/>
    <a:srgbClr val="8EAD49"/>
    <a:srgbClr val="280EE8"/>
    <a:srgbClr val="FFCC00"/>
    <a:srgbClr val="97D7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 autoAdjust="0"/>
    <p:restoredTop sz="97407" autoAdjust="0"/>
  </p:normalViewPr>
  <p:slideViewPr>
    <p:cSldViewPr>
      <p:cViewPr>
        <p:scale>
          <a:sx n="79" d="100"/>
          <a:sy n="79" d="100"/>
        </p:scale>
        <p:origin x="204" y="-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D61D55-2CF4-4E6B-B740-4A0300255D28}" type="datetimeFigureOut">
              <a:rPr lang="en-US"/>
              <a:pPr>
                <a:defRPr/>
              </a:pPr>
              <a:t>8/25/2008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160BE4-4132-481C-9D84-6998F4224DF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C5D010-5145-41CB-9297-A3171287FC6C}" type="datetimeFigureOut">
              <a:rPr lang="en-US"/>
              <a:pPr>
                <a:defRPr/>
              </a:pPr>
              <a:t>8/25/2008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F78B24-18BD-4DDD-BB9E-699F97D53D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E6A43E-D996-4F16-A7A4-A9D034556864}" type="datetimeFigureOut">
              <a:rPr lang="en-US"/>
              <a:pPr>
                <a:defRPr/>
              </a:pPr>
              <a:t>8/25/2008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34F6A9-BFA7-43B1-89AA-EC2B5272372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D8F7BE-4BD1-4DBC-BF9D-AEDCB4F09B68}" type="datetimeFigureOut">
              <a:rPr lang="en-US"/>
              <a:pPr>
                <a:defRPr/>
              </a:pPr>
              <a:t>8/25/2008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8A77D2-C2CE-4B3D-8D10-F3DBD2147D4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B9786A-0F91-4595-8928-2D99BF293DF1}" type="datetimeFigureOut">
              <a:rPr lang="en-US"/>
              <a:pPr>
                <a:defRPr/>
              </a:pPr>
              <a:t>8/25/2008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05A952-09F8-44DE-9A70-14B664022BC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A8271F-4C0B-4EFD-94C3-A0EC3348AA49}" type="datetimeFigureOut">
              <a:rPr lang="en-US"/>
              <a:pPr>
                <a:defRPr/>
              </a:pPr>
              <a:t>8/25/2008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D699CD-A71F-41C1-A115-BD4844BE6C0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578ACD-EF67-4031-8AC2-274277B27ED4}" type="datetimeFigureOut">
              <a:rPr lang="en-US"/>
              <a:pPr>
                <a:defRPr/>
              </a:pPr>
              <a:t>8/25/2008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452851-E75E-49ED-A5D2-73844148C65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921CE9-E5DD-49C3-B5B3-273157399F89}" type="datetimeFigureOut">
              <a:rPr lang="en-US"/>
              <a:pPr>
                <a:defRPr/>
              </a:pPr>
              <a:t>8/25/2008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9202E6-3B94-4CA4-8067-4B661CA3EF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AF83B2-FBE2-4A0D-A130-0855DB683D23}" type="datetimeFigureOut">
              <a:rPr lang="en-US"/>
              <a:pPr>
                <a:defRPr/>
              </a:pPr>
              <a:t>8/25/2008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FDD1A6-36AE-4311-9FEC-C2CDB40B32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1E9DE5-0F33-425A-BBBD-5F11BE03D091}" type="datetimeFigureOut">
              <a:rPr lang="en-US"/>
              <a:pPr>
                <a:defRPr/>
              </a:pPr>
              <a:t>8/25/2008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4BC042-A82E-4200-916F-F784DFA90EE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68BF97-FA85-4990-B824-6EB97D12AE15}" type="datetimeFigureOut">
              <a:rPr lang="en-US"/>
              <a:pPr>
                <a:defRPr/>
              </a:pPr>
              <a:t>8/25/2008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C48D6C-D35E-443C-A0BC-37D89B0DC92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13D095BF-FB26-483B-9133-D6AC65AA26A7}" type="datetimeFigureOut">
              <a:rPr lang="en-US"/>
              <a:pPr>
                <a:defRPr/>
              </a:pPr>
              <a:t>8/25/2008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A702C407-C17E-4C30-8127-7E833F09FC1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eg"/><Relationship Id="rId11" Type="http://schemas.openxmlformats.org/officeDocument/2006/relationships/image" Target="../media/image11.jpeg"/><Relationship Id="rId5" Type="http://schemas.openxmlformats.org/officeDocument/2006/relationships/image" Target="../media/image5.jpeg"/><Relationship Id="rId10" Type="http://schemas.openxmlformats.org/officeDocument/2006/relationships/image" Target="../media/image10.jpeg"/><Relationship Id="rId4" Type="http://schemas.openxmlformats.org/officeDocument/2006/relationships/image" Target="../media/image4.jpe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image" Target="../media/image3.jpeg"/><Relationship Id="rId7" Type="http://schemas.openxmlformats.org/officeDocument/2006/relationships/image" Target="../media/image10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://www.marketwatch.com/" TargetMode="External"/><Relationship Id="rId3" Type="http://schemas.openxmlformats.org/officeDocument/2006/relationships/hyperlink" Target="http://www.anz.com/" TargetMode="External"/><Relationship Id="rId7" Type="http://schemas.openxmlformats.org/officeDocument/2006/relationships/hyperlink" Target="http://www.usbank.com/" TargetMode="External"/><Relationship Id="rId2" Type="http://schemas.openxmlformats.org/officeDocument/2006/relationships/hyperlink" Target="http://www.chase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citibank.com/us/index.htm" TargetMode="External"/><Relationship Id="rId5" Type="http://schemas.openxmlformats.org/officeDocument/2006/relationships/hyperlink" Target="https://www.bankofamerica.com/" TargetMode="External"/><Relationship Id="rId10" Type="http://schemas.openxmlformats.org/officeDocument/2006/relationships/hyperlink" Target="http://www.stumbleupon.com/demo/?review=1" TargetMode="External"/><Relationship Id="rId4" Type="http://schemas.openxmlformats.org/officeDocument/2006/relationships/hyperlink" Target="http://www.standardchartered.com.sg/" TargetMode="External"/><Relationship Id="rId9" Type="http://schemas.openxmlformats.org/officeDocument/2006/relationships/hyperlink" Target="http://www.creditcards.com/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11163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Our Previous CBS</a:t>
            </a:r>
            <a:endParaRPr lang="en-US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4" name="Content Placeholder 3" descr="Screenshot-1.png"/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381000" y="762000"/>
            <a:ext cx="8072438" cy="5943600"/>
          </a:xfr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5364162"/>
          </a:xfrm>
          <a:solidFill>
            <a:schemeClr val="accent3"/>
          </a:solidFill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2438400" y="4495800"/>
            <a:ext cx="5029200" cy="523875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/>
            <a:r>
              <a:rPr lang="en-US" sz="2800" dirty="0" smtClean="0">
                <a:latin typeface="Calibri" pitchFamily="34" charset="0"/>
              </a:rPr>
              <a:t>Internet Banking System</a:t>
            </a:r>
            <a:endParaRPr lang="en-US" sz="2800" dirty="0">
              <a:latin typeface="Calibri" pitchFamily="34" charset="0"/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2895600" y="990600"/>
            <a:ext cx="3657600" cy="5238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/>
            <a:r>
              <a:rPr lang="en-US" sz="2800" dirty="0">
                <a:latin typeface="Calibri" pitchFamily="34" charset="0"/>
              </a:rPr>
              <a:t>WELCOME</a:t>
            </a:r>
          </a:p>
        </p:txBody>
      </p:sp>
      <p:sp>
        <p:nvSpPr>
          <p:cNvPr id="10" name="Oval 9"/>
          <p:cNvSpPr/>
          <p:nvPr/>
        </p:nvSpPr>
        <p:spPr>
          <a:xfrm>
            <a:off x="3429000" y="2057400"/>
            <a:ext cx="2667000" cy="21336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dirty="0" smtClean="0">
                <a:solidFill>
                  <a:schemeClr val="tx1">
                    <a:lumMod val="85000"/>
                  </a:schemeClr>
                </a:solidFill>
              </a:rPr>
              <a:t>To the 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dirty="0" smtClean="0">
                <a:solidFill>
                  <a:schemeClr val="tx1">
                    <a:lumMod val="85000"/>
                  </a:schemeClr>
                </a:solidFill>
              </a:rPr>
              <a:t>NEW ERA</a:t>
            </a:r>
            <a:br>
              <a:rPr lang="en-US" sz="3200" dirty="0" smtClean="0">
                <a:solidFill>
                  <a:schemeClr val="tx1">
                    <a:lumMod val="85000"/>
                  </a:schemeClr>
                </a:solidFill>
              </a:rPr>
            </a:br>
            <a:r>
              <a:rPr lang="en-US" sz="3200" dirty="0" smtClean="0">
                <a:solidFill>
                  <a:schemeClr val="tx1">
                    <a:lumMod val="85000"/>
                  </a:schemeClr>
                </a:solidFill>
              </a:rPr>
              <a:t>of</a:t>
            </a:r>
            <a:endParaRPr lang="en-US" sz="3200" dirty="0">
              <a:solidFill>
                <a:schemeClr val="tx1">
                  <a:lumMod val="85000"/>
                </a:schemeClr>
              </a:solidFill>
            </a:endParaRPr>
          </a:p>
        </p:txBody>
      </p:sp>
      <p:sp>
        <p:nvSpPr>
          <p:cNvPr id="13" name="Curved Left Arrow 12"/>
          <p:cNvSpPr/>
          <p:nvPr/>
        </p:nvSpPr>
        <p:spPr>
          <a:xfrm rot="1262581">
            <a:off x="6473302" y="1157584"/>
            <a:ext cx="1025899" cy="2801076"/>
          </a:xfrm>
          <a:prstGeom prst="curvedLeftArrow">
            <a:avLst>
              <a:gd name="adj1" fmla="val 25000"/>
              <a:gd name="adj2" fmla="val 50000"/>
              <a:gd name="adj3" fmla="val 2864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Curved Right Arrow 13"/>
          <p:cNvSpPr/>
          <p:nvPr/>
        </p:nvSpPr>
        <p:spPr>
          <a:xfrm rot="1853540">
            <a:off x="1518283" y="2270389"/>
            <a:ext cx="1363521" cy="2805129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21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3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5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uiExpand="1" build="allAtOnce" animBg="1"/>
      <p:bldP spid="7" grpId="0" uiExpand="1" build="allAtOnce" animBg="1"/>
      <p:bldP spid="10" grpId="0" animBg="1"/>
      <p:bldP spid="13" grpId="0" animBg="1"/>
      <p:bldP spid="1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0"/>
            <a:ext cx="9144000" cy="830997"/>
          </a:xfrm>
          <a:prstGeom prst="rect">
            <a:avLst/>
          </a:prstGeom>
          <a:scene3d>
            <a:camera prst="orthographicFront">
              <a:rot lat="0" lon="0" rev="0"/>
            </a:camera>
            <a:lightRig rig="brightRoom" dir="t"/>
          </a:scene3d>
          <a:sp3d>
            <a:bevelT w="63500" h="254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 b="1" dirty="0">
              <a:latin typeface="+mj-lt"/>
              <a:cs typeface="Tahoma" pitchFamily="34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 b="1" dirty="0">
              <a:latin typeface="+mj-lt"/>
              <a:cs typeface="Tahoma" pitchFamily="34" charset="0"/>
            </a:endParaRPr>
          </a:p>
        </p:txBody>
      </p:sp>
      <p:pic>
        <p:nvPicPr>
          <p:cNvPr id="4099" name="Picture 7" descr="world.png"/>
          <p:cNvPicPr>
            <a:picLocks noChangeAspect="1"/>
          </p:cNvPicPr>
          <p:nvPr/>
        </p:nvPicPr>
        <p:blipFill>
          <a:blip r:embed="rId2">
            <a:lum bright="-60000" contrast="-100000"/>
          </a:blip>
          <a:srcRect/>
          <a:stretch>
            <a:fillRect/>
          </a:stretch>
        </p:blipFill>
        <p:spPr bwMode="auto">
          <a:xfrm>
            <a:off x="3657600" y="0"/>
            <a:ext cx="1609725" cy="809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Rectangle 11"/>
          <p:cNvSpPr/>
          <p:nvPr/>
        </p:nvSpPr>
        <p:spPr>
          <a:xfrm>
            <a:off x="7162800" y="533400"/>
            <a:ext cx="1295400" cy="2286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>
                <a:solidFill>
                  <a:schemeClr val="bg1"/>
                </a:solidFill>
              </a:rPr>
              <a:t>Search</a:t>
            </a:r>
            <a:r>
              <a:rPr lang="en-US" dirty="0"/>
              <a:t> 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34400" y="533400"/>
            <a:ext cx="457200" cy="22860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>
                <a:ln>
                  <a:solidFill>
                    <a:schemeClr val="accent1">
                      <a:shade val="50000"/>
                    </a:schemeClr>
                  </a:solidFill>
                </a:ln>
                <a:solidFill>
                  <a:schemeClr val="bg1"/>
                </a:solidFill>
              </a:rPr>
              <a:t>GO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838200"/>
            <a:ext cx="373380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>
                <a:solidFill>
                  <a:schemeClr val="bg1"/>
                </a:solidFill>
              </a:rPr>
              <a:t>Home	Contact Us               Help</a:t>
            </a:r>
          </a:p>
        </p:txBody>
      </p:sp>
      <p:pic>
        <p:nvPicPr>
          <p:cNvPr id="4103" name="Picture 15" descr="rupees0209-thumb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" y="0"/>
            <a:ext cx="10668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4104" name="Group 50"/>
          <p:cNvGrpSpPr>
            <a:grpSpLocks/>
          </p:cNvGrpSpPr>
          <p:nvPr/>
        </p:nvGrpSpPr>
        <p:grpSpPr bwMode="auto">
          <a:xfrm>
            <a:off x="0" y="1143000"/>
            <a:ext cx="9144000" cy="457200"/>
            <a:chOff x="0" y="1143000"/>
            <a:chExt cx="9144000" cy="457200"/>
          </a:xfrm>
        </p:grpSpPr>
        <p:grpSp>
          <p:nvGrpSpPr>
            <p:cNvPr id="4197" name="Group 27"/>
            <p:cNvGrpSpPr>
              <a:grpSpLocks/>
            </p:cNvGrpSpPr>
            <p:nvPr/>
          </p:nvGrpSpPr>
          <p:grpSpPr bwMode="auto">
            <a:xfrm>
              <a:off x="0" y="1143000"/>
              <a:ext cx="9144000" cy="228600"/>
              <a:chOff x="0" y="1143000"/>
              <a:chExt cx="9144000" cy="228600"/>
            </a:xfrm>
          </p:grpSpPr>
          <p:sp>
            <p:nvSpPr>
              <p:cNvPr id="22" name="Rectangle 21"/>
              <p:cNvSpPr/>
              <p:nvPr/>
            </p:nvSpPr>
            <p:spPr>
              <a:xfrm>
                <a:off x="0" y="1143000"/>
                <a:ext cx="1524000" cy="228600"/>
              </a:xfrm>
              <a:prstGeom prst="rect">
                <a:avLst/>
              </a:prstGeom>
              <a:scene3d>
                <a:camera prst="orthographicFront">
                  <a:rot lat="0" lon="0" rev="0"/>
                </a:camera>
                <a:lightRig rig="threePt" dir="t"/>
              </a:scene3d>
              <a:sp3d prstMaterial="powder">
                <a:bevelT w="63500" h="25400"/>
              </a:sp3d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600" dirty="0"/>
                  <a:t>Personal</a:t>
                </a:r>
              </a:p>
            </p:txBody>
          </p:sp>
          <p:sp>
            <p:nvSpPr>
              <p:cNvPr id="23" name="Rectangle 22"/>
              <p:cNvSpPr/>
              <p:nvPr/>
            </p:nvSpPr>
            <p:spPr>
              <a:xfrm>
                <a:off x="1524000" y="1143000"/>
                <a:ext cx="1524000" cy="228600"/>
              </a:xfrm>
              <a:prstGeom prst="rect">
                <a:avLst/>
              </a:prstGeom>
              <a:scene3d>
                <a:camera prst="orthographicFront">
                  <a:rot lat="0" lon="0" rev="0"/>
                </a:camera>
                <a:lightRig rig="brightRoom" dir="t"/>
              </a:scene3d>
              <a:sp3d>
                <a:bevelT w="63500" h="25400"/>
              </a:sp3d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600" dirty="0"/>
                  <a:t>NRI</a:t>
                </a:r>
              </a:p>
            </p:txBody>
          </p:sp>
          <p:sp>
            <p:nvSpPr>
              <p:cNvPr id="24" name="Rectangle 23"/>
              <p:cNvSpPr/>
              <p:nvPr/>
            </p:nvSpPr>
            <p:spPr>
              <a:xfrm>
                <a:off x="3048000" y="1143000"/>
                <a:ext cx="1524000" cy="228600"/>
              </a:xfrm>
              <a:prstGeom prst="rect">
                <a:avLst/>
              </a:prstGeom>
              <a:scene3d>
                <a:camera prst="orthographicFront">
                  <a:rot lat="0" lon="0" rev="0"/>
                </a:camera>
                <a:lightRig rig="brightRoom" dir="t"/>
              </a:scene3d>
              <a:sp3d>
                <a:bevelT w="63500" h="25400"/>
              </a:sp3d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600" dirty="0"/>
                  <a:t>Rural Sector</a:t>
                </a:r>
              </a:p>
            </p:txBody>
          </p:sp>
          <p:sp>
            <p:nvSpPr>
              <p:cNvPr id="25" name="Rectangle 24"/>
              <p:cNvSpPr/>
              <p:nvPr/>
            </p:nvSpPr>
            <p:spPr>
              <a:xfrm>
                <a:off x="4572000" y="1143000"/>
                <a:ext cx="1524000" cy="228600"/>
              </a:xfrm>
              <a:prstGeom prst="rect">
                <a:avLst/>
              </a:prstGeom>
              <a:scene3d>
                <a:camera prst="orthographicFront">
                  <a:rot lat="0" lon="0" rev="0"/>
                </a:camera>
                <a:lightRig rig="brightRoom" dir="t"/>
              </a:scene3d>
              <a:sp3d>
                <a:bevelT w="63500" h="25400"/>
              </a:sp3d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600" dirty="0"/>
                  <a:t>Remittance</a:t>
                </a:r>
              </a:p>
            </p:txBody>
          </p:sp>
          <p:sp>
            <p:nvSpPr>
              <p:cNvPr id="26" name="Rectangle 25"/>
              <p:cNvSpPr/>
              <p:nvPr/>
            </p:nvSpPr>
            <p:spPr>
              <a:xfrm>
                <a:off x="6096000" y="1143000"/>
                <a:ext cx="1524000" cy="228600"/>
              </a:xfrm>
              <a:prstGeom prst="rect">
                <a:avLst/>
              </a:prstGeom>
              <a:scene3d>
                <a:camera prst="orthographicFront">
                  <a:rot lat="0" lon="0" rev="0"/>
                </a:camera>
                <a:lightRig rig="brightRoom" dir="t"/>
              </a:scene3d>
              <a:sp3d>
                <a:bevelT w="63500" h="25400"/>
              </a:sp3d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600" dirty="0"/>
                  <a:t>Corporate</a:t>
                </a:r>
              </a:p>
            </p:txBody>
          </p:sp>
          <p:sp>
            <p:nvSpPr>
              <p:cNvPr id="27" name="Rectangle 26"/>
              <p:cNvSpPr/>
              <p:nvPr/>
            </p:nvSpPr>
            <p:spPr>
              <a:xfrm>
                <a:off x="7620000" y="1143000"/>
                <a:ext cx="1524000" cy="228600"/>
              </a:xfrm>
              <a:prstGeom prst="rect">
                <a:avLst/>
              </a:prstGeom>
              <a:scene3d>
                <a:camera prst="orthographicFront">
                  <a:rot lat="0" lon="0" rev="0"/>
                </a:camera>
                <a:lightRig rig="brightRoom" dir="t"/>
              </a:scene3d>
              <a:sp3d>
                <a:bevelT w="63500" h="25400"/>
              </a:sp3d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600" dirty="0"/>
                  <a:t>Services</a:t>
                </a:r>
              </a:p>
            </p:txBody>
          </p:sp>
        </p:grpSp>
        <p:sp>
          <p:nvSpPr>
            <p:cNvPr id="29" name="Rectangle 28"/>
            <p:cNvSpPr/>
            <p:nvPr/>
          </p:nvSpPr>
          <p:spPr>
            <a:xfrm>
              <a:off x="0" y="1371600"/>
              <a:ext cx="2667000" cy="228600"/>
            </a:xfrm>
            <a:prstGeom prst="rect">
              <a:avLst/>
            </a:prstGeom>
            <a:scene3d>
              <a:camera prst="orthographicFront">
                <a:rot lat="0" lon="0" rev="0"/>
              </a:camera>
              <a:lightRig rig="brightRoom" dir="t"/>
            </a:scene3d>
            <a:sp3d prstMaterial="metal">
              <a:bevelT w="63500" h="25400"/>
            </a:sp3d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600" dirty="0"/>
                <a:t>Accounts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4724400" y="1371600"/>
              <a:ext cx="2057400" cy="228600"/>
            </a:xfrm>
            <a:prstGeom prst="rect">
              <a:avLst/>
            </a:prstGeom>
            <a:scene3d>
              <a:camera prst="orthographicFront">
                <a:rot lat="0" lon="0" rev="0"/>
              </a:camera>
              <a:lightRig rig="brightRoom" dir="t"/>
            </a:scene3d>
            <a:sp3d prstMaterial="metal">
              <a:bevelT w="63500" h="25400"/>
            </a:sp3d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600" dirty="0"/>
                <a:t>Transactions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2667000" y="1371600"/>
              <a:ext cx="2057400" cy="228600"/>
            </a:xfrm>
            <a:prstGeom prst="rect">
              <a:avLst/>
            </a:prstGeom>
            <a:scene3d>
              <a:camera prst="orthographicFront">
                <a:rot lat="0" lon="0" rev="0"/>
              </a:camera>
              <a:lightRig rig="brightRoom" dir="t"/>
            </a:scene3d>
            <a:sp3d prstMaterial="metal">
              <a:bevelT w="63500" h="25400"/>
            </a:sp3d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600" dirty="0"/>
                <a:t>Loans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6781800" y="1371600"/>
              <a:ext cx="2362200" cy="228600"/>
            </a:xfrm>
            <a:prstGeom prst="rect">
              <a:avLst/>
            </a:prstGeom>
            <a:scene3d>
              <a:camera prst="orthographicFront">
                <a:rot lat="0" lon="0" rev="0"/>
              </a:camera>
              <a:lightRig rig="brightRoom" dir="t"/>
            </a:scene3d>
            <a:sp3d prstMaterial="metal">
              <a:bevelT w="63500" h="25400"/>
            </a:sp3d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600" dirty="0"/>
                <a:t>Treasury</a:t>
              </a:r>
            </a:p>
          </p:txBody>
        </p:sp>
      </p:grpSp>
      <p:sp>
        <p:nvSpPr>
          <p:cNvPr id="33" name="Rectangle 32"/>
          <p:cNvSpPr/>
          <p:nvPr/>
        </p:nvSpPr>
        <p:spPr>
          <a:xfrm>
            <a:off x="0" y="1676400"/>
            <a:ext cx="9144000" cy="228600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/>
              <a:t>               &lt;---Presenting the new era of Banking                        &lt;---The front end has completed..</a:t>
            </a:r>
          </a:p>
        </p:txBody>
      </p:sp>
      <p:grpSp>
        <p:nvGrpSpPr>
          <p:cNvPr id="4106" name="Group 48"/>
          <p:cNvGrpSpPr>
            <a:grpSpLocks/>
          </p:cNvGrpSpPr>
          <p:nvPr/>
        </p:nvGrpSpPr>
        <p:grpSpPr bwMode="auto">
          <a:xfrm>
            <a:off x="6858000" y="1981200"/>
            <a:ext cx="2133600" cy="2144713"/>
            <a:chOff x="6858000" y="2286000"/>
            <a:chExt cx="2133600" cy="2144111"/>
          </a:xfrm>
        </p:grpSpPr>
        <p:grpSp>
          <p:nvGrpSpPr>
            <p:cNvPr id="4186" name="Group 43"/>
            <p:cNvGrpSpPr>
              <a:grpSpLocks/>
            </p:cNvGrpSpPr>
            <p:nvPr/>
          </p:nvGrpSpPr>
          <p:grpSpPr bwMode="auto">
            <a:xfrm>
              <a:off x="6858000" y="2286000"/>
              <a:ext cx="2133600" cy="2144111"/>
              <a:chOff x="6715760" y="2209800"/>
              <a:chExt cx="2275840" cy="2220686"/>
            </a:xfrm>
          </p:grpSpPr>
          <p:sp>
            <p:nvSpPr>
              <p:cNvPr id="35" name="Rectangle 34"/>
              <p:cNvSpPr/>
              <p:nvPr/>
            </p:nvSpPr>
            <p:spPr>
              <a:xfrm>
                <a:off x="6715760" y="2525397"/>
                <a:ext cx="2275840" cy="190508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/>
              </a:p>
            </p:txBody>
          </p:sp>
          <p:sp>
            <p:nvSpPr>
              <p:cNvPr id="37" name="Rectangle 36"/>
              <p:cNvSpPr/>
              <p:nvPr/>
            </p:nvSpPr>
            <p:spPr>
              <a:xfrm>
                <a:off x="6715760" y="2209800"/>
                <a:ext cx="2275840" cy="304091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3">
                <a:schemeClr val="accent5"/>
              </a:fillRef>
              <a:effectRef idx="2">
                <a:schemeClr val="accent5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600" dirty="0"/>
                  <a:t>Member Login</a:t>
                </a:r>
              </a:p>
            </p:txBody>
          </p:sp>
          <p:sp>
            <p:nvSpPr>
              <p:cNvPr id="38" name="Rectangle 37"/>
              <p:cNvSpPr/>
              <p:nvPr/>
            </p:nvSpPr>
            <p:spPr>
              <a:xfrm>
                <a:off x="6858000" y="2895238"/>
                <a:ext cx="1524000" cy="228479"/>
              </a:xfrm>
              <a:prstGeom prst="rect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/>
              </a:p>
            </p:txBody>
          </p:sp>
          <p:sp>
            <p:nvSpPr>
              <p:cNvPr id="39" name="Rectangle 38"/>
              <p:cNvSpPr/>
              <p:nvPr/>
            </p:nvSpPr>
            <p:spPr>
              <a:xfrm>
                <a:off x="6858000" y="3429451"/>
                <a:ext cx="1524000" cy="228480"/>
              </a:xfrm>
              <a:prstGeom prst="rect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40" name="Rectangle 39"/>
              <p:cNvSpPr/>
              <p:nvPr/>
            </p:nvSpPr>
            <p:spPr>
              <a:xfrm>
                <a:off x="6781801" y="2666758"/>
                <a:ext cx="1524000" cy="22848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600" dirty="0">
                    <a:solidFill>
                      <a:schemeClr val="tx1"/>
                    </a:solidFill>
                  </a:rPr>
                  <a:t>Username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  <p:sp>
            <p:nvSpPr>
              <p:cNvPr id="42" name="Rectangle 41"/>
              <p:cNvSpPr/>
              <p:nvPr/>
            </p:nvSpPr>
            <p:spPr>
              <a:xfrm>
                <a:off x="6781801" y="3200972"/>
                <a:ext cx="1524000" cy="22847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600" dirty="0"/>
                  <a:t>Password</a:t>
                </a:r>
              </a:p>
            </p:txBody>
          </p:sp>
        </p:grpSp>
        <p:sp>
          <p:nvSpPr>
            <p:cNvPr id="45" name="Rectangle 44"/>
            <p:cNvSpPr/>
            <p:nvPr/>
          </p:nvSpPr>
          <p:spPr>
            <a:xfrm>
              <a:off x="7010400" y="3810000"/>
              <a:ext cx="685800" cy="228600"/>
            </a:xfrm>
            <a:prstGeom prst="rect">
              <a:avLst/>
            </a:prstGeom>
            <a:scene3d>
              <a:camera prst="orthographicFront">
                <a:rot lat="0" lon="0" rev="0"/>
              </a:camera>
              <a:lightRig rig="brightRoom" dir="t"/>
            </a:scene3d>
            <a:sp3d>
              <a:bevelT w="63500" h="25400"/>
            </a:sp3d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 dirty="0"/>
                <a:t>Log in</a:t>
              </a: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7696200" y="3809572"/>
              <a:ext cx="1295400" cy="30471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u="sng" dirty="0"/>
                <a:t>Forgot password?</a:t>
              </a: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6858000" y="4114287"/>
              <a:ext cx="1371600" cy="22853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 dirty="0"/>
                <a:t>Remember me</a:t>
              </a: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8229600" y="4190465"/>
              <a:ext cx="152400" cy="152357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4107" name="Picture 52" descr="ElectronicBanking.jp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905000" y="1981200"/>
            <a:ext cx="4953000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08" name="TextBox 53"/>
          <p:cNvSpPr txBox="1">
            <a:spLocks noChangeArrowheads="1"/>
          </p:cNvSpPr>
          <p:nvPr/>
        </p:nvSpPr>
        <p:spPr bwMode="auto">
          <a:xfrm>
            <a:off x="2895600" y="152400"/>
            <a:ext cx="3124200" cy="430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200" b="1">
                <a:latin typeface="Calibri" pitchFamily="34" charset="0"/>
              </a:rPr>
              <a:t>Internet Banking System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28600" y="1981200"/>
            <a:ext cx="1600200" cy="3505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aphicFrame>
        <p:nvGraphicFramePr>
          <p:cNvPr id="57" name="Table 56"/>
          <p:cNvGraphicFramePr>
            <a:graphicFrameLocks noGrp="1"/>
          </p:cNvGraphicFramePr>
          <p:nvPr/>
        </p:nvGraphicFramePr>
        <p:xfrm>
          <a:off x="304800" y="2057400"/>
          <a:ext cx="1447800" cy="254508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447800"/>
              </a:tblGrid>
              <a:tr h="215900">
                <a:tc>
                  <a:txBody>
                    <a:bodyPr/>
                    <a:lstStyle/>
                    <a:p>
                      <a:r>
                        <a:rPr lang="en-US" dirty="0" smtClean="0"/>
                        <a:t>Quick links</a:t>
                      </a:r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43840"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&gt;&gt;</a:t>
                      </a:r>
                      <a:r>
                        <a:rPr lang="en-US" sz="1100" u="sng" dirty="0" smtClean="0"/>
                        <a:t>Tools</a:t>
                      </a:r>
                      <a:r>
                        <a:rPr lang="en-US" sz="1100" u="sng" baseline="0" dirty="0" smtClean="0"/>
                        <a:t> &amp; Utilities</a:t>
                      </a:r>
                      <a:endParaRPr lang="en-US" sz="1100" u="sng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</a:schemeClr>
                    </a:solidFill>
                  </a:tcPr>
                </a:tc>
              </a:tr>
              <a:tr h="21590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&gt;&gt;</a:t>
                      </a:r>
                      <a:r>
                        <a:rPr lang="en-US" sz="1200" u="sng" dirty="0" smtClean="0"/>
                        <a:t>Foreign</a:t>
                      </a:r>
                      <a:r>
                        <a:rPr lang="en-US" sz="1200" u="sng" baseline="0" dirty="0" smtClean="0"/>
                        <a:t> Exchange</a:t>
                      </a:r>
                      <a:endParaRPr lang="en-US" sz="1200" u="sng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</a:schemeClr>
                    </a:solidFill>
                  </a:tcPr>
                </a:tc>
              </a:tr>
              <a:tr h="21590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&gt;&gt;</a:t>
                      </a:r>
                      <a:r>
                        <a:rPr lang="en-US" sz="1200" u="sng" dirty="0" smtClean="0"/>
                        <a:t>Careers</a:t>
                      </a:r>
                      <a:endParaRPr lang="en-US" sz="1200" u="sng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</a:schemeClr>
                    </a:solidFill>
                  </a:tcPr>
                </a:tc>
              </a:tr>
              <a:tr h="21590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&gt;&gt;</a:t>
                      </a:r>
                      <a:r>
                        <a:rPr lang="en-US" sz="1200" u="sng" dirty="0" smtClean="0"/>
                        <a:t>Use</a:t>
                      </a:r>
                      <a:r>
                        <a:rPr lang="en-US" sz="1200" u="sng" baseline="0" dirty="0" smtClean="0"/>
                        <a:t>ful Forms</a:t>
                      </a:r>
                      <a:endParaRPr lang="en-US" sz="1200" u="sng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</a:schemeClr>
                    </a:solidFill>
                  </a:tcPr>
                </a:tc>
              </a:tr>
              <a:tr h="21590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&gt;&gt;</a:t>
                      </a:r>
                      <a:r>
                        <a:rPr lang="en-US" sz="1200" u="sng" dirty="0" smtClean="0"/>
                        <a:t>About Us</a:t>
                      </a:r>
                      <a:endParaRPr lang="en-US" sz="1200" u="sng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</a:tr>
              <a:tr h="215900">
                <a:tc>
                  <a:txBody>
                    <a:bodyPr/>
                    <a:lstStyle/>
                    <a:p>
                      <a:r>
                        <a:rPr lang="en-US" sz="1200" u="none" dirty="0" smtClean="0"/>
                        <a:t>&gt;&gt;</a:t>
                      </a:r>
                      <a:r>
                        <a:rPr lang="en-US" sz="1200" u="sng" dirty="0" smtClean="0"/>
                        <a:t> Share holders</a:t>
                      </a:r>
                      <a:endParaRPr lang="en-US" sz="1200" u="sng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</a:schemeClr>
                    </a:solidFill>
                  </a:tcPr>
                </a:tc>
              </a:tr>
              <a:tr h="215900">
                <a:tc>
                  <a:txBody>
                    <a:bodyPr/>
                    <a:lstStyle/>
                    <a:p>
                      <a:r>
                        <a:rPr lang="en-US" sz="1200" u="none" dirty="0" smtClean="0"/>
                        <a:t>&gt;&gt; </a:t>
                      </a:r>
                      <a:r>
                        <a:rPr lang="en-US" sz="1200" u="sng" dirty="0" smtClean="0"/>
                        <a:t>Editorials</a:t>
                      </a:r>
                      <a:endParaRPr lang="en-US" sz="1200" u="sng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</a:schemeClr>
                    </a:solidFill>
                  </a:tcPr>
                </a:tc>
              </a:tr>
              <a:tr h="215900">
                <a:tc>
                  <a:txBody>
                    <a:bodyPr/>
                    <a:lstStyle/>
                    <a:p>
                      <a:r>
                        <a:rPr lang="en-US" sz="1200" u="none" dirty="0" smtClean="0"/>
                        <a:t>&gt;&gt;</a:t>
                      </a:r>
                      <a:r>
                        <a:rPr lang="en-US" sz="1200" u="sng" dirty="0" smtClean="0"/>
                        <a:t> Yearly</a:t>
                      </a:r>
                      <a:r>
                        <a:rPr lang="en-US" sz="1200" u="sng" baseline="0" dirty="0" smtClean="0"/>
                        <a:t> Report</a:t>
                      </a:r>
                      <a:endParaRPr lang="en-US" sz="1200" u="sng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grpSp>
        <p:nvGrpSpPr>
          <p:cNvPr id="4127" name="Group 69"/>
          <p:cNvGrpSpPr>
            <a:grpSpLocks/>
          </p:cNvGrpSpPr>
          <p:nvPr/>
        </p:nvGrpSpPr>
        <p:grpSpPr bwMode="auto">
          <a:xfrm>
            <a:off x="7010400" y="4191000"/>
            <a:ext cx="1905000" cy="1295400"/>
            <a:chOff x="304800" y="3962400"/>
            <a:chExt cx="1981200" cy="1143000"/>
          </a:xfrm>
        </p:grpSpPr>
        <p:sp>
          <p:nvSpPr>
            <p:cNvPr id="59" name="Rectangle 58"/>
            <p:cNvSpPr/>
            <p:nvPr/>
          </p:nvSpPr>
          <p:spPr>
            <a:xfrm>
              <a:off x="304800" y="3962400"/>
              <a:ext cx="1981200" cy="1143000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60" name="Rectangle 59"/>
            <p:cNvSpPr/>
            <p:nvPr/>
          </p:nvSpPr>
          <p:spPr>
            <a:xfrm>
              <a:off x="304800" y="3962400"/>
              <a:ext cx="1981200" cy="30536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bg1"/>
                  </a:solidFill>
                </a:rPr>
                <a:t>ATM Locator</a:t>
              </a:r>
            </a:p>
          </p:txBody>
        </p:sp>
        <p:sp>
          <p:nvSpPr>
            <p:cNvPr id="61" name="Rectangle 60"/>
            <p:cNvSpPr/>
            <p:nvPr/>
          </p:nvSpPr>
          <p:spPr>
            <a:xfrm>
              <a:off x="380746" y="4267760"/>
              <a:ext cx="609220" cy="303960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 dirty="0">
                  <a:solidFill>
                    <a:schemeClr val="bg1"/>
                  </a:solidFill>
                </a:rPr>
                <a:t>ZIP </a:t>
              </a: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1904620" y="4343400"/>
              <a:ext cx="153542" cy="152681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3" name="Rectangle 62"/>
            <p:cNvSpPr/>
            <p:nvPr/>
          </p:nvSpPr>
          <p:spPr>
            <a:xfrm>
              <a:off x="914020" y="4343400"/>
              <a:ext cx="153542" cy="152681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5" name="Rectangle 64"/>
            <p:cNvSpPr/>
            <p:nvPr/>
          </p:nvSpPr>
          <p:spPr>
            <a:xfrm>
              <a:off x="1143508" y="4267760"/>
              <a:ext cx="761112" cy="303960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 dirty="0">
                  <a:solidFill>
                    <a:schemeClr val="bg1"/>
                  </a:solidFill>
                </a:rPr>
                <a:t>City</a:t>
              </a:r>
            </a:p>
          </p:txBody>
        </p:sp>
        <p:sp>
          <p:nvSpPr>
            <p:cNvPr id="66" name="Rectangle 65"/>
            <p:cNvSpPr/>
            <p:nvPr/>
          </p:nvSpPr>
          <p:spPr>
            <a:xfrm>
              <a:off x="380746" y="4496081"/>
              <a:ext cx="1371982" cy="303959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 dirty="0">
                  <a:solidFill>
                    <a:schemeClr val="bg1"/>
                  </a:solidFill>
                </a:rPr>
                <a:t>Enter Query</a:t>
              </a:r>
            </a:p>
          </p:txBody>
        </p:sp>
        <p:sp>
          <p:nvSpPr>
            <p:cNvPr id="67" name="Rectangle 66"/>
            <p:cNvSpPr/>
            <p:nvPr/>
          </p:nvSpPr>
          <p:spPr>
            <a:xfrm>
              <a:off x="456692" y="4800040"/>
              <a:ext cx="1220090" cy="221316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9" name="Rounded Rectangle 68"/>
            <p:cNvSpPr/>
            <p:nvPr/>
          </p:nvSpPr>
          <p:spPr>
            <a:xfrm>
              <a:off x="1752600" y="4800600"/>
              <a:ext cx="457200" cy="228600"/>
            </a:xfrm>
            <a:prstGeom prst="round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 dirty="0">
                  <a:ln>
                    <a:solidFill>
                      <a:schemeClr val="accent1">
                        <a:shade val="50000"/>
                      </a:schemeClr>
                    </a:solidFill>
                  </a:ln>
                  <a:solidFill>
                    <a:schemeClr val="bg1"/>
                  </a:solidFill>
                </a:rPr>
                <a:t>GO</a:t>
              </a:r>
            </a:p>
          </p:txBody>
        </p:sp>
      </p:grpSp>
      <p:graphicFrame>
        <p:nvGraphicFramePr>
          <p:cNvPr id="71" name="Table 70"/>
          <p:cNvGraphicFramePr>
            <a:graphicFrameLocks noGrp="1"/>
          </p:cNvGraphicFramePr>
          <p:nvPr/>
        </p:nvGraphicFramePr>
        <p:xfrm>
          <a:off x="1905000" y="4191000"/>
          <a:ext cx="2743200" cy="129540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652752"/>
                <a:gridCol w="1090448"/>
              </a:tblGrid>
              <a:tr h="259081"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Today’s Interest</a:t>
                      </a:r>
                      <a:r>
                        <a:rPr lang="en-US" sz="1600" baseline="0" dirty="0" smtClean="0"/>
                        <a:t> rates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bg1"/>
                          </a:solidFill>
                        </a:rPr>
                        <a:t>A/c</a:t>
                      </a:r>
                      <a:r>
                        <a:rPr lang="en-US" sz="1600" baseline="0" dirty="0" smtClean="0">
                          <a:solidFill>
                            <a:schemeClr val="bg1"/>
                          </a:solidFill>
                        </a:rPr>
                        <a:t> Balance</a:t>
                      </a:r>
                      <a:endParaRPr 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aseline="0" dirty="0" smtClean="0">
                          <a:solidFill>
                            <a:schemeClr val="bg1"/>
                          </a:solidFill>
                        </a:rPr>
                        <a:t>Rate</a:t>
                      </a:r>
                      <a:endParaRPr 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solidFill>
                            <a:schemeClr val="bg1"/>
                          </a:solidFill>
                        </a:rPr>
                        <a:t>Less</a:t>
                      </a:r>
                      <a:r>
                        <a:rPr lang="en-US" sz="1200" baseline="0" dirty="0" smtClean="0">
                          <a:solidFill>
                            <a:schemeClr val="bg1"/>
                          </a:solidFill>
                        </a:rPr>
                        <a:t> than Rs. 50000</a:t>
                      </a:r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kern="1200" baseline="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0.78%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2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Rs. 50000 and above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solidFill>
                            <a:schemeClr val="bg1"/>
                          </a:solidFill>
                        </a:rPr>
                        <a:t>0.89</a:t>
                      </a:r>
                      <a:r>
                        <a:rPr lang="en-US" sz="1400" dirty="0" smtClean="0">
                          <a:solidFill>
                            <a:schemeClr val="bg1"/>
                          </a:solidFill>
                        </a:rPr>
                        <a:t>%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4156" name="TextBox 74"/>
          <p:cNvSpPr txBox="1">
            <a:spLocks noChangeArrowheads="1"/>
          </p:cNvSpPr>
          <p:nvPr/>
        </p:nvSpPr>
        <p:spPr bwMode="auto">
          <a:xfrm>
            <a:off x="7239000" y="0"/>
            <a:ext cx="16764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>
                <a:latin typeface="Calibri" pitchFamily="34" charset="0"/>
              </a:rPr>
              <a:t>Need Help ? Call Us</a:t>
            </a:r>
          </a:p>
          <a:p>
            <a:r>
              <a:rPr lang="en-US" sz="1400">
                <a:latin typeface="Calibri" pitchFamily="34" charset="0"/>
              </a:rPr>
              <a:t>1830 564 8565</a:t>
            </a:r>
          </a:p>
        </p:txBody>
      </p:sp>
      <p:grpSp>
        <p:nvGrpSpPr>
          <p:cNvPr id="4157" name="Group 81"/>
          <p:cNvGrpSpPr>
            <a:grpSpLocks/>
          </p:cNvGrpSpPr>
          <p:nvPr/>
        </p:nvGrpSpPr>
        <p:grpSpPr bwMode="auto">
          <a:xfrm>
            <a:off x="228600" y="5562600"/>
            <a:ext cx="2590800" cy="1169988"/>
            <a:chOff x="152400" y="5181600"/>
            <a:chExt cx="2971801" cy="858500"/>
          </a:xfrm>
        </p:grpSpPr>
        <p:pic>
          <p:nvPicPr>
            <p:cNvPr id="4175" name="Picture 75" descr="globe_hands.jpg"/>
            <p:cNvPicPr>
              <a:picLocks noChangeAspect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152400" y="5181600"/>
              <a:ext cx="2971801" cy="838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176" name="TextBox 76"/>
            <p:cNvSpPr txBox="1">
              <a:spLocks noChangeArrowheads="1"/>
            </p:cNvSpPr>
            <p:nvPr/>
          </p:nvSpPr>
          <p:spPr bwMode="auto">
            <a:xfrm>
              <a:off x="239806" y="5516880"/>
              <a:ext cx="2008910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>
                  <a:latin typeface="Calibri" pitchFamily="34" charset="0"/>
                </a:rPr>
                <a:t>GLOBAL</a:t>
              </a:r>
              <a:br>
                <a:rPr lang="en-US" sz="1400">
                  <a:latin typeface="Calibri" pitchFamily="34" charset="0"/>
                </a:rPr>
              </a:br>
              <a:r>
                <a:rPr lang="en-US" sz="1400">
                  <a:latin typeface="Calibri" pitchFamily="34" charset="0"/>
                </a:rPr>
                <a:t>NETWORK</a:t>
              </a:r>
              <a:endParaRPr lang="en-US" sz="1600">
                <a:latin typeface="Calibri" pitchFamily="34" charset="0"/>
              </a:endParaRPr>
            </a:p>
          </p:txBody>
        </p:sp>
      </p:grpSp>
      <p:grpSp>
        <p:nvGrpSpPr>
          <p:cNvPr id="4158" name="Group 86"/>
          <p:cNvGrpSpPr>
            <a:grpSpLocks/>
          </p:cNvGrpSpPr>
          <p:nvPr/>
        </p:nvGrpSpPr>
        <p:grpSpPr bwMode="auto">
          <a:xfrm>
            <a:off x="2895600" y="5562600"/>
            <a:ext cx="1219200" cy="1143000"/>
            <a:chOff x="6096000" y="4355123"/>
            <a:chExt cx="1219200" cy="1143000"/>
          </a:xfrm>
        </p:grpSpPr>
        <p:pic>
          <p:nvPicPr>
            <p:cNvPr id="4173" name="Picture 19" descr="pcp_image_fade.jpg"/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6096000" y="4355123"/>
              <a:ext cx="1219200" cy="1143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174" name="TextBox 77"/>
            <p:cNvSpPr txBox="1">
              <a:spLocks noChangeArrowheads="1"/>
            </p:cNvSpPr>
            <p:nvPr/>
          </p:nvSpPr>
          <p:spPr bwMode="auto">
            <a:xfrm>
              <a:off x="6096000" y="4736123"/>
              <a:ext cx="914400" cy="584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600">
                  <a:solidFill>
                    <a:schemeClr val="bg1"/>
                  </a:solidFill>
                  <a:latin typeface="Calibri" pitchFamily="34" charset="0"/>
                </a:rPr>
                <a:t>Invest</a:t>
              </a:r>
            </a:p>
            <a:p>
              <a:r>
                <a:rPr lang="en-US" sz="1600">
                  <a:solidFill>
                    <a:schemeClr val="bg1"/>
                  </a:solidFill>
                  <a:latin typeface="Calibri" pitchFamily="34" charset="0"/>
                </a:rPr>
                <a:t>today</a:t>
              </a:r>
            </a:p>
          </p:txBody>
        </p:sp>
      </p:grpSp>
      <p:grpSp>
        <p:nvGrpSpPr>
          <p:cNvPr id="4159" name="Group 89"/>
          <p:cNvGrpSpPr>
            <a:grpSpLocks/>
          </p:cNvGrpSpPr>
          <p:nvPr/>
        </p:nvGrpSpPr>
        <p:grpSpPr bwMode="auto">
          <a:xfrm>
            <a:off x="5791200" y="5562600"/>
            <a:ext cx="3200400" cy="1143000"/>
            <a:chOff x="5791200" y="5410200"/>
            <a:chExt cx="3200400" cy="1295400"/>
          </a:xfrm>
        </p:grpSpPr>
        <p:sp>
          <p:nvSpPr>
            <p:cNvPr id="81" name="Rectangle 80"/>
            <p:cNvSpPr/>
            <p:nvPr/>
          </p:nvSpPr>
          <p:spPr>
            <a:xfrm>
              <a:off x="5791200" y="5410200"/>
              <a:ext cx="3124200" cy="12954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4171" name="Picture 82" descr="homepageimage_non_watermarked.gif"/>
            <p:cNvPicPr>
              <a:picLocks noChangeAspect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5867401" y="5486400"/>
              <a:ext cx="1752600" cy="1143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172" name="TextBox 83"/>
            <p:cNvSpPr txBox="1">
              <a:spLocks noChangeArrowheads="1"/>
            </p:cNvSpPr>
            <p:nvPr/>
          </p:nvSpPr>
          <p:spPr bwMode="auto">
            <a:xfrm>
              <a:off x="7696200" y="5638800"/>
              <a:ext cx="1295400" cy="830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600" u="sng">
                  <a:latin typeface="Calibri" pitchFamily="34" charset="0"/>
                </a:rPr>
                <a:t>Feedback &amp; </a:t>
              </a:r>
            </a:p>
            <a:p>
              <a:r>
                <a:rPr lang="en-US" sz="1600" u="sng">
                  <a:latin typeface="Calibri" pitchFamily="34" charset="0"/>
                </a:rPr>
                <a:t>Customer </a:t>
              </a:r>
              <a:br>
                <a:rPr lang="en-US" sz="1600" u="sng">
                  <a:latin typeface="Calibri" pitchFamily="34" charset="0"/>
                </a:rPr>
              </a:br>
              <a:r>
                <a:rPr lang="en-US" sz="1600" u="sng">
                  <a:latin typeface="Calibri" pitchFamily="34" charset="0"/>
                </a:rPr>
                <a:t>Care Centre</a:t>
              </a:r>
            </a:p>
          </p:txBody>
        </p:sp>
      </p:grpSp>
      <p:grpSp>
        <p:nvGrpSpPr>
          <p:cNvPr id="4160" name="Group 85"/>
          <p:cNvGrpSpPr>
            <a:grpSpLocks/>
          </p:cNvGrpSpPr>
          <p:nvPr/>
        </p:nvGrpSpPr>
        <p:grpSpPr bwMode="auto">
          <a:xfrm>
            <a:off x="4800600" y="4191000"/>
            <a:ext cx="2133600" cy="1295400"/>
            <a:chOff x="5791200" y="4191000"/>
            <a:chExt cx="1219200" cy="1145754"/>
          </a:xfrm>
        </p:grpSpPr>
        <p:pic>
          <p:nvPicPr>
            <p:cNvPr id="4168" name="Picture 79" descr="graph.png"/>
            <p:cNvPicPr>
              <a:picLocks noChangeAspect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5791200" y="4191000"/>
              <a:ext cx="1219200" cy="11457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169" name="TextBox 84"/>
            <p:cNvSpPr txBox="1">
              <a:spLocks noChangeArrowheads="1"/>
            </p:cNvSpPr>
            <p:nvPr/>
          </p:nvSpPr>
          <p:spPr bwMode="auto">
            <a:xfrm>
              <a:off x="5867400" y="4419600"/>
              <a:ext cx="685800" cy="2616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100">
                  <a:latin typeface="Calibri" pitchFamily="34" charset="0"/>
                </a:rPr>
                <a:t>Growth </a:t>
              </a:r>
            </a:p>
          </p:txBody>
        </p:sp>
      </p:grpSp>
      <p:sp>
        <p:nvSpPr>
          <p:cNvPr id="89" name="Rectangle 88"/>
          <p:cNvSpPr/>
          <p:nvPr/>
        </p:nvSpPr>
        <p:spPr>
          <a:xfrm>
            <a:off x="2971800" y="914400"/>
            <a:ext cx="6172200" cy="152400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1600" dirty="0"/>
              <a:t> Now tax payment through bank  /*roll up tab for service updates*/ </a:t>
            </a:r>
          </a:p>
        </p:txBody>
      </p:sp>
      <p:pic>
        <p:nvPicPr>
          <p:cNvPr id="4162" name="Picture 94" descr="side_postit.gif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5257800" y="2133600"/>
            <a:ext cx="131445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63" name="Picture 96" descr="house2.jpg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4191000" y="5562600"/>
            <a:ext cx="152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64" name="Picture 97" descr="home-loans.jpg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 bwMode="auto">
          <a:xfrm>
            <a:off x="4191000" y="5562600"/>
            <a:ext cx="152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65" name="TextBox 98"/>
          <p:cNvSpPr txBox="1">
            <a:spLocks noChangeArrowheads="1"/>
          </p:cNvSpPr>
          <p:nvPr/>
        </p:nvSpPr>
        <p:spPr bwMode="auto">
          <a:xfrm>
            <a:off x="4191000" y="6400800"/>
            <a:ext cx="12954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 b="1">
                <a:latin typeface="Calibri" pitchFamily="34" charset="0"/>
              </a:rPr>
              <a:t>Home Loans</a:t>
            </a:r>
          </a:p>
        </p:txBody>
      </p:sp>
      <p:sp>
        <p:nvSpPr>
          <p:cNvPr id="4166" name="TextBox 99"/>
          <p:cNvSpPr txBox="1">
            <a:spLocks noChangeArrowheads="1"/>
          </p:cNvSpPr>
          <p:nvPr/>
        </p:nvSpPr>
        <p:spPr bwMode="auto">
          <a:xfrm>
            <a:off x="2133600" y="2590800"/>
            <a:ext cx="838200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200" dirty="0">
                <a:latin typeface="Calibri" pitchFamily="34" charset="0"/>
              </a:rPr>
              <a:t>Flash</a:t>
            </a:r>
          </a:p>
          <a:p>
            <a:r>
              <a:rPr lang="en-US" sz="1200" dirty="0">
                <a:latin typeface="Calibri" pitchFamily="34" charset="0"/>
              </a:rPr>
              <a:t>Video cum link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971800" y="914400"/>
            <a:ext cx="6172200" cy="152400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1600" dirty="0"/>
              <a:t> Money Transfer is more easy now  /*roll up tab for service updates*/ </a:t>
            </a:r>
          </a:p>
        </p:txBody>
      </p:sp>
      <p:graphicFrame>
        <p:nvGraphicFramePr>
          <p:cNvPr id="72" name="Table 71"/>
          <p:cNvGraphicFramePr>
            <a:graphicFrameLocks noGrp="1"/>
          </p:cNvGraphicFramePr>
          <p:nvPr/>
        </p:nvGraphicFramePr>
        <p:xfrm>
          <a:off x="304800" y="2057400"/>
          <a:ext cx="1447800" cy="254508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447800"/>
              </a:tblGrid>
              <a:tr h="215900">
                <a:tc>
                  <a:txBody>
                    <a:bodyPr/>
                    <a:lstStyle/>
                    <a:p>
                      <a:r>
                        <a:rPr lang="en-US" dirty="0" smtClean="0"/>
                        <a:t>Quick links</a:t>
                      </a:r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43840"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&gt;&gt;</a:t>
                      </a:r>
                      <a:r>
                        <a:rPr lang="en-US" sz="1100" u="sng" dirty="0" smtClean="0"/>
                        <a:t>Tools</a:t>
                      </a:r>
                      <a:r>
                        <a:rPr lang="en-US" sz="1100" u="sng" baseline="0" dirty="0" smtClean="0"/>
                        <a:t> &amp; Utilities</a:t>
                      </a:r>
                      <a:endParaRPr lang="en-US" sz="1100" u="sng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</a:schemeClr>
                    </a:solidFill>
                  </a:tcPr>
                </a:tc>
              </a:tr>
              <a:tr h="21590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&gt;&gt;</a:t>
                      </a:r>
                      <a:r>
                        <a:rPr lang="en-US" sz="1200" u="sng" dirty="0" smtClean="0"/>
                        <a:t>Foreign</a:t>
                      </a:r>
                      <a:r>
                        <a:rPr lang="en-US" sz="1200" u="sng" baseline="0" dirty="0" smtClean="0"/>
                        <a:t> Exchange</a:t>
                      </a:r>
                      <a:endParaRPr lang="en-US" sz="1200" u="sng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</a:schemeClr>
                    </a:solidFill>
                  </a:tcPr>
                </a:tc>
              </a:tr>
              <a:tr h="21590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&gt;&gt;</a:t>
                      </a:r>
                      <a:r>
                        <a:rPr lang="en-US" sz="1200" u="sng" dirty="0" smtClean="0"/>
                        <a:t>Careers</a:t>
                      </a:r>
                      <a:endParaRPr lang="en-US" sz="1200" u="sng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</a:schemeClr>
                    </a:solidFill>
                  </a:tcPr>
                </a:tc>
              </a:tr>
              <a:tr h="21590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&gt;&gt;</a:t>
                      </a:r>
                      <a:r>
                        <a:rPr lang="en-US" sz="1200" u="sng" dirty="0" smtClean="0"/>
                        <a:t>Use</a:t>
                      </a:r>
                      <a:r>
                        <a:rPr lang="en-US" sz="1200" u="sng" baseline="0" dirty="0" smtClean="0"/>
                        <a:t>ful Forms</a:t>
                      </a:r>
                      <a:endParaRPr lang="en-US" sz="1200" u="sng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</a:schemeClr>
                    </a:solidFill>
                  </a:tcPr>
                </a:tc>
              </a:tr>
              <a:tr h="21590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&gt;&gt;</a:t>
                      </a:r>
                      <a:r>
                        <a:rPr lang="en-US" sz="1200" u="sng" dirty="0" smtClean="0"/>
                        <a:t>About Us</a:t>
                      </a:r>
                      <a:endParaRPr lang="en-US" sz="1200" u="sng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</a:schemeClr>
                    </a:solidFill>
                  </a:tcPr>
                </a:tc>
              </a:tr>
              <a:tr h="215900">
                <a:tc>
                  <a:txBody>
                    <a:bodyPr/>
                    <a:lstStyle/>
                    <a:p>
                      <a:r>
                        <a:rPr lang="en-US" sz="1200" u="none" dirty="0" smtClean="0"/>
                        <a:t>&gt;&gt;</a:t>
                      </a:r>
                      <a:r>
                        <a:rPr lang="en-US" sz="1200" u="sng" dirty="0" smtClean="0"/>
                        <a:t> Share holders</a:t>
                      </a:r>
                      <a:endParaRPr lang="en-US" sz="1200" u="sng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</a:schemeClr>
                    </a:solidFill>
                  </a:tcPr>
                </a:tc>
              </a:tr>
              <a:tr h="215900">
                <a:tc>
                  <a:txBody>
                    <a:bodyPr/>
                    <a:lstStyle/>
                    <a:p>
                      <a:r>
                        <a:rPr lang="en-US" sz="1200" u="none" dirty="0" smtClean="0"/>
                        <a:t>&gt;&gt; </a:t>
                      </a:r>
                      <a:r>
                        <a:rPr lang="en-US" sz="1200" u="sng" dirty="0" smtClean="0"/>
                        <a:t>Editorials</a:t>
                      </a:r>
                      <a:endParaRPr lang="en-US" sz="1200" u="sng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</a:schemeClr>
                    </a:solidFill>
                  </a:tcPr>
                </a:tc>
              </a:tr>
              <a:tr h="215900">
                <a:tc>
                  <a:txBody>
                    <a:bodyPr/>
                    <a:lstStyle/>
                    <a:p>
                      <a:r>
                        <a:rPr lang="en-US" sz="1200" u="none" dirty="0" smtClean="0"/>
                        <a:t>&gt;&gt;</a:t>
                      </a:r>
                      <a:r>
                        <a:rPr lang="en-US" sz="1200" u="sng" dirty="0" smtClean="0"/>
                        <a:t> Yearly</a:t>
                      </a:r>
                      <a:r>
                        <a:rPr lang="en-US" sz="1200" u="sng" baseline="0" dirty="0" smtClean="0"/>
                        <a:t> Report</a:t>
                      </a:r>
                      <a:endParaRPr lang="en-US" sz="1200" u="sng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3" name="Table 72"/>
          <p:cNvGraphicFramePr>
            <a:graphicFrameLocks noGrp="1"/>
          </p:cNvGraphicFramePr>
          <p:nvPr/>
        </p:nvGraphicFramePr>
        <p:xfrm>
          <a:off x="1524000" y="3505200"/>
          <a:ext cx="1219200" cy="149352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219200"/>
              </a:tblGrid>
              <a:tr h="309880"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&gt;In</a:t>
                      </a:r>
                      <a:r>
                        <a:rPr lang="en-US" sz="1400" b="0" baseline="0" dirty="0" smtClean="0">
                          <a:solidFill>
                            <a:schemeClr val="tx1"/>
                          </a:solidFill>
                        </a:rPr>
                        <a:t> India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</a:tr>
              <a:tr h="332740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&gt;our history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</a:tr>
              <a:tr h="332740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&gt;Principles and</a:t>
                      </a:r>
                      <a:r>
                        <a:rPr lang="en-US" sz="1400" baseline="0" dirty="0" smtClean="0">
                          <a:solidFill>
                            <a:schemeClr val="tx1"/>
                          </a:solidFill>
                        </a:rPr>
                        <a:t> Values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</a:tr>
              <a:tr h="332740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&gt;People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11" presetClass="exit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4" dur="1000"/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1" presetClass="exit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7" dur="1000"/>
                                        <p:tgtEl>
                                          <p:spTgt spid="8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" dur="500"/>
                                        <p:tgtEl>
                                          <p:spTgt spid="7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4" dur="500"/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 build="allAtOnce" animBg="1"/>
      <p:bldP spid="70" grpId="0" build="allAtOnce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0"/>
            <a:ext cx="9144000" cy="830997"/>
          </a:xfrm>
          <a:prstGeom prst="rect">
            <a:avLst/>
          </a:prstGeom>
          <a:scene3d>
            <a:camera prst="orthographicFront">
              <a:rot lat="0" lon="0" rev="0"/>
            </a:camera>
            <a:lightRig rig="brightRoom" dir="t"/>
          </a:scene3d>
          <a:sp3d>
            <a:bevelT w="63500" h="254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 b="1" dirty="0">
              <a:latin typeface="+mj-lt"/>
              <a:cs typeface="Tahoma" pitchFamily="34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 b="1" dirty="0">
              <a:latin typeface="+mj-lt"/>
              <a:cs typeface="Tahoma" pitchFamily="34" charset="0"/>
            </a:endParaRPr>
          </a:p>
        </p:txBody>
      </p:sp>
      <p:pic>
        <p:nvPicPr>
          <p:cNvPr id="5123" name="Picture 7" descr="world.png"/>
          <p:cNvPicPr>
            <a:picLocks noChangeAspect="1"/>
          </p:cNvPicPr>
          <p:nvPr/>
        </p:nvPicPr>
        <p:blipFill>
          <a:blip r:embed="rId2">
            <a:lum bright="-60000" contrast="-100000"/>
          </a:blip>
          <a:srcRect/>
          <a:stretch>
            <a:fillRect/>
          </a:stretch>
        </p:blipFill>
        <p:spPr bwMode="auto">
          <a:xfrm>
            <a:off x="3657600" y="0"/>
            <a:ext cx="1609725" cy="809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Rectangle 11"/>
          <p:cNvSpPr/>
          <p:nvPr/>
        </p:nvSpPr>
        <p:spPr>
          <a:xfrm>
            <a:off x="7162800" y="533400"/>
            <a:ext cx="1295400" cy="2286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>
                <a:solidFill>
                  <a:schemeClr val="bg1"/>
                </a:solidFill>
              </a:rPr>
              <a:t>Search</a:t>
            </a:r>
            <a:r>
              <a:rPr lang="en-US" dirty="0"/>
              <a:t> 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34400" y="533400"/>
            <a:ext cx="457200" cy="22860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>
                <a:ln>
                  <a:solidFill>
                    <a:schemeClr val="accent1">
                      <a:shade val="50000"/>
                    </a:schemeClr>
                  </a:solidFill>
                </a:ln>
                <a:solidFill>
                  <a:schemeClr val="bg1"/>
                </a:solidFill>
              </a:rPr>
              <a:t>GO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838200"/>
            <a:ext cx="373380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>
                <a:solidFill>
                  <a:schemeClr val="bg1"/>
                </a:solidFill>
              </a:rPr>
              <a:t>Home	Contact Us               Help</a:t>
            </a:r>
          </a:p>
        </p:txBody>
      </p:sp>
      <p:pic>
        <p:nvPicPr>
          <p:cNvPr id="5127" name="Picture 15" descr="rupees0209-thumb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" y="0"/>
            <a:ext cx="10668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128" name="Group 50"/>
          <p:cNvGrpSpPr>
            <a:grpSpLocks/>
          </p:cNvGrpSpPr>
          <p:nvPr/>
        </p:nvGrpSpPr>
        <p:grpSpPr bwMode="auto">
          <a:xfrm>
            <a:off x="0" y="1143000"/>
            <a:ext cx="9144000" cy="457200"/>
            <a:chOff x="0" y="1143000"/>
            <a:chExt cx="9144000" cy="457200"/>
          </a:xfrm>
        </p:grpSpPr>
        <p:grpSp>
          <p:nvGrpSpPr>
            <p:cNvPr id="5211" name="Group 27"/>
            <p:cNvGrpSpPr>
              <a:grpSpLocks/>
            </p:cNvGrpSpPr>
            <p:nvPr/>
          </p:nvGrpSpPr>
          <p:grpSpPr bwMode="auto">
            <a:xfrm>
              <a:off x="0" y="1143000"/>
              <a:ext cx="9144000" cy="228600"/>
              <a:chOff x="0" y="1143000"/>
              <a:chExt cx="9144000" cy="228600"/>
            </a:xfrm>
          </p:grpSpPr>
          <p:sp>
            <p:nvSpPr>
              <p:cNvPr id="22" name="Rectangle 21"/>
              <p:cNvSpPr/>
              <p:nvPr/>
            </p:nvSpPr>
            <p:spPr>
              <a:xfrm>
                <a:off x="0" y="1143000"/>
                <a:ext cx="1524000" cy="228600"/>
              </a:xfrm>
              <a:prstGeom prst="rect">
                <a:avLst/>
              </a:prstGeom>
              <a:scene3d>
                <a:camera prst="orthographicFront">
                  <a:rot lat="0" lon="0" rev="0"/>
                </a:camera>
                <a:lightRig rig="threePt" dir="t"/>
              </a:scene3d>
              <a:sp3d prstMaterial="powder">
                <a:bevelT w="63500" h="25400"/>
              </a:sp3d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600" dirty="0"/>
                  <a:t>Personal</a:t>
                </a:r>
              </a:p>
            </p:txBody>
          </p:sp>
          <p:sp>
            <p:nvSpPr>
              <p:cNvPr id="23" name="Rectangle 22"/>
              <p:cNvSpPr/>
              <p:nvPr/>
            </p:nvSpPr>
            <p:spPr>
              <a:xfrm>
                <a:off x="1524000" y="1143000"/>
                <a:ext cx="1524000" cy="228600"/>
              </a:xfrm>
              <a:prstGeom prst="rect">
                <a:avLst/>
              </a:prstGeom>
              <a:scene3d>
                <a:camera prst="orthographicFront">
                  <a:rot lat="0" lon="0" rev="0"/>
                </a:camera>
                <a:lightRig rig="brightRoom" dir="t"/>
              </a:scene3d>
              <a:sp3d>
                <a:bevelT w="63500" h="25400"/>
              </a:sp3d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600" dirty="0"/>
                  <a:t>NRI</a:t>
                </a:r>
              </a:p>
            </p:txBody>
          </p:sp>
          <p:sp>
            <p:nvSpPr>
              <p:cNvPr id="24" name="Rectangle 23"/>
              <p:cNvSpPr/>
              <p:nvPr/>
            </p:nvSpPr>
            <p:spPr>
              <a:xfrm>
                <a:off x="3048000" y="1143000"/>
                <a:ext cx="1524000" cy="228600"/>
              </a:xfrm>
              <a:prstGeom prst="rect">
                <a:avLst/>
              </a:prstGeom>
              <a:scene3d>
                <a:camera prst="orthographicFront">
                  <a:rot lat="0" lon="0" rev="0"/>
                </a:camera>
                <a:lightRig rig="brightRoom" dir="t"/>
              </a:scene3d>
              <a:sp3d>
                <a:bevelT w="63500" h="25400"/>
              </a:sp3d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600" dirty="0"/>
                  <a:t>Rural Sector</a:t>
                </a:r>
              </a:p>
            </p:txBody>
          </p:sp>
          <p:sp>
            <p:nvSpPr>
              <p:cNvPr id="25" name="Rectangle 24"/>
              <p:cNvSpPr/>
              <p:nvPr/>
            </p:nvSpPr>
            <p:spPr>
              <a:xfrm>
                <a:off x="4572000" y="1143000"/>
                <a:ext cx="1524000" cy="228600"/>
              </a:xfrm>
              <a:prstGeom prst="rect">
                <a:avLst/>
              </a:prstGeom>
              <a:scene3d>
                <a:camera prst="orthographicFront">
                  <a:rot lat="0" lon="0" rev="0"/>
                </a:camera>
                <a:lightRig rig="brightRoom" dir="t"/>
              </a:scene3d>
              <a:sp3d>
                <a:bevelT w="63500" h="25400"/>
              </a:sp3d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600" dirty="0"/>
                  <a:t>Remittance</a:t>
                </a:r>
              </a:p>
            </p:txBody>
          </p:sp>
          <p:sp>
            <p:nvSpPr>
              <p:cNvPr id="26" name="Rectangle 25"/>
              <p:cNvSpPr/>
              <p:nvPr/>
            </p:nvSpPr>
            <p:spPr>
              <a:xfrm>
                <a:off x="6096000" y="1143000"/>
                <a:ext cx="1524000" cy="228600"/>
              </a:xfrm>
              <a:prstGeom prst="rect">
                <a:avLst/>
              </a:prstGeom>
              <a:scene3d>
                <a:camera prst="orthographicFront">
                  <a:rot lat="0" lon="0" rev="0"/>
                </a:camera>
                <a:lightRig rig="brightRoom" dir="t"/>
              </a:scene3d>
              <a:sp3d>
                <a:bevelT w="63500" h="25400"/>
              </a:sp3d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600" dirty="0"/>
                  <a:t>Corporate</a:t>
                </a:r>
              </a:p>
            </p:txBody>
          </p:sp>
          <p:sp>
            <p:nvSpPr>
              <p:cNvPr id="27" name="Rectangle 26"/>
              <p:cNvSpPr/>
              <p:nvPr/>
            </p:nvSpPr>
            <p:spPr>
              <a:xfrm>
                <a:off x="7620000" y="1143000"/>
                <a:ext cx="1524000" cy="228600"/>
              </a:xfrm>
              <a:prstGeom prst="rect">
                <a:avLst/>
              </a:prstGeom>
              <a:scene3d>
                <a:camera prst="orthographicFront">
                  <a:rot lat="0" lon="0" rev="0"/>
                </a:camera>
                <a:lightRig rig="brightRoom" dir="t"/>
              </a:scene3d>
              <a:sp3d>
                <a:bevelT w="63500" h="25400"/>
              </a:sp3d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600" dirty="0"/>
                  <a:t>Services</a:t>
                </a:r>
              </a:p>
            </p:txBody>
          </p:sp>
        </p:grpSp>
        <p:sp>
          <p:nvSpPr>
            <p:cNvPr id="29" name="Rectangle 28"/>
            <p:cNvSpPr/>
            <p:nvPr/>
          </p:nvSpPr>
          <p:spPr>
            <a:xfrm>
              <a:off x="0" y="1371600"/>
              <a:ext cx="2667000" cy="228600"/>
            </a:xfrm>
            <a:prstGeom prst="rect">
              <a:avLst/>
            </a:prstGeom>
            <a:scene3d>
              <a:camera prst="orthographicFront">
                <a:rot lat="0" lon="0" rev="0"/>
              </a:camera>
              <a:lightRig rig="brightRoom" dir="t"/>
            </a:scene3d>
            <a:sp3d prstMaterial="metal">
              <a:bevelT w="63500" h="25400"/>
            </a:sp3d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600" dirty="0"/>
                <a:t>Accounts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4724400" y="1371600"/>
              <a:ext cx="2057400" cy="228600"/>
            </a:xfrm>
            <a:prstGeom prst="rect">
              <a:avLst/>
            </a:prstGeom>
            <a:scene3d>
              <a:camera prst="orthographicFront">
                <a:rot lat="0" lon="0" rev="0"/>
              </a:camera>
              <a:lightRig rig="brightRoom" dir="t"/>
            </a:scene3d>
            <a:sp3d prstMaterial="metal">
              <a:bevelT w="63500" h="25400"/>
            </a:sp3d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600" dirty="0"/>
                <a:t>Transactions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2667000" y="1371600"/>
              <a:ext cx="2057400" cy="228600"/>
            </a:xfrm>
            <a:prstGeom prst="rect">
              <a:avLst/>
            </a:prstGeom>
            <a:scene3d>
              <a:camera prst="orthographicFront">
                <a:rot lat="0" lon="0" rev="0"/>
              </a:camera>
              <a:lightRig rig="brightRoom" dir="t"/>
            </a:scene3d>
            <a:sp3d prstMaterial="metal">
              <a:bevelT w="63500" h="25400"/>
            </a:sp3d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600" dirty="0"/>
                <a:t>Loans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6781800" y="1371600"/>
              <a:ext cx="2362200" cy="228600"/>
            </a:xfrm>
            <a:prstGeom prst="rect">
              <a:avLst/>
            </a:prstGeom>
            <a:scene3d>
              <a:camera prst="orthographicFront">
                <a:rot lat="0" lon="0" rev="0"/>
              </a:camera>
              <a:lightRig rig="brightRoom" dir="t"/>
            </a:scene3d>
            <a:sp3d prstMaterial="metal">
              <a:bevelT w="63500" h="25400"/>
            </a:sp3d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600" dirty="0"/>
                <a:t>Treasury</a:t>
              </a:r>
            </a:p>
          </p:txBody>
        </p:sp>
      </p:grpSp>
      <p:sp>
        <p:nvSpPr>
          <p:cNvPr id="33" name="Rectangle 32"/>
          <p:cNvSpPr/>
          <p:nvPr/>
        </p:nvSpPr>
        <p:spPr>
          <a:xfrm>
            <a:off x="0" y="1676400"/>
            <a:ext cx="9144000" cy="228600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/>
              <a:t>               &lt;---Customer Login Page 	&lt;---The front end has completed..</a:t>
            </a:r>
          </a:p>
        </p:txBody>
      </p:sp>
      <p:grpSp>
        <p:nvGrpSpPr>
          <p:cNvPr id="5130" name="Group 43"/>
          <p:cNvGrpSpPr>
            <a:grpSpLocks/>
          </p:cNvGrpSpPr>
          <p:nvPr/>
        </p:nvGrpSpPr>
        <p:grpSpPr bwMode="auto">
          <a:xfrm>
            <a:off x="6858000" y="1981200"/>
            <a:ext cx="2133600" cy="2743200"/>
            <a:chOff x="6715760" y="2209800"/>
            <a:chExt cx="2275840" cy="2220686"/>
          </a:xfrm>
        </p:grpSpPr>
        <p:sp>
          <p:nvSpPr>
            <p:cNvPr id="35" name="Rectangle 34"/>
            <p:cNvSpPr/>
            <p:nvPr/>
          </p:nvSpPr>
          <p:spPr>
            <a:xfrm>
              <a:off x="6715760" y="2525939"/>
              <a:ext cx="2275840" cy="190454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6715760" y="2209800"/>
              <a:ext cx="2275840" cy="304574"/>
            </a:xfrm>
            <a:prstGeom prst="rect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600" dirty="0"/>
                <a:t>Login Information</a:t>
              </a:r>
            </a:p>
          </p:txBody>
        </p:sp>
      </p:grpSp>
      <p:sp>
        <p:nvSpPr>
          <p:cNvPr id="5131" name="TextBox 53"/>
          <p:cNvSpPr txBox="1">
            <a:spLocks noChangeArrowheads="1"/>
          </p:cNvSpPr>
          <p:nvPr/>
        </p:nvSpPr>
        <p:spPr bwMode="auto">
          <a:xfrm>
            <a:off x="2895600" y="152400"/>
            <a:ext cx="3124200" cy="430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200" b="1">
                <a:latin typeface="Calibri" pitchFamily="34" charset="0"/>
              </a:rPr>
              <a:t>Internet Banking System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52400" y="1981200"/>
            <a:ext cx="1600200" cy="3505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aphicFrame>
        <p:nvGraphicFramePr>
          <p:cNvPr id="57" name="Table 56"/>
          <p:cNvGraphicFramePr>
            <a:graphicFrameLocks noGrp="1"/>
          </p:cNvGraphicFramePr>
          <p:nvPr/>
        </p:nvGraphicFramePr>
        <p:xfrm>
          <a:off x="228600" y="2057400"/>
          <a:ext cx="1447800" cy="254508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447800"/>
              </a:tblGrid>
              <a:tr h="215900">
                <a:tc>
                  <a:txBody>
                    <a:bodyPr/>
                    <a:lstStyle/>
                    <a:p>
                      <a:r>
                        <a:rPr lang="en-US" dirty="0" smtClean="0"/>
                        <a:t>Quick links</a:t>
                      </a:r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43840"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&gt;&gt;</a:t>
                      </a:r>
                      <a:r>
                        <a:rPr lang="en-US" sz="1100" u="sng" dirty="0" smtClean="0"/>
                        <a:t>Tools</a:t>
                      </a:r>
                      <a:r>
                        <a:rPr lang="en-US" sz="1100" u="sng" baseline="0" dirty="0" smtClean="0"/>
                        <a:t> &amp; Utilities</a:t>
                      </a:r>
                      <a:endParaRPr lang="en-US" sz="1100" u="sng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</a:schemeClr>
                    </a:solidFill>
                  </a:tcPr>
                </a:tc>
              </a:tr>
              <a:tr h="21590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&gt;&gt;</a:t>
                      </a:r>
                      <a:r>
                        <a:rPr lang="en-US" sz="1200" u="sng" dirty="0" smtClean="0"/>
                        <a:t>Foreign</a:t>
                      </a:r>
                      <a:r>
                        <a:rPr lang="en-US" sz="1200" u="sng" baseline="0" dirty="0" smtClean="0"/>
                        <a:t> Exchange</a:t>
                      </a:r>
                      <a:endParaRPr lang="en-US" sz="1200" u="sng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</a:schemeClr>
                    </a:solidFill>
                  </a:tcPr>
                </a:tc>
              </a:tr>
              <a:tr h="21590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&gt;&gt;</a:t>
                      </a:r>
                      <a:r>
                        <a:rPr lang="en-US" sz="1200" u="sng" dirty="0" smtClean="0"/>
                        <a:t>Careers</a:t>
                      </a:r>
                      <a:endParaRPr lang="en-US" sz="1200" u="sng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</a:schemeClr>
                    </a:solidFill>
                  </a:tcPr>
                </a:tc>
              </a:tr>
              <a:tr h="21590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&gt;&gt;</a:t>
                      </a:r>
                      <a:r>
                        <a:rPr lang="en-US" sz="1200" u="sng" dirty="0" smtClean="0"/>
                        <a:t>Use</a:t>
                      </a:r>
                      <a:r>
                        <a:rPr lang="en-US" sz="1200" u="sng" baseline="0" dirty="0" smtClean="0"/>
                        <a:t>ful Forms</a:t>
                      </a:r>
                      <a:endParaRPr lang="en-US" sz="1200" u="sng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</a:schemeClr>
                    </a:solidFill>
                  </a:tcPr>
                </a:tc>
              </a:tr>
              <a:tr h="21590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&gt;&gt;</a:t>
                      </a:r>
                      <a:r>
                        <a:rPr lang="en-US" sz="1200" u="sng" dirty="0" smtClean="0"/>
                        <a:t>About Us</a:t>
                      </a:r>
                      <a:endParaRPr lang="en-US" sz="1200" u="sng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</a:schemeClr>
                    </a:solidFill>
                  </a:tcPr>
                </a:tc>
              </a:tr>
              <a:tr h="215900">
                <a:tc>
                  <a:txBody>
                    <a:bodyPr/>
                    <a:lstStyle/>
                    <a:p>
                      <a:r>
                        <a:rPr lang="en-US" sz="1200" u="none" dirty="0" smtClean="0"/>
                        <a:t>&gt;&gt;</a:t>
                      </a:r>
                      <a:r>
                        <a:rPr lang="en-US" sz="1200" u="sng" dirty="0" smtClean="0"/>
                        <a:t> Share holders</a:t>
                      </a:r>
                      <a:endParaRPr lang="en-US" sz="1200" u="sng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</a:schemeClr>
                    </a:solidFill>
                  </a:tcPr>
                </a:tc>
              </a:tr>
              <a:tr h="215900">
                <a:tc>
                  <a:txBody>
                    <a:bodyPr/>
                    <a:lstStyle/>
                    <a:p>
                      <a:r>
                        <a:rPr lang="en-US" sz="1200" u="none" dirty="0" smtClean="0"/>
                        <a:t>&gt;&gt; </a:t>
                      </a:r>
                      <a:r>
                        <a:rPr lang="en-US" sz="1200" u="sng" dirty="0" smtClean="0"/>
                        <a:t>Editorials</a:t>
                      </a:r>
                      <a:endParaRPr lang="en-US" sz="1200" u="sng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</a:schemeClr>
                    </a:solidFill>
                  </a:tcPr>
                </a:tc>
              </a:tr>
              <a:tr h="215900">
                <a:tc>
                  <a:txBody>
                    <a:bodyPr/>
                    <a:lstStyle/>
                    <a:p>
                      <a:r>
                        <a:rPr lang="en-US" sz="1200" u="none" dirty="0" smtClean="0"/>
                        <a:t>&gt;&gt;</a:t>
                      </a:r>
                      <a:r>
                        <a:rPr lang="en-US" sz="1200" u="sng" dirty="0" smtClean="0"/>
                        <a:t> Yearly</a:t>
                      </a:r>
                      <a:r>
                        <a:rPr lang="en-US" sz="1200" u="sng" baseline="0" dirty="0" smtClean="0"/>
                        <a:t> Report</a:t>
                      </a:r>
                      <a:endParaRPr lang="en-US" sz="1200" u="sng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1" name="Table 70"/>
          <p:cNvGraphicFramePr>
            <a:graphicFrameLocks noGrp="1"/>
          </p:cNvGraphicFramePr>
          <p:nvPr/>
        </p:nvGraphicFramePr>
        <p:xfrm>
          <a:off x="1828800" y="1981200"/>
          <a:ext cx="4952999" cy="3449459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609599"/>
                <a:gridCol w="1066800"/>
                <a:gridCol w="990600"/>
                <a:gridCol w="1066800"/>
                <a:gridCol w="1219200"/>
              </a:tblGrid>
              <a:tr h="645300">
                <a:tc gridSpan="5"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List of Your Accounts</a:t>
                      </a:r>
                    </a:p>
                    <a:p>
                      <a:pPr algn="ctr"/>
                      <a:r>
                        <a:rPr lang="en-US" sz="2000" dirty="0" smtClean="0"/>
                        <a:t>(Choose any one to proceed)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5300"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solidFill>
                            <a:schemeClr val="bg1"/>
                          </a:solidFill>
                        </a:rPr>
                        <a:t>Account</a:t>
                      </a:r>
                      <a:r>
                        <a:rPr lang="en-US" sz="2000" baseline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br>
                        <a:rPr lang="en-US" sz="2000" baseline="0" dirty="0" smtClean="0">
                          <a:solidFill>
                            <a:schemeClr val="bg1"/>
                          </a:solidFill>
                        </a:rPr>
                      </a:br>
                      <a:r>
                        <a:rPr lang="en-US" sz="2000" baseline="0" dirty="0" smtClean="0">
                          <a:solidFill>
                            <a:schemeClr val="bg1"/>
                          </a:solidFill>
                        </a:rPr>
                        <a:t>Number</a:t>
                      </a:r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solidFill>
                            <a:schemeClr val="bg1"/>
                          </a:solidFill>
                        </a:rPr>
                        <a:t>Details</a:t>
                      </a:r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solidFill>
                            <a:schemeClr val="bg1"/>
                          </a:solidFill>
                        </a:rPr>
                        <a:t>Balance</a:t>
                      </a:r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solidFill>
                            <a:schemeClr val="bg1"/>
                          </a:solidFill>
                        </a:rPr>
                        <a:t>Alerts</a:t>
                      </a:r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645300"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chemeClr val="bg1"/>
                          </a:solidFill>
                        </a:rPr>
                        <a:t>c5karan</a:t>
                      </a: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Savings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1200" baseline="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45000 INR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1200" baseline="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Loan Payment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58918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kern="1200" dirty="0" smtClean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c4karan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chemeClr val="bg1"/>
                          </a:solidFill>
                        </a:rPr>
                        <a:t>Current</a:t>
                      </a:r>
                      <a:r>
                        <a:rPr lang="en-US" sz="1800" baseline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br>
                        <a:rPr lang="en-US" sz="1800" baseline="0" dirty="0" smtClean="0">
                          <a:solidFill>
                            <a:schemeClr val="bg1"/>
                          </a:solidFill>
                        </a:rPr>
                      </a:br>
                      <a:r>
                        <a:rPr lang="en-US" sz="1800" baseline="0" dirty="0" smtClean="0">
                          <a:solidFill>
                            <a:schemeClr val="bg1"/>
                          </a:solidFill>
                        </a:rPr>
                        <a:t>Account</a:t>
                      </a: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bg1"/>
                          </a:solidFill>
                        </a:rPr>
                        <a:t>50</a:t>
                      </a:r>
                      <a:r>
                        <a:rPr lang="en-US" sz="1600" baseline="0" dirty="0" smtClean="0">
                          <a:solidFill>
                            <a:schemeClr val="bg1"/>
                          </a:solidFill>
                        </a:rPr>
                        <a:t> INR</a:t>
                      </a:r>
                      <a:endParaRPr 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bg1"/>
                          </a:solidFill>
                        </a:rPr>
                        <a:t>Balance</a:t>
                      </a:r>
                      <a:r>
                        <a:rPr lang="en-US" sz="1600" baseline="0" dirty="0" smtClean="0">
                          <a:solidFill>
                            <a:schemeClr val="bg1"/>
                          </a:solidFill>
                        </a:rPr>
                        <a:t> Low</a:t>
                      </a:r>
                      <a:endParaRPr 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761999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kern="1200" dirty="0" smtClean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C45karan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chemeClr val="bg1"/>
                          </a:solidFill>
                        </a:rPr>
                        <a:t>Current</a:t>
                      </a: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bg1"/>
                          </a:solidFill>
                        </a:rPr>
                        <a:t>75000 INR</a:t>
                      </a:r>
                      <a:r>
                        <a:rPr lang="en-US" sz="1800" dirty="0" smtClean="0">
                          <a:solidFill>
                            <a:schemeClr val="bg1"/>
                          </a:solidFill>
                        </a:rPr>
                        <a:t/>
                      </a:r>
                      <a:br>
                        <a:rPr lang="en-US" sz="1800" dirty="0" smtClean="0">
                          <a:solidFill>
                            <a:schemeClr val="bg1"/>
                          </a:solidFill>
                        </a:rPr>
                      </a:b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chemeClr val="bg1"/>
                          </a:solidFill>
                        </a:rPr>
                        <a:t>Okay</a:t>
                      </a: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5184" name="TextBox 74"/>
          <p:cNvSpPr txBox="1">
            <a:spLocks noChangeArrowheads="1"/>
          </p:cNvSpPr>
          <p:nvPr/>
        </p:nvSpPr>
        <p:spPr bwMode="auto">
          <a:xfrm>
            <a:off x="7239000" y="0"/>
            <a:ext cx="16764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>
                <a:latin typeface="Calibri" pitchFamily="34" charset="0"/>
              </a:rPr>
              <a:t>Need Help ? Call Us</a:t>
            </a:r>
          </a:p>
          <a:p>
            <a:r>
              <a:rPr lang="en-US" sz="1400">
                <a:latin typeface="Calibri" pitchFamily="34" charset="0"/>
              </a:rPr>
              <a:t>1830 564 8565</a:t>
            </a:r>
          </a:p>
        </p:txBody>
      </p:sp>
      <p:grpSp>
        <p:nvGrpSpPr>
          <p:cNvPr id="5185" name="Group 81"/>
          <p:cNvGrpSpPr>
            <a:grpSpLocks/>
          </p:cNvGrpSpPr>
          <p:nvPr/>
        </p:nvGrpSpPr>
        <p:grpSpPr bwMode="auto">
          <a:xfrm>
            <a:off x="228600" y="5562600"/>
            <a:ext cx="2590800" cy="1169988"/>
            <a:chOff x="152400" y="5181600"/>
            <a:chExt cx="2971801" cy="858500"/>
          </a:xfrm>
        </p:grpSpPr>
        <p:pic>
          <p:nvPicPr>
            <p:cNvPr id="5207" name="Picture 75" descr="globe_hands.jpg"/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152400" y="5181600"/>
              <a:ext cx="2971801" cy="838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208" name="TextBox 76"/>
            <p:cNvSpPr txBox="1">
              <a:spLocks noChangeArrowheads="1"/>
            </p:cNvSpPr>
            <p:nvPr/>
          </p:nvSpPr>
          <p:spPr bwMode="auto">
            <a:xfrm>
              <a:off x="239806" y="5516880"/>
              <a:ext cx="2008910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>
                  <a:latin typeface="Calibri" pitchFamily="34" charset="0"/>
                </a:rPr>
                <a:t>GLOBAL</a:t>
              </a:r>
              <a:br>
                <a:rPr lang="en-US" sz="1400">
                  <a:latin typeface="Calibri" pitchFamily="34" charset="0"/>
                </a:rPr>
              </a:br>
              <a:r>
                <a:rPr lang="en-US" sz="1400">
                  <a:latin typeface="Calibri" pitchFamily="34" charset="0"/>
                </a:rPr>
                <a:t>NETWORK</a:t>
              </a:r>
              <a:endParaRPr lang="en-US" sz="1600">
                <a:latin typeface="Calibri" pitchFamily="34" charset="0"/>
              </a:endParaRPr>
            </a:p>
          </p:txBody>
        </p:sp>
      </p:grpSp>
      <p:grpSp>
        <p:nvGrpSpPr>
          <p:cNvPr id="5186" name="Group 86"/>
          <p:cNvGrpSpPr>
            <a:grpSpLocks/>
          </p:cNvGrpSpPr>
          <p:nvPr/>
        </p:nvGrpSpPr>
        <p:grpSpPr bwMode="auto">
          <a:xfrm>
            <a:off x="2895600" y="5562600"/>
            <a:ext cx="1219200" cy="1143000"/>
            <a:chOff x="6096000" y="4355123"/>
            <a:chExt cx="1219200" cy="1143000"/>
          </a:xfrm>
        </p:grpSpPr>
        <p:pic>
          <p:nvPicPr>
            <p:cNvPr id="5205" name="Picture 19" descr="pcp_image_fade.jpg"/>
            <p:cNvPicPr>
              <a:picLocks noChangeAspect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6096000" y="4355123"/>
              <a:ext cx="1219200" cy="1143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206" name="TextBox 77"/>
            <p:cNvSpPr txBox="1">
              <a:spLocks noChangeArrowheads="1"/>
            </p:cNvSpPr>
            <p:nvPr/>
          </p:nvSpPr>
          <p:spPr bwMode="auto">
            <a:xfrm>
              <a:off x="6096000" y="4736123"/>
              <a:ext cx="914400" cy="584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600">
                  <a:solidFill>
                    <a:schemeClr val="bg1"/>
                  </a:solidFill>
                  <a:latin typeface="Calibri" pitchFamily="34" charset="0"/>
                </a:rPr>
                <a:t>Invest</a:t>
              </a:r>
            </a:p>
            <a:p>
              <a:r>
                <a:rPr lang="en-US" sz="1600">
                  <a:solidFill>
                    <a:schemeClr val="bg1"/>
                  </a:solidFill>
                  <a:latin typeface="Calibri" pitchFamily="34" charset="0"/>
                </a:rPr>
                <a:t>today</a:t>
              </a:r>
            </a:p>
          </p:txBody>
        </p:sp>
      </p:grpSp>
      <p:grpSp>
        <p:nvGrpSpPr>
          <p:cNvPr id="5187" name="Group 89"/>
          <p:cNvGrpSpPr>
            <a:grpSpLocks/>
          </p:cNvGrpSpPr>
          <p:nvPr/>
        </p:nvGrpSpPr>
        <p:grpSpPr bwMode="auto">
          <a:xfrm>
            <a:off x="5791200" y="5562600"/>
            <a:ext cx="3200400" cy="1143000"/>
            <a:chOff x="5791200" y="5410200"/>
            <a:chExt cx="3200400" cy="1295400"/>
          </a:xfrm>
        </p:grpSpPr>
        <p:sp>
          <p:nvSpPr>
            <p:cNvPr id="81" name="Rectangle 80"/>
            <p:cNvSpPr/>
            <p:nvPr/>
          </p:nvSpPr>
          <p:spPr>
            <a:xfrm>
              <a:off x="5791200" y="5410200"/>
              <a:ext cx="3124200" cy="12954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5203" name="Picture 82" descr="homepageimage_non_watermarked.gif"/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5867401" y="5486400"/>
              <a:ext cx="1752600" cy="1143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204" name="TextBox 83"/>
            <p:cNvSpPr txBox="1">
              <a:spLocks noChangeArrowheads="1"/>
            </p:cNvSpPr>
            <p:nvPr/>
          </p:nvSpPr>
          <p:spPr bwMode="auto">
            <a:xfrm>
              <a:off x="7696200" y="5638800"/>
              <a:ext cx="1295400" cy="830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600" u="sng">
                  <a:latin typeface="Calibri" pitchFamily="34" charset="0"/>
                </a:rPr>
                <a:t>Feedback &amp; </a:t>
              </a:r>
            </a:p>
            <a:p>
              <a:r>
                <a:rPr lang="en-US" sz="1600" u="sng">
                  <a:latin typeface="Calibri" pitchFamily="34" charset="0"/>
                </a:rPr>
                <a:t>Customer </a:t>
              </a:r>
              <a:br>
                <a:rPr lang="en-US" sz="1600" u="sng">
                  <a:latin typeface="Calibri" pitchFamily="34" charset="0"/>
                </a:rPr>
              </a:br>
              <a:r>
                <a:rPr lang="en-US" sz="1600" u="sng">
                  <a:latin typeface="Calibri" pitchFamily="34" charset="0"/>
                </a:rPr>
                <a:t>Care Centre</a:t>
              </a:r>
            </a:p>
          </p:txBody>
        </p:sp>
      </p:grpSp>
      <p:sp>
        <p:nvSpPr>
          <p:cNvPr id="89" name="Rectangle 88"/>
          <p:cNvSpPr/>
          <p:nvPr/>
        </p:nvSpPr>
        <p:spPr>
          <a:xfrm>
            <a:off x="2971800" y="914400"/>
            <a:ext cx="6172200" cy="152400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1600" dirty="0"/>
              <a:t> Now tax payment through bank  /*roll up tab for service updates*/ </a:t>
            </a:r>
          </a:p>
        </p:txBody>
      </p:sp>
      <p:pic>
        <p:nvPicPr>
          <p:cNvPr id="5189" name="Picture 96" descr="house2.jp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4191000" y="5562600"/>
            <a:ext cx="152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90" name="Picture 97" descr="home-loans.jp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4191000" y="5562600"/>
            <a:ext cx="152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91" name="TextBox 98"/>
          <p:cNvSpPr txBox="1">
            <a:spLocks noChangeArrowheads="1"/>
          </p:cNvSpPr>
          <p:nvPr/>
        </p:nvSpPr>
        <p:spPr bwMode="auto">
          <a:xfrm>
            <a:off x="4191000" y="6400800"/>
            <a:ext cx="12954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 b="1">
                <a:latin typeface="Calibri" pitchFamily="34" charset="0"/>
              </a:rPr>
              <a:t>Home Loans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971800" y="914400"/>
            <a:ext cx="6172200" cy="152400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1600" dirty="0"/>
              <a:t> Money Transfer is more easy now  /*roll up tab for service updates*/ </a:t>
            </a:r>
          </a:p>
        </p:txBody>
      </p:sp>
      <p:sp>
        <p:nvSpPr>
          <p:cNvPr id="5193" name="TextBox 71"/>
          <p:cNvSpPr txBox="1">
            <a:spLocks noChangeArrowheads="1"/>
          </p:cNvSpPr>
          <p:nvPr/>
        </p:nvSpPr>
        <p:spPr bwMode="auto">
          <a:xfrm>
            <a:off x="6934200" y="3200400"/>
            <a:ext cx="20574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600"/>
              <a:t>Overall Last login:</a:t>
            </a:r>
            <a:r>
              <a:rPr lang="en-US"/>
              <a:t/>
            </a:r>
            <a:br>
              <a:rPr lang="en-US"/>
            </a:br>
            <a:r>
              <a:rPr lang="en-US" sz="1600"/>
              <a:t>24 March,2008</a:t>
            </a:r>
          </a:p>
          <a:p>
            <a:r>
              <a:rPr lang="en-US" sz="1600"/>
              <a:t>Time : 14:50 Hrs</a:t>
            </a:r>
          </a:p>
        </p:txBody>
      </p:sp>
      <p:sp>
        <p:nvSpPr>
          <p:cNvPr id="5194" name="TextBox 73"/>
          <p:cNvSpPr txBox="1">
            <a:spLocks noChangeArrowheads="1"/>
          </p:cNvSpPr>
          <p:nvPr/>
        </p:nvSpPr>
        <p:spPr bwMode="auto">
          <a:xfrm>
            <a:off x="7010400" y="2362200"/>
            <a:ext cx="1676400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Welcome</a:t>
            </a:r>
            <a:br>
              <a:rPr lang="en-US"/>
            </a:br>
            <a:r>
              <a:rPr lang="en-US"/>
              <a:t>XYZ </a:t>
            </a:r>
          </a:p>
        </p:txBody>
      </p:sp>
      <p:sp>
        <p:nvSpPr>
          <p:cNvPr id="75" name="Donut 74"/>
          <p:cNvSpPr/>
          <p:nvPr/>
        </p:nvSpPr>
        <p:spPr>
          <a:xfrm>
            <a:off x="1981200" y="3505200"/>
            <a:ext cx="381000" cy="381000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76" name="Donut 75"/>
          <p:cNvSpPr/>
          <p:nvPr/>
        </p:nvSpPr>
        <p:spPr>
          <a:xfrm>
            <a:off x="1981200" y="4191000"/>
            <a:ext cx="381000" cy="381000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77" name="Donut 76"/>
          <p:cNvSpPr/>
          <p:nvPr/>
        </p:nvSpPr>
        <p:spPr>
          <a:xfrm>
            <a:off x="1981200" y="4800600"/>
            <a:ext cx="381000" cy="381000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78" name="Oval 77"/>
          <p:cNvSpPr/>
          <p:nvPr/>
        </p:nvSpPr>
        <p:spPr>
          <a:xfrm>
            <a:off x="2133600" y="4343400"/>
            <a:ext cx="76200" cy="762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2" name="Rounded Rectangle 81"/>
          <p:cNvSpPr/>
          <p:nvPr/>
        </p:nvSpPr>
        <p:spPr>
          <a:xfrm>
            <a:off x="6934200" y="4876800"/>
            <a:ext cx="1295400" cy="533400"/>
          </a:xfrm>
          <a:prstGeom prst="round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Enter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11" presetClass="exit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4" dur="1000"/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1" presetClass="exit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7" dur="1000"/>
                                        <p:tgtEl>
                                          <p:spTgt spid="8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" dur="500"/>
                                        <p:tgtEl>
                                          <p:spTgt spid="7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4" dur="500"/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2" dur="500" fill="hold"/>
                                        <p:tgtEl>
                                          <p:spTgt spid="82"/>
                                        </p:tgtEl>
                                      </p:cBhvr>
                                      <p:by x="85000" y="8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 build="allAtOnce" animBg="1"/>
      <p:bldP spid="70" grpId="0" build="allAtOnce" animBg="1"/>
      <p:bldP spid="78" grpId="0" animBg="1"/>
      <p:bldP spid="78" grpId="1" animBg="1"/>
      <p:bldP spid="8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0"/>
            <a:ext cx="9144000" cy="830997"/>
          </a:xfrm>
          <a:prstGeom prst="rect">
            <a:avLst/>
          </a:prstGeom>
          <a:scene3d>
            <a:camera prst="orthographicFront">
              <a:rot lat="0" lon="0" rev="0"/>
            </a:camera>
            <a:lightRig rig="brightRoom" dir="t"/>
          </a:scene3d>
          <a:sp3d>
            <a:bevelT w="63500" h="254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 b="1" dirty="0">
              <a:latin typeface="+mj-lt"/>
              <a:cs typeface="Tahoma" pitchFamily="34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 b="1" dirty="0">
              <a:latin typeface="+mj-lt"/>
              <a:cs typeface="Tahoma" pitchFamily="34" charset="0"/>
            </a:endParaRPr>
          </a:p>
        </p:txBody>
      </p:sp>
      <p:pic>
        <p:nvPicPr>
          <p:cNvPr id="6147" name="Picture 7" descr="world.png"/>
          <p:cNvPicPr>
            <a:picLocks noChangeAspect="1"/>
          </p:cNvPicPr>
          <p:nvPr/>
        </p:nvPicPr>
        <p:blipFill>
          <a:blip r:embed="rId2">
            <a:lum bright="-60000" contrast="-100000"/>
          </a:blip>
          <a:srcRect/>
          <a:stretch>
            <a:fillRect/>
          </a:stretch>
        </p:blipFill>
        <p:spPr bwMode="auto">
          <a:xfrm>
            <a:off x="3657600" y="0"/>
            <a:ext cx="1609725" cy="809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Rectangle 11"/>
          <p:cNvSpPr/>
          <p:nvPr/>
        </p:nvSpPr>
        <p:spPr>
          <a:xfrm>
            <a:off x="7162800" y="533400"/>
            <a:ext cx="1295400" cy="2286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>
                <a:solidFill>
                  <a:schemeClr val="bg1"/>
                </a:solidFill>
              </a:rPr>
              <a:t>Search</a:t>
            </a:r>
            <a:r>
              <a:rPr lang="en-US" dirty="0"/>
              <a:t> 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34400" y="533400"/>
            <a:ext cx="457200" cy="22860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>
                <a:ln>
                  <a:solidFill>
                    <a:schemeClr val="accent1">
                      <a:shade val="50000"/>
                    </a:schemeClr>
                  </a:solidFill>
                </a:ln>
                <a:solidFill>
                  <a:schemeClr val="bg1"/>
                </a:solidFill>
              </a:rPr>
              <a:t>GO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838200"/>
            <a:ext cx="373380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>
                <a:solidFill>
                  <a:schemeClr val="bg1"/>
                </a:solidFill>
              </a:rPr>
              <a:t>Home	Contact Us               Help</a:t>
            </a:r>
          </a:p>
        </p:txBody>
      </p:sp>
      <p:pic>
        <p:nvPicPr>
          <p:cNvPr id="6151" name="Picture 15" descr="rupees0209-thumb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" y="0"/>
            <a:ext cx="10668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152" name="Group 50"/>
          <p:cNvGrpSpPr>
            <a:grpSpLocks/>
          </p:cNvGrpSpPr>
          <p:nvPr/>
        </p:nvGrpSpPr>
        <p:grpSpPr bwMode="auto">
          <a:xfrm>
            <a:off x="0" y="1143000"/>
            <a:ext cx="9144000" cy="457200"/>
            <a:chOff x="0" y="1143000"/>
            <a:chExt cx="9144000" cy="457200"/>
          </a:xfrm>
        </p:grpSpPr>
        <p:grpSp>
          <p:nvGrpSpPr>
            <p:cNvPr id="6233" name="Group 27"/>
            <p:cNvGrpSpPr>
              <a:grpSpLocks/>
            </p:cNvGrpSpPr>
            <p:nvPr/>
          </p:nvGrpSpPr>
          <p:grpSpPr bwMode="auto">
            <a:xfrm>
              <a:off x="0" y="1143000"/>
              <a:ext cx="9144000" cy="228600"/>
              <a:chOff x="0" y="1143000"/>
              <a:chExt cx="9144000" cy="228600"/>
            </a:xfrm>
          </p:grpSpPr>
          <p:sp>
            <p:nvSpPr>
              <p:cNvPr id="22" name="Rectangle 21"/>
              <p:cNvSpPr/>
              <p:nvPr/>
            </p:nvSpPr>
            <p:spPr>
              <a:xfrm>
                <a:off x="0" y="1143000"/>
                <a:ext cx="1524000" cy="228600"/>
              </a:xfrm>
              <a:prstGeom prst="rect">
                <a:avLst/>
              </a:prstGeom>
              <a:scene3d>
                <a:camera prst="orthographicFront">
                  <a:rot lat="0" lon="0" rev="0"/>
                </a:camera>
                <a:lightRig rig="threePt" dir="t"/>
              </a:scene3d>
              <a:sp3d prstMaterial="powder">
                <a:bevelT w="63500" h="25400"/>
              </a:sp3d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600" dirty="0"/>
                  <a:t>Personal</a:t>
                </a:r>
              </a:p>
            </p:txBody>
          </p:sp>
          <p:sp>
            <p:nvSpPr>
              <p:cNvPr id="23" name="Rectangle 22"/>
              <p:cNvSpPr/>
              <p:nvPr/>
            </p:nvSpPr>
            <p:spPr>
              <a:xfrm>
                <a:off x="1524000" y="1143000"/>
                <a:ext cx="1524000" cy="228600"/>
              </a:xfrm>
              <a:prstGeom prst="rect">
                <a:avLst/>
              </a:prstGeom>
              <a:scene3d>
                <a:camera prst="orthographicFront">
                  <a:rot lat="0" lon="0" rev="0"/>
                </a:camera>
                <a:lightRig rig="brightRoom" dir="t"/>
              </a:scene3d>
              <a:sp3d>
                <a:bevelT w="63500" h="25400"/>
              </a:sp3d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600" dirty="0"/>
                  <a:t>NRI</a:t>
                </a:r>
              </a:p>
            </p:txBody>
          </p:sp>
          <p:sp>
            <p:nvSpPr>
              <p:cNvPr id="24" name="Rectangle 23"/>
              <p:cNvSpPr/>
              <p:nvPr/>
            </p:nvSpPr>
            <p:spPr>
              <a:xfrm>
                <a:off x="3048000" y="1143000"/>
                <a:ext cx="1524000" cy="228600"/>
              </a:xfrm>
              <a:prstGeom prst="rect">
                <a:avLst/>
              </a:prstGeom>
              <a:scene3d>
                <a:camera prst="orthographicFront">
                  <a:rot lat="0" lon="0" rev="0"/>
                </a:camera>
                <a:lightRig rig="brightRoom" dir="t"/>
              </a:scene3d>
              <a:sp3d>
                <a:bevelT w="63500" h="25400"/>
              </a:sp3d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600" dirty="0"/>
                  <a:t>Rural Sector</a:t>
                </a:r>
              </a:p>
            </p:txBody>
          </p:sp>
          <p:sp>
            <p:nvSpPr>
              <p:cNvPr id="25" name="Rectangle 24"/>
              <p:cNvSpPr/>
              <p:nvPr/>
            </p:nvSpPr>
            <p:spPr>
              <a:xfrm>
                <a:off x="4572000" y="1143000"/>
                <a:ext cx="1524000" cy="228600"/>
              </a:xfrm>
              <a:prstGeom prst="rect">
                <a:avLst/>
              </a:prstGeom>
              <a:scene3d>
                <a:camera prst="orthographicFront">
                  <a:rot lat="0" lon="0" rev="0"/>
                </a:camera>
                <a:lightRig rig="brightRoom" dir="t"/>
              </a:scene3d>
              <a:sp3d>
                <a:bevelT w="63500" h="25400"/>
              </a:sp3d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600" dirty="0"/>
                  <a:t>Remittance</a:t>
                </a:r>
              </a:p>
            </p:txBody>
          </p:sp>
          <p:sp>
            <p:nvSpPr>
              <p:cNvPr id="26" name="Rectangle 25"/>
              <p:cNvSpPr/>
              <p:nvPr/>
            </p:nvSpPr>
            <p:spPr>
              <a:xfrm>
                <a:off x="6096000" y="1143000"/>
                <a:ext cx="1524000" cy="228600"/>
              </a:xfrm>
              <a:prstGeom prst="rect">
                <a:avLst/>
              </a:prstGeom>
              <a:scene3d>
                <a:camera prst="orthographicFront">
                  <a:rot lat="0" lon="0" rev="0"/>
                </a:camera>
                <a:lightRig rig="brightRoom" dir="t"/>
              </a:scene3d>
              <a:sp3d>
                <a:bevelT w="63500" h="25400"/>
              </a:sp3d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600" dirty="0"/>
                  <a:t>Corporate</a:t>
                </a:r>
              </a:p>
            </p:txBody>
          </p:sp>
          <p:sp>
            <p:nvSpPr>
              <p:cNvPr id="27" name="Rectangle 26"/>
              <p:cNvSpPr/>
              <p:nvPr/>
            </p:nvSpPr>
            <p:spPr>
              <a:xfrm>
                <a:off x="7620000" y="1143000"/>
                <a:ext cx="1524000" cy="228600"/>
              </a:xfrm>
              <a:prstGeom prst="rect">
                <a:avLst/>
              </a:prstGeom>
              <a:scene3d>
                <a:camera prst="orthographicFront">
                  <a:rot lat="0" lon="0" rev="0"/>
                </a:camera>
                <a:lightRig rig="brightRoom" dir="t"/>
              </a:scene3d>
              <a:sp3d>
                <a:bevelT w="63500" h="25400"/>
              </a:sp3d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600" dirty="0"/>
                  <a:t>Services</a:t>
                </a:r>
              </a:p>
            </p:txBody>
          </p:sp>
        </p:grpSp>
        <p:sp>
          <p:nvSpPr>
            <p:cNvPr id="29" name="Rectangle 28"/>
            <p:cNvSpPr/>
            <p:nvPr/>
          </p:nvSpPr>
          <p:spPr>
            <a:xfrm>
              <a:off x="0" y="1371600"/>
              <a:ext cx="2667000" cy="228600"/>
            </a:xfrm>
            <a:prstGeom prst="rect">
              <a:avLst/>
            </a:prstGeom>
            <a:scene3d>
              <a:camera prst="orthographicFront">
                <a:rot lat="0" lon="0" rev="0"/>
              </a:camera>
              <a:lightRig rig="brightRoom" dir="t"/>
            </a:scene3d>
            <a:sp3d prstMaterial="metal">
              <a:bevelT w="63500" h="25400"/>
            </a:sp3d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600" dirty="0"/>
                <a:t>Accounts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4724400" y="1371600"/>
              <a:ext cx="2057400" cy="228600"/>
            </a:xfrm>
            <a:prstGeom prst="rect">
              <a:avLst/>
            </a:prstGeom>
            <a:scene3d>
              <a:camera prst="orthographicFront">
                <a:rot lat="0" lon="0" rev="0"/>
              </a:camera>
              <a:lightRig rig="brightRoom" dir="t"/>
            </a:scene3d>
            <a:sp3d prstMaterial="metal">
              <a:bevelT w="63500" h="25400"/>
            </a:sp3d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600" dirty="0"/>
                <a:t>Transactions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2667000" y="1371600"/>
              <a:ext cx="2057400" cy="228600"/>
            </a:xfrm>
            <a:prstGeom prst="rect">
              <a:avLst/>
            </a:prstGeom>
            <a:scene3d>
              <a:camera prst="orthographicFront">
                <a:rot lat="0" lon="0" rev="0"/>
              </a:camera>
              <a:lightRig rig="brightRoom" dir="t"/>
            </a:scene3d>
            <a:sp3d prstMaterial="metal">
              <a:bevelT w="63500" h="25400"/>
            </a:sp3d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600" dirty="0"/>
                <a:t>Loans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6781800" y="1371600"/>
              <a:ext cx="2362200" cy="228600"/>
            </a:xfrm>
            <a:prstGeom prst="rect">
              <a:avLst/>
            </a:prstGeom>
            <a:scene3d>
              <a:camera prst="orthographicFront">
                <a:rot lat="0" lon="0" rev="0"/>
              </a:camera>
              <a:lightRig rig="brightRoom" dir="t"/>
            </a:scene3d>
            <a:sp3d prstMaterial="metal">
              <a:bevelT w="63500" h="25400"/>
            </a:sp3d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600" dirty="0"/>
                <a:t>Treasury</a:t>
              </a:r>
            </a:p>
          </p:txBody>
        </p:sp>
      </p:grpSp>
      <p:sp>
        <p:nvSpPr>
          <p:cNvPr id="33" name="Rectangle 32"/>
          <p:cNvSpPr/>
          <p:nvPr/>
        </p:nvSpPr>
        <p:spPr>
          <a:xfrm>
            <a:off x="0" y="1676400"/>
            <a:ext cx="9144000" cy="228600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/>
              <a:t>               &lt;---Customer Login Main page		&lt;---The front end has completed..</a:t>
            </a:r>
          </a:p>
        </p:txBody>
      </p:sp>
      <p:sp>
        <p:nvSpPr>
          <p:cNvPr id="6154" name="TextBox 53"/>
          <p:cNvSpPr txBox="1">
            <a:spLocks noChangeArrowheads="1"/>
          </p:cNvSpPr>
          <p:nvPr/>
        </p:nvSpPr>
        <p:spPr bwMode="auto">
          <a:xfrm>
            <a:off x="2895600" y="152400"/>
            <a:ext cx="3124200" cy="430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200" b="1">
                <a:latin typeface="Calibri" pitchFamily="34" charset="0"/>
              </a:rPr>
              <a:t>Internet Banking System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28600" y="1981200"/>
            <a:ext cx="1600200" cy="472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aphicFrame>
        <p:nvGraphicFramePr>
          <p:cNvPr id="57" name="Table 56"/>
          <p:cNvGraphicFramePr>
            <a:graphicFrameLocks noGrp="1"/>
          </p:cNvGraphicFramePr>
          <p:nvPr/>
        </p:nvGraphicFramePr>
        <p:xfrm>
          <a:off x="304800" y="4953000"/>
          <a:ext cx="1447800" cy="163068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447800"/>
              </a:tblGrid>
              <a:tr h="243840">
                <a:tc>
                  <a:txBody>
                    <a:bodyPr/>
                    <a:lstStyle/>
                    <a:p>
                      <a:r>
                        <a:rPr lang="en-US" sz="1100" b="0" dirty="0" smtClean="0">
                          <a:solidFill>
                            <a:schemeClr val="bg1"/>
                          </a:solidFill>
                        </a:rPr>
                        <a:t>&gt;&gt;</a:t>
                      </a:r>
                      <a:r>
                        <a:rPr lang="en-US" sz="1100" b="0" u="sng" dirty="0" smtClean="0">
                          <a:solidFill>
                            <a:schemeClr val="bg1"/>
                          </a:solidFill>
                        </a:rPr>
                        <a:t>Tools</a:t>
                      </a:r>
                      <a:r>
                        <a:rPr lang="en-US" sz="1100" b="0" u="sng" baseline="0" dirty="0" smtClean="0">
                          <a:solidFill>
                            <a:schemeClr val="bg1"/>
                          </a:solidFill>
                        </a:rPr>
                        <a:t> &amp; Utilities</a:t>
                      </a:r>
                      <a:endParaRPr lang="en-US" sz="1100" b="0" u="sng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</a:schemeClr>
                    </a:solidFill>
                  </a:tcPr>
                </a:tc>
              </a:tr>
              <a:tr h="21590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&gt;&gt;</a:t>
                      </a:r>
                      <a:r>
                        <a:rPr lang="en-US" sz="1200" u="sng" dirty="0" smtClean="0"/>
                        <a:t>Careers</a:t>
                      </a:r>
                      <a:endParaRPr lang="en-US" sz="1200" u="sng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</a:schemeClr>
                    </a:solidFill>
                  </a:tcPr>
                </a:tc>
              </a:tr>
              <a:tr h="21590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&gt;&gt;</a:t>
                      </a:r>
                      <a:r>
                        <a:rPr lang="en-US" sz="1200" u="sng" dirty="0" smtClean="0"/>
                        <a:t>Use</a:t>
                      </a:r>
                      <a:r>
                        <a:rPr lang="en-US" sz="1200" u="sng" baseline="0" dirty="0" smtClean="0"/>
                        <a:t>ful Forms</a:t>
                      </a:r>
                      <a:endParaRPr lang="en-US" sz="1200" u="sng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</a:schemeClr>
                    </a:solidFill>
                  </a:tcPr>
                </a:tc>
              </a:tr>
              <a:tr h="21590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&gt;&gt;</a:t>
                      </a:r>
                      <a:r>
                        <a:rPr lang="en-US" sz="1200" u="sng" dirty="0" smtClean="0"/>
                        <a:t>About Us</a:t>
                      </a:r>
                      <a:endParaRPr lang="en-US" sz="1200" u="sng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</a:schemeClr>
                    </a:solidFill>
                  </a:tcPr>
                </a:tc>
              </a:tr>
              <a:tr h="215900">
                <a:tc>
                  <a:txBody>
                    <a:bodyPr/>
                    <a:lstStyle/>
                    <a:p>
                      <a:r>
                        <a:rPr lang="en-US" sz="1200" u="none" dirty="0" smtClean="0"/>
                        <a:t>&gt;&gt; </a:t>
                      </a:r>
                      <a:r>
                        <a:rPr lang="en-US" sz="1200" u="sng" dirty="0" smtClean="0"/>
                        <a:t>Editorials</a:t>
                      </a:r>
                      <a:endParaRPr lang="en-US" sz="1200" u="sng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</a:schemeClr>
                    </a:solidFill>
                  </a:tcPr>
                </a:tc>
              </a:tr>
              <a:tr h="215900">
                <a:tc>
                  <a:txBody>
                    <a:bodyPr/>
                    <a:lstStyle/>
                    <a:p>
                      <a:r>
                        <a:rPr lang="en-US" sz="1200" u="none" dirty="0" smtClean="0"/>
                        <a:t>&gt;&gt;</a:t>
                      </a:r>
                      <a:r>
                        <a:rPr lang="en-US" sz="1200" u="sng" dirty="0" smtClean="0"/>
                        <a:t> Yearly</a:t>
                      </a:r>
                      <a:r>
                        <a:rPr lang="en-US" sz="1200" u="sng" baseline="0" dirty="0" smtClean="0"/>
                        <a:t> Report</a:t>
                      </a:r>
                      <a:endParaRPr lang="en-US" sz="1200" u="sng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1" name="Table 70"/>
          <p:cNvGraphicFramePr>
            <a:graphicFrameLocks noGrp="1"/>
          </p:cNvGraphicFramePr>
          <p:nvPr/>
        </p:nvGraphicFramePr>
        <p:xfrm>
          <a:off x="6858000" y="4800600"/>
          <a:ext cx="2133600" cy="15849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285474"/>
                <a:gridCol w="848126"/>
              </a:tblGrid>
              <a:tr h="222445"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Today’s Interest</a:t>
                      </a:r>
                      <a:r>
                        <a:rPr lang="en-US" sz="1600" baseline="0" dirty="0" smtClean="0"/>
                        <a:t> rates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22445"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bg1"/>
                          </a:solidFill>
                        </a:rPr>
                        <a:t>A/c</a:t>
                      </a:r>
                      <a:r>
                        <a:rPr lang="en-US" sz="1600" baseline="0" dirty="0" smtClean="0">
                          <a:solidFill>
                            <a:schemeClr val="bg1"/>
                          </a:solidFill>
                        </a:rPr>
                        <a:t> Balance</a:t>
                      </a:r>
                      <a:endParaRPr 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aseline="0" dirty="0" smtClean="0">
                          <a:solidFill>
                            <a:schemeClr val="bg1"/>
                          </a:solidFill>
                        </a:rPr>
                        <a:t>Rate</a:t>
                      </a:r>
                      <a:endParaRPr 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303335"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solidFill>
                            <a:schemeClr val="bg1"/>
                          </a:solidFill>
                        </a:rPr>
                        <a:t>Less</a:t>
                      </a:r>
                      <a:r>
                        <a:rPr lang="en-US" sz="1200" baseline="0" dirty="0" smtClean="0">
                          <a:solidFill>
                            <a:schemeClr val="bg1"/>
                          </a:solidFill>
                        </a:rPr>
                        <a:t> than Rs. 50000</a:t>
                      </a:r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kern="1200" baseline="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0.78%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0333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2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Rs. 50000 and above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solidFill>
                            <a:schemeClr val="bg1"/>
                          </a:solidFill>
                        </a:rPr>
                        <a:t>0.89</a:t>
                      </a:r>
                      <a:r>
                        <a:rPr lang="en-US" sz="1400" dirty="0" smtClean="0">
                          <a:solidFill>
                            <a:schemeClr val="bg1"/>
                          </a:solidFill>
                        </a:rPr>
                        <a:t>%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6184" name="TextBox 74"/>
          <p:cNvSpPr txBox="1">
            <a:spLocks noChangeArrowheads="1"/>
          </p:cNvSpPr>
          <p:nvPr/>
        </p:nvSpPr>
        <p:spPr bwMode="auto">
          <a:xfrm>
            <a:off x="7239000" y="0"/>
            <a:ext cx="16764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>
                <a:latin typeface="Calibri" pitchFamily="34" charset="0"/>
              </a:rPr>
              <a:t>Need Help ? Call Us</a:t>
            </a:r>
          </a:p>
          <a:p>
            <a:r>
              <a:rPr lang="en-US" sz="1400">
                <a:latin typeface="Calibri" pitchFamily="34" charset="0"/>
              </a:rPr>
              <a:t>1830 564 8565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971800" y="914400"/>
            <a:ext cx="6172200" cy="152400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1600" dirty="0"/>
              <a:t> Now tax payment through bank  /*roll up tab for service updates*/ 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971800" y="914400"/>
            <a:ext cx="6172200" cy="152400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1600" dirty="0"/>
              <a:t> Money Transfer is more easy now  /*roll up tab for service updates*/ </a:t>
            </a:r>
          </a:p>
        </p:txBody>
      </p:sp>
      <p:graphicFrame>
        <p:nvGraphicFramePr>
          <p:cNvPr id="75" name="Table 74"/>
          <p:cNvGraphicFramePr>
            <a:graphicFrameLocks noGrp="1"/>
          </p:cNvGraphicFramePr>
          <p:nvPr/>
        </p:nvGraphicFramePr>
        <p:xfrm>
          <a:off x="304800" y="2057400"/>
          <a:ext cx="1447800" cy="256032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447800"/>
              </a:tblGrid>
              <a:tr h="381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Quicklinks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43840">
                <a:tc>
                  <a:txBody>
                    <a:bodyPr/>
                    <a:lstStyle/>
                    <a:p>
                      <a:r>
                        <a:rPr lang="en-US" sz="1100" dirty="0" smtClean="0">
                          <a:solidFill>
                            <a:schemeClr val="bg1"/>
                          </a:solidFill>
                        </a:rPr>
                        <a:t>&gt;&gt;</a:t>
                      </a:r>
                      <a:r>
                        <a:rPr lang="en-US" sz="1100" u="sng" dirty="0" smtClean="0">
                          <a:solidFill>
                            <a:schemeClr val="bg1"/>
                          </a:solidFill>
                        </a:rPr>
                        <a:t>Inbox</a:t>
                      </a:r>
                      <a:endParaRPr lang="en-US" sz="1100" u="sng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</a:tr>
              <a:tr h="215900"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solidFill>
                            <a:schemeClr val="bg1"/>
                          </a:solidFill>
                        </a:rPr>
                        <a:t>&gt;&gt;</a:t>
                      </a:r>
                      <a:r>
                        <a:rPr lang="en-US" sz="1200" u="sng" dirty="0" smtClean="0">
                          <a:solidFill>
                            <a:schemeClr val="bg1"/>
                          </a:solidFill>
                        </a:rPr>
                        <a:t>Change</a:t>
                      </a:r>
                      <a:r>
                        <a:rPr lang="en-US" sz="1200" u="sng" baseline="0" dirty="0" smtClean="0">
                          <a:solidFill>
                            <a:schemeClr val="bg1"/>
                          </a:solidFill>
                        </a:rPr>
                        <a:t> Password</a:t>
                      </a:r>
                      <a:endParaRPr lang="en-US" sz="1200" u="sng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</a:tr>
              <a:tr h="215900"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solidFill>
                            <a:schemeClr val="bg1"/>
                          </a:solidFill>
                        </a:rPr>
                        <a:t>&gt;&gt;</a:t>
                      </a:r>
                      <a:r>
                        <a:rPr lang="en-US" sz="1200" u="sng" dirty="0" smtClean="0">
                          <a:solidFill>
                            <a:schemeClr val="bg1"/>
                          </a:solidFill>
                        </a:rPr>
                        <a:t>View Information </a:t>
                      </a:r>
                      <a:endParaRPr lang="en-US" sz="1200" u="sng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</a:tr>
              <a:tr h="215900">
                <a:tc>
                  <a:txBody>
                    <a:bodyPr/>
                    <a:lstStyle/>
                    <a:p>
                      <a:r>
                        <a:rPr lang="en-US" sz="1200" u="none" dirty="0" smtClean="0">
                          <a:solidFill>
                            <a:schemeClr val="bg1"/>
                          </a:solidFill>
                        </a:rPr>
                        <a:t>&gt;&gt;</a:t>
                      </a:r>
                      <a:r>
                        <a:rPr lang="en-US" sz="1200" u="sng" dirty="0" smtClean="0">
                          <a:solidFill>
                            <a:schemeClr val="bg1"/>
                          </a:solidFill>
                        </a:rPr>
                        <a:t> Transfer</a:t>
                      </a:r>
                      <a:r>
                        <a:rPr lang="en-US" sz="1200" u="sng" baseline="0" dirty="0" smtClean="0">
                          <a:solidFill>
                            <a:schemeClr val="bg1"/>
                          </a:solidFill>
                        </a:rPr>
                        <a:t> Money</a:t>
                      </a:r>
                      <a:endParaRPr lang="en-US" sz="1200" u="sng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</a:tr>
              <a:tr h="215900">
                <a:tc>
                  <a:txBody>
                    <a:bodyPr/>
                    <a:lstStyle/>
                    <a:p>
                      <a:r>
                        <a:rPr lang="en-US" sz="1200" u="none" dirty="0" smtClean="0">
                          <a:solidFill>
                            <a:schemeClr val="bg1"/>
                          </a:solidFill>
                        </a:rPr>
                        <a:t>&gt;&gt;</a:t>
                      </a:r>
                      <a:r>
                        <a:rPr lang="en-US" sz="1200" u="sng" dirty="0" smtClean="0">
                          <a:solidFill>
                            <a:schemeClr val="bg1"/>
                          </a:solidFill>
                        </a:rPr>
                        <a:t> Cheque Book</a:t>
                      </a:r>
                      <a:endParaRPr lang="en-US" sz="1200" u="sng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</a:tr>
              <a:tr h="215900"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solidFill>
                            <a:schemeClr val="bg1"/>
                          </a:solidFill>
                        </a:rPr>
                        <a:t>&gt;&gt;</a:t>
                      </a:r>
                      <a:r>
                        <a:rPr lang="en-US" sz="1200" u="sng" dirty="0" smtClean="0">
                          <a:solidFill>
                            <a:schemeClr val="bg1"/>
                          </a:solidFill>
                        </a:rPr>
                        <a:t>Passbook</a:t>
                      </a:r>
                      <a:endParaRPr lang="en-US" sz="1200" u="sng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</a:tr>
              <a:tr h="215900"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solidFill>
                            <a:schemeClr val="bg1"/>
                          </a:solidFill>
                        </a:rPr>
                        <a:t>&gt;&gt;</a:t>
                      </a:r>
                      <a:r>
                        <a:rPr lang="en-US" sz="1200" u="sng" dirty="0" smtClean="0">
                          <a:solidFill>
                            <a:schemeClr val="bg1"/>
                          </a:solidFill>
                        </a:rPr>
                        <a:t>Send</a:t>
                      </a:r>
                      <a:r>
                        <a:rPr lang="en-US" sz="1200" u="sng" baseline="0" dirty="0" smtClean="0">
                          <a:solidFill>
                            <a:schemeClr val="bg1"/>
                          </a:solidFill>
                        </a:rPr>
                        <a:t> Message</a:t>
                      </a:r>
                      <a:endParaRPr lang="en-US" sz="1200" u="sng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</a:tr>
              <a:tr h="215900">
                <a:tc>
                  <a:txBody>
                    <a:bodyPr/>
                    <a:lstStyle/>
                    <a:p>
                      <a:r>
                        <a:rPr lang="en-US" sz="1200" u="none" dirty="0" smtClean="0">
                          <a:solidFill>
                            <a:schemeClr val="bg1"/>
                          </a:solidFill>
                        </a:rPr>
                        <a:t>&gt;&gt; </a:t>
                      </a:r>
                      <a:r>
                        <a:rPr lang="en-US" sz="1200" u="sng" dirty="0" smtClean="0">
                          <a:solidFill>
                            <a:schemeClr val="bg1"/>
                          </a:solidFill>
                        </a:rPr>
                        <a:t>Logout</a:t>
                      </a:r>
                      <a:endParaRPr lang="en-US" sz="1200" u="sng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pSp>
        <p:nvGrpSpPr>
          <p:cNvPr id="6205" name="Group 43"/>
          <p:cNvGrpSpPr>
            <a:grpSpLocks/>
          </p:cNvGrpSpPr>
          <p:nvPr/>
        </p:nvGrpSpPr>
        <p:grpSpPr bwMode="auto">
          <a:xfrm>
            <a:off x="6858000" y="1981200"/>
            <a:ext cx="2133600" cy="2743200"/>
            <a:chOff x="6715760" y="2209800"/>
            <a:chExt cx="2275840" cy="2220686"/>
          </a:xfrm>
        </p:grpSpPr>
        <p:sp>
          <p:nvSpPr>
            <p:cNvPr id="80" name="Rectangle 79"/>
            <p:cNvSpPr/>
            <p:nvPr/>
          </p:nvSpPr>
          <p:spPr>
            <a:xfrm>
              <a:off x="6715760" y="2525939"/>
              <a:ext cx="2275840" cy="190454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82" name="Rectangle 81"/>
            <p:cNvSpPr/>
            <p:nvPr/>
          </p:nvSpPr>
          <p:spPr>
            <a:xfrm>
              <a:off x="6715760" y="2209800"/>
              <a:ext cx="2275840" cy="304574"/>
            </a:xfrm>
            <a:prstGeom prst="rect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600" dirty="0"/>
                <a:t>Login Information</a:t>
              </a:r>
            </a:p>
          </p:txBody>
        </p:sp>
      </p:grpSp>
      <p:sp>
        <p:nvSpPr>
          <p:cNvPr id="6206" name="TextBox 82"/>
          <p:cNvSpPr txBox="1">
            <a:spLocks noChangeArrowheads="1"/>
          </p:cNvSpPr>
          <p:nvPr/>
        </p:nvSpPr>
        <p:spPr bwMode="auto">
          <a:xfrm>
            <a:off x="6934200" y="3886200"/>
            <a:ext cx="20574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600"/>
              <a:t>Last login:</a:t>
            </a:r>
            <a:r>
              <a:rPr lang="en-US"/>
              <a:t/>
            </a:r>
            <a:br>
              <a:rPr lang="en-US"/>
            </a:br>
            <a:r>
              <a:rPr lang="en-US" sz="1600"/>
              <a:t>23 Feb, 2008</a:t>
            </a:r>
          </a:p>
          <a:p>
            <a:r>
              <a:rPr lang="en-US" sz="1600"/>
              <a:t>Time : 11:50 Hrs</a:t>
            </a:r>
          </a:p>
        </p:txBody>
      </p:sp>
      <p:sp>
        <p:nvSpPr>
          <p:cNvPr id="6207" name="TextBox 83"/>
          <p:cNvSpPr txBox="1">
            <a:spLocks noChangeArrowheads="1"/>
          </p:cNvSpPr>
          <p:nvPr/>
        </p:nvSpPr>
        <p:spPr bwMode="auto">
          <a:xfrm>
            <a:off x="7010400" y="2362200"/>
            <a:ext cx="1676400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Welcome</a:t>
            </a:r>
            <a:br>
              <a:rPr lang="en-US"/>
            </a:br>
            <a:r>
              <a:rPr lang="en-US"/>
              <a:t>XYZ </a:t>
            </a:r>
          </a:p>
        </p:txBody>
      </p:sp>
      <p:sp>
        <p:nvSpPr>
          <p:cNvPr id="6208" name="TextBox 84"/>
          <p:cNvSpPr txBox="1">
            <a:spLocks noChangeArrowheads="1"/>
          </p:cNvSpPr>
          <p:nvPr/>
        </p:nvSpPr>
        <p:spPr bwMode="auto">
          <a:xfrm>
            <a:off x="6934200" y="3124200"/>
            <a:ext cx="19050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A/c # :  c4karan 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1981200" y="2057400"/>
          <a:ext cx="4800600" cy="30429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888761"/>
                <a:gridCol w="2911839"/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1" u="sng" dirty="0" smtClean="0">
                          <a:solidFill>
                            <a:schemeClr val="bg1"/>
                          </a:solidFill>
                        </a:rPr>
                        <a:t>Account Details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Account</a:t>
                      </a:r>
                      <a:r>
                        <a:rPr lang="en-US" baseline="0" dirty="0" smtClean="0"/>
                        <a:t> Number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C4karan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Account</a:t>
                      </a:r>
                      <a:r>
                        <a:rPr lang="en-US" baseline="0" dirty="0" smtClean="0"/>
                        <a:t> Holders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en-US" dirty="0" smtClean="0"/>
                        <a:t>K.J.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n-US" dirty="0" smtClean="0"/>
                        <a:t>A.K.G.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n-US" dirty="0" smtClean="0"/>
                        <a:t>GG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n-US" dirty="0" smtClean="0"/>
                        <a:t>R.J.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Account Type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Current</a:t>
                      </a:r>
                      <a:r>
                        <a:rPr lang="en-US" baseline="0" dirty="0" smtClean="0"/>
                        <a:t> Account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A/c</a:t>
                      </a:r>
                      <a:r>
                        <a:rPr lang="en-US" baseline="0" dirty="0" smtClean="0"/>
                        <a:t> opening Date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2008-1-3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Balance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50 INR</a:t>
                      </a:r>
                      <a:endParaRPr lang="en-US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11" presetClass="exit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4" dur="1000"/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1" presetClass="exit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7" dur="1000"/>
                                        <p:tgtEl>
                                          <p:spTgt spid="8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" dur="500"/>
                                        <p:tgtEl>
                                          <p:spTgt spid="7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4" dur="500"/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 build="allAtOnce" animBg="1"/>
      <p:bldP spid="70" grpId="0" build="allAtOnce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Box 43"/>
          <p:cNvSpPr txBox="1">
            <a:spLocks noChangeArrowheads="1"/>
          </p:cNvSpPr>
          <p:nvPr/>
        </p:nvSpPr>
        <p:spPr bwMode="auto">
          <a:xfrm>
            <a:off x="2057400" y="5181600"/>
            <a:ext cx="4495800" cy="1323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600" b="1" u="sng" dirty="0">
                <a:solidFill>
                  <a:schemeClr val="bg1"/>
                </a:solidFill>
              </a:rPr>
              <a:t>Jobs :</a:t>
            </a:r>
          </a:p>
          <a:p>
            <a:pPr>
              <a:buFont typeface="Arial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Create Customer Account </a:t>
            </a:r>
          </a:p>
          <a:p>
            <a:pPr>
              <a:buFont typeface="Arial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Create Employee Account</a:t>
            </a:r>
          </a:p>
          <a:p>
            <a:pPr>
              <a:buFont typeface="Arial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View General Ledger</a:t>
            </a:r>
          </a:p>
          <a:p>
            <a:pPr>
              <a:buFont typeface="Arial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Close Account`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0"/>
            <a:ext cx="9144000" cy="830997"/>
          </a:xfrm>
          <a:prstGeom prst="rect">
            <a:avLst/>
          </a:prstGeom>
          <a:scene3d>
            <a:camera prst="orthographicFront">
              <a:rot lat="0" lon="0" rev="0"/>
            </a:camera>
            <a:lightRig rig="brightRoom" dir="t"/>
          </a:scene3d>
          <a:sp3d>
            <a:bevelT w="63500" h="254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 b="1" dirty="0">
              <a:latin typeface="+mj-lt"/>
              <a:cs typeface="Tahoma" pitchFamily="34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 b="1" dirty="0">
              <a:latin typeface="+mj-lt"/>
              <a:cs typeface="Tahoma" pitchFamily="34" charset="0"/>
            </a:endParaRPr>
          </a:p>
        </p:txBody>
      </p:sp>
      <p:pic>
        <p:nvPicPr>
          <p:cNvPr id="7172" name="Picture 7" descr="world.png"/>
          <p:cNvPicPr>
            <a:picLocks noChangeAspect="1"/>
          </p:cNvPicPr>
          <p:nvPr/>
        </p:nvPicPr>
        <p:blipFill>
          <a:blip r:embed="rId2">
            <a:lum bright="-60000" contrast="-100000"/>
          </a:blip>
          <a:srcRect/>
          <a:stretch>
            <a:fillRect/>
          </a:stretch>
        </p:blipFill>
        <p:spPr bwMode="auto">
          <a:xfrm>
            <a:off x="3657600" y="0"/>
            <a:ext cx="1609725" cy="809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Rectangle 11"/>
          <p:cNvSpPr/>
          <p:nvPr/>
        </p:nvSpPr>
        <p:spPr>
          <a:xfrm>
            <a:off x="7162800" y="533400"/>
            <a:ext cx="1295400" cy="2286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>
                <a:solidFill>
                  <a:schemeClr val="bg1"/>
                </a:solidFill>
              </a:rPr>
              <a:t>Search</a:t>
            </a:r>
            <a:r>
              <a:rPr lang="en-US" dirty="0"/>
              <a:t> 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34400" y="533400"/>
            <a:ext cx="457200" cy="22860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>
                <a:ln>
                  <a:solidFill>
                    <a:schemeClr val="accent1">
                      <a:shade val="50000"/>
                    </a:schemeClr>
                  </a:solidFill>
                </a:ln>
                <a:solidFill>
                  <a:schemeClr val="bg1"/>
                </a:solidFill>
              </a:rPr>
              <a:t>GO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838200"/>
            <a:ext cx="373380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>
                <a:solidFill>
                  <a:schemeClr val="bg1"/>
                </a:solidFill>
              </a:rPr>
              <a:t>Home	Contact Us               Help</a:t>
            </a:r>
          </a:p>
        </p:txBody>
      </p:sp>
      <p:pic>
        <p:nvPicPr>
          <p:cNvPr id="7176" name="Picture 15" descr="rupees0209-thumb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" y="0"/>
            <a:ext cx="10668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7177" name="Group 50"/>
          <p:cNvGrpSpPr>
            <a:grpSpLocks/>
          </p:cNvGrpSpPr>
          <p:nvPr/>
        </p:nvGrpSpPr>
        <p:grpSpPr bwMode="auto">
          <a:xfrm>
            <a:off x="0" y="1143000"/>
            <a:ext cx="9144000" cy="457200"/>
            <a:chOff x="0" y="1143000"/>
            <a:chExt cx="9144000" cy="457200"/>
          </a:xfrm>
        </p:grpSpPr>
        <p:grpSp>
          <p:nvGrpSpPr>
            <p:cNvPr id="7262" name="Group 27"/>
            <p:cNvGrpSpPr>
              <a:grpSpLocks/>
            </p:cNvGrpSpPr>
            <p:nvPr/>
          </p:nvGrpSpPr>
          <p:grpSpPr bwMode="auto">
            <a:xfrm>
              <a:off x="0" y="1143000"/>
              <a:ext cx="9144000" cy="228600"/>
              <a:chOff x="0" y="1143000"/>
              <a:chExt cx="9144000" cy="228600"/>
            </a:xfrm>
          </p:grpSpPr>
          <p:sp>
            <p:nvSpPr>
              <p:cNvPr id="22" name="Rectangle 21"/>
              <p:cNvSpPr/>
              <p:nvPr/>
            </p:nvSpPr>
            <p:spPr>
              <a:xfrm>
                <a:off x="0" y="1143000"/>
                <a:ext cx="1524000" cy="228600"/>
              </a:xfrm>
              <a:prstGeom prst="rect">
                <a:avLst/>
              </a:prstGeom>
              <a:scene3d>
                <a:camera prst="orthographicFront">
                  <a:rot lat="0" lon="0" rev="0"/>
                </a:camera>
                <a:lightRig rig="threePt" dir="t"/>
              </a:scene3d>
              <a:sp3d prstMaterial="powder">
                <a:bevelT w="63500" h="25400"/>
              </a:sp3d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600" dirty="0"/>
                  <a:t>Personal</a:t>
                </a:r>
              </a:p>
            </p:txBody>
          </p:sp>
          <p:sp>
            <p:nvSpPr>
              <p:cNvPr id="23" name="Rectangle 22"/>
              <p:cNvSpPr/>
              <p:nvPr/>
            </p:nvSpPr>
            <p:spPr>
              <a:xfrm>
                <a:off x="1524000" y="1143000"/>
                <a:ext cx="1524000" cy="228600"/>
              </a:xfrm>
              <a:prstGeom prst="rect">
                <a:avLst/>
              </a:prstGeom>
              <a:scene3d>
                <a:camera prst="orthographicFront">
                  <a:rot lat="0" lon="0" rev="0"/>
                </a:camera>
                <a:lightRig rig="brightRoom" dir="t"/>
              </a:scene3d>
              <a:sp3d>
                <a:bevelT w="63500" h="25400"/>
              </a:sp3d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600" dirty="0"/>
                  <a:t>NRI</a:t>
                </a:r>
              </a:p>
            </p:txBody>
          </p:sp>
          <p:sp>
            <p:nvSpPr>
              <p:cNvPr id="24" name="Rectangle 23"/>
              <p:cNvSpPr/>
              <p:nvPr/>
            </p:nvSpPr>
            <p:spPr>
              <a:xfrm>
                <a:off x="3048000" y="1143000"/>
                <a:ext cx="1524000" cy="228600"/>
              </a:xfrm>
              <a:prstGeom prst="rect">
                <a:avLst/>
              </a:prstGeom>
              <a:scene3d>
                <a:camera prst="orthographicFront">
                  <a:rot lat="0" lon="0" rev="0"/>
                </a:camera>
                <a:lightRig rig="brightRoom" dir="t"/>
              </a:scene3d>
              <a:sp3d>
                <a:bevelT w="63500" h="25400"/>
              </a:sp3d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600" dirty="0"/>
                  <a:t>Rural Sector</a:t>
                </a:r>
              </a:p>
            </p:txBody>
          </p:sp>
          <p:sp>
            <p:nvSpPr>
              <p:cNvPr id="25" name="Rectangle 24"/>
              <p:cNvSpPr/>
              <p:nvPr/>
            </p:nvSpPr>
            <p:spPr>
              <a:xfrm>
                <a:off x="4572000" y="1143000"/>
                <a:ext cx="1524000" cy="228600"/>
              </a:xfrm>
              <a:prstGeom prst="rect">
                <a:avLst/>
              </a:prstGeom>
              <a:scene3d>
                <a:camera prst="orthographicFront">
                  <a:rot lat="0" lon="0" rev="0"/>
                </a:camera>
                <a:lightRig rig="brightRoom" dir="t"/>
              </a:scene3d>
              <a:sp3d>
                <a:bevelT w="63500" h="25400"/>
              </a:sp3d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600" dirty="0"/>
                  <a:t>Remittance</a:t>
                </a:r>
              </a:p>
            </p:txBody>
          </p:sp>
          <p:sp>
            <p:nvSpPr>
              <p:cNvPr id="26" name="Rectangle 25"/>
              <p:cNvSpPr/>
              <p:nvPr/>
            </p:nvSpPr>
            <p:spPr>
              <a:xfrm>
                <a:off x="6096000" y="1143000"/>
                <a:ext cx="1524000" cy="228600"/>
              </a:xfrm>
              <a:prstGeom prst="rect">
                <a:avLst/>
              </a:prstGeom>
              <a:scene3d>
                <a:camera prst="orthographicFront">
                  <a:rot lat="0" lon="0" rev="0"/>
                </a:camera>
                <a:lightRig rig="brightRoom" dir="t"/>
              </a:scene3d>
              <a:sp3d>
                <a:bevelT w="63500" h="25400"/>
              </a:sp3d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600" dirty="0"/>
                  <a:t>Corporate</a:t>
                </a:r>
              </a:p>
            </p:txBody>
          </p:sp>
          <p:sp>
            <p:nvSpPr>
              <p:cNvPr id="27" name="Rectangle 26"/>
              <p:cNvSpPr/>
              <p:nvPr/>
            </p:nvSpPr>
            <p:spPr>
              <a:xfrm>
                <a:off x="7620000" y="1143000"/>
                <a:ext cx="1524000" cy="228600"/>
              </a:xfrm>
              <a:prstGeom prst="rect">
                <a:avLst/>
              </a:prstGeom>
              <a:scene3d>
                <a:camera prst="orthographicFront">
                  <a:rot lat="0" lon="0" rev="0"/>
                </a:camera>
                <a:lightRig rig="brightRoom" dir="t"/>
              </a:scene3d>
              <a:sp3d>
                <a:bevelT w="63500" h="25400"/>
              </a:sp3d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600" dirty="0"/>
                  <a:t>Services</a:t>
                </a:r>
              </a:p>
            </p:txBody>
          </p:sp>
        </p:grpSp>
        <p:sp>
          <p:nvSpPr>
            <p:cNvPr id="29" name="Rectangle 28"/>
            <p:cNvSpPr/>
            <p:nvPr/>
          </p:nvSpPr>
          <p:spPr>
            <a:xfrm>
              <a:off x="0" y="1371600"/>
              <a:ext cx="2667000" cy="228600"/>
            </a:xfrm>
            <a:prstGeom prst="rect">
              <a:avLst/>
            </a:prstGeom>
            <a:scene3d>
              <a:camera prst="orthographicFront">
                <a:rot lat="0" lon="0" rev="0"/>
              </a:camera>
              <a:lightRig rig="brightRoom" dir="t"/>
            </a:scene3d>
            <a:sp3d prstMaterial="metal">
              <a:bevelT w="63500" h="25400"/>
            </a:sp3d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600" dirty="0"/>
                <a:t>Accounts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4724400" y="1371600"/>
              <a:ext cx="2057400" cy="228600"/>
            </a:xfrm>
            <a:prstGeom prst="rect">
              <a:avLst/>
            </a:prstGeom>
            <a:scene3d>
              <a:camera prst="orthographicFront">
                <a:rot lat="0" lon="0" rev="0"/>
              </a:camera>
              <a:lightRig rig="brightRoom" dir="t"/>
            </a:scene3d>
            <a:sp3d prstMaterial="metal">
              <a:bevelT w="63500" h="25400"/>
            </a:sp3d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600" dirty="0"/>
                <a:t>Transactions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2667000" y="1371600"/>
              <a:ext cx="2057400" cy="228600"/>
            </a:xfrm>
            <a:prstGeom prst="rect">
              <a:avLst/>
            </a:prstGeom>
            <a:scene3d>
              <a:camera prst="orthographicFront">
                <a:rot lat="0" lon="0" rev="0"/>
              </a:camera>
              <a:lightRig rig="brightRoom" dir="t"/>
            </a:scene3d>
            <a:sp3d prstMaterial="metal">
              <a:bevelT w="63500" h="25400"/>
            </a:sp3d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600" dirty="0"/>
                <a:t>Loans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6781800" y="1371600"/>
              <a:ext cx="2362200" cy="228600"/>
            </a:xfrm>
            <a:prstGeom prst="rect">
              <a:avLst/>
            </a:prstGeom>
            <a:scene3d>
              <a:camera prst="orthographicFront">
                <a:rot lat="0" lon="0" rev="0"/>
              </a:camera>
              <a:lightRig rig="brightRoom" dir="t"/>
            </a:scene3d>
            <a:sp3d prstMaterial="metal">
              <a:bevelT w="63500" h="25400"/>
            </a:sp3d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600" dirty="0"/>
                <a:t>Treasury</a:t>
              </a:r>
            </a:p>
          </p:txBody>
        </p:sp>
      </p:grpSp>
      <p:sp>
        <p:nvSpPr>
          <p:cNvPr id="33" name="Rectangle 32"/>
          <p:cNvSpPr/>
          <p:nvPr/>
        </p:nvSpPr>
        <p:spPr>
          <a:xfrm>
            <a:off x="0" y="1676400"/>
            <a:ext cx="9144000" cy="228600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/>
              <a:t>               &lt;---Employee main page		&lt;---Party at Raddison this Friday !!!</a:t>
            </a:r>
          </a:p>
        </p:txBody>
      </p:sp>
      <p:sp>
        <p:nvSpPr>
          <p:cNvPr id="7179" name="TextBox 53"/>
          <p:cNvSpPr txBox="1">
            <a:spLocks noChangeArrowheads="1"/>
          </p:cNvSpPr>
          <p:nvPr/>
        </p:nvSpPr>
        <p:spPr bwMode="auto">
          <a:xfrm>
            <a:off x="2895600" y="152400"/>
            <a:ext cx="3124200" cy="430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200" b="1">
                <a:latin typeface="Calibri" pitchFamily="34" charset="0"/>
              </a:rPr>
              <a:t>Internet Banking System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28600" y="1981200"/>
            <a:ext cx="1600200" cy="472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aphicFrame>
        <p:nvGraphicFramePr>
          <p:cNvPr id="57" name="Table 56"/>
          <p:cNvGraphicFramePr>
            <a:graphicFrameLocks noGrp="1"/>
          </p:cNvGraphicFramePr>
          <p:nvPr/>
        </p:nvGraphicFramePr>
        <p:xfrm>
          <a:off x="304800" y="4724400"/>
          <a:ext cx="1447800" cy="164592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447800"/>
              </a:tblGrid>
              <a:tr h="243840">
                <a:tc>
                  <a:txBody>
                    <a:bodyPr/>
                    <a:lstStyle/>
                    <a:p>
                      <a:r>
                        <a:rPr lang="en-US" sz="1800" b="1" u="none" dirty="0" smtClean="0">
                          <a:solidFill>
                            <a:schemeClr val="tx1"/>
                          </a:solidFill>
                        </a:rPr>
                        <a:t>Quick Jobs</a:t>
                      </a:r>
                      <a:endParaRPr lang="en-US" sz="1800" b="1" u="non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15900">
                <a:tc>
                  <a:txBody>
                    <a:bodyPr/>
                    <a:lstStyle/>
                    <a:p>
                      <a:r>
                        <a:rPr lang="en-US" sz="1200" u="none" dirty="0" smtClean="0"/>
                        <a:t>&gt;&gt;</a:t>
                      </a:r>
                      <a:r>
                        <a:rPr lang="en-US" sz="1200" u="none" baseline="0" dirty="0" smtClean="0"/>
                        <a:t> </a:t>
                      </a:r>
                      <a:r>
                        <a:rPr lang="en-US" sz="1200" u="sng" baseline="0" dirty="0" smtClean="0"/>
                        <a:t>Create Reports</a:t>
                      </a:r>
                      <a:endParaRPr lang="en-US" sz="1200" u="sng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</a:schemeClr>
                    </a:solidFill>
                  </a:tcPr>
                </a:tc>
              </a:tr>
              <a:tr h="215900">
                <a:tc>
                  <a:txBody>
                    <a:bodyPr/>
                    <a:lstStyle/>
                    <a:p>
                      <a:r>
                        <a:rPr lang="en-US" sz="1200" u="none" dirty="0" smtClean="0"/>
                        <a:t>&gt;&gt;</a:t>
                      </a:r>
                      <a:r>
                        <a:rPr lang="en-US" sz="1200" u="none" baseline="0" dirty="0" smtClean="0"/>
                        <a:t> </a:t>
                      </a:r>
                      <a:r>
                        <a:rPr lang="en-US" sz="1200" u="sng" baseline="0" dirty="0" smtClean="0"/>
                        <a:t>Issue Standing   </a:t>
                      </a:r>
                      <a:br>
                        <a:rPr lang="en-US" sz="1200" u="sng" baseline="0" dirty="0" smtClean="0"/>
                      </a:br>
                      <a:r>
                        <a:rPr lang="en-US" sz="1200" u="none" baseline="0" dirty="0" smtClean="0"/>
                        <a:t>      </a:t>
                      </a:r>
                      <a:r>
                        <a:rPr lang="en-US" sz="1200" u="sng" baseline="0" dirty="0" smtClean="0"/>
                        <a:t>Instruction</a:t>
                      </a:r>
                      <a:endParaRPr lang="en-US" sz="1200" u="sng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</a:schemeClr>
                    </a:solidFill>
                  </a:tcPr>
                </a:tc>
              </a:tr>
              <a:tr h="215900">
                <a:tc>
                  <a:txBody>
                    <a:bodyPr/>
                    <a:lstStyle/>
                    <a:p>
                      <a:r>
                        <a:rPr lang="en-US" sz="1200" u="none" dirty="0" smtClean="0"/>
                        <a:t>&gt;&gt;</a:t>
                      </a:r>
                      <a:r>
                        <a:rPr lang="en-US" sz="1200" u="sng" dirty="0" smtClean="0"/>
                        <a:t>Search</a:t>
                      </a:r>
                      <a:endParaRPr lang="en-US" sz="1200" u="sng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</a:schemeClr>
                    </a:solidFill>
                  </a:tcPr>
                </a:tc>
              </a:tr>
              <a:tr h="215900">
                <a:tc>
                  <a:txBody>
                    <a:bodyPr/>
                    <a:lstStyle/>
                    <a:p>
                      <a:r>
                        <a:rPr lang="en-US" sz="1200" u="none" dirty="0" smtClean="0"/>
                        <a:t>&gt;&gt; </a:t>
                      </a:r>
                      <a:r>
                        <a:rPr lang="en-US" sz="1200" u="sng" dirty="0" smtClean="0"/>
                        <a:t>Enter Query</a:t>
                      </a:r>
                      <a:endParaRPr lang="en-US" sz="1200" u="sng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1" name="Table 70"/>
          <p:cNvGraphicFramePr>
            <a:graphicFrameLocks noGrp="1"/>
          </p:cNvGraphicFramePr>
          <p:nvPr/>
        </p:nvGraphicFramePr>
        <p:xfrm>
          <a:off x="6858000" y="5105400"/>
          <a:ext cx="2133600" cy="15849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285474"/>
                <a:gridCol w="848126"/>
              </a:tblGrid>
              <a:tr h="222445"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Today’s Interest</a:t>
                      </a:r>
                      <a:r>
                        <a:rPr lang="en-US" sz="1600" baseline="0" dirty="0" smtClean="0"/>
                        <a:t> rates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22445"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bg1"/>
                          </a:solidFill>
                        </a:rPr>
                        <a:t>A/c</a:t>
                      </a:r>
                      <a:r>
                        <a:rPr lang="en-US" sz="1600" baseline="0" dirty="0" smtClean="0">
                          <a:solidFill>
                            <a:schemeClr val="bg1"/>
                          </a:solidFill>
                        </a:rPr>
                        <a:t> Balance</a:t>
                      </a:r>
                      <a:endParaRPr 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aseline="0" dirty="0" smtClean="0">
                          <a:solidFill>
                            <a:schemeClr val="bg1"/>
                          </a:solidFill>
                        </a:rPr>
                        <a:t>Rate</a:t>
                      </a:r>
                      <a:endParaRPr 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303335"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solidFill>
                            <a:schemeClr val="bg1"/>
                          </a:solidFill>
                        </a:rPr>
                        <a:t>Less</a:t>
                      </a:r>
                      <a:r>
                        <a:rPr lang="en-US" sz="1200" baseline="0" dirty="0" smtClean="0">
                          <a:solidFill>
                            <a:schemeClr val="bg1"/>
                          </a:solidFill>
                        </a:rPr>
                        <a:t> than Rs. 50000</a:t>
                      </a:r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kern="1200" baseline="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0.78%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0333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2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Rs. 50000 and above</a:t>
                      </a: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solidFill>
                            <a:schemeClr val="bg1"/>
                          </a:solidFill>
                        </a:rPr>
                        <a:t>0.89</a:t>
                      </a:r>
                      <a:r>
                        <a:rPr lang="en-US" sz="1400" dirty="0" smtClean="0">
                          <a:solidFill>
                            <a:schemeClr val="bg1"/>
                          </a:solidFill>
                        </a:rPr>
                        <a:t>%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89" name="Rectangle 88"/>
          <p:cNvSpPr/>
          <p:nvPr/>
        </p:nvSpPr>
        <p:spPr>
          <a:xfrm>
            <a:off x="2971800" y="914400"/>
            <a:ext cx="6172200" cy="152400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1600" dirty="0"/>
              <a:t> Now tax payment through bank  /*roll up tab for service updates*/ 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971800" y="914400"/>
            <a:ext cx="6172200" cy="152400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1600" dirty="0"/>
              <a:t> Money Transfer is more easy now  /*roll up tab for service updates*/ </a:t>
            </a:r>
          </a:p>
        </p:txBody>
      </p:sp>
      <p:graphicFrame>
        <p:nvGraphicFramePr>
          <p:cNvPr id="75" name="Table 74"/>
          <p:cNvGraphicFramePr>
            <a:graphicFrameLocks noGrp="1"/>
          </p:cNvGraphicFramePr>
          <p:nvPr/>
        </p:nvGraphicFramePr>
        <p:xfrm>
          <a:off x="304800" y="2057400"/>
          <a:ext cx="1447800" cy="256032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447800"/>
              </a:tblGrid>
              <a:tr h="381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Quicklinks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43840">
                <a:tc>
                  <a:txBody>
                    <a:bodyPr/>
                    <a:lstStyle/>
                    <a:p>
                      <a:r>
                        <a:rPr lang="en-US" sz="1100" dirty="0" smtClean="0">
                          <a:solidFill>
                            <a:schemeClr val="bg1"/>
                          </a:solidFill>
                        </a:rPr>
                        <a:t>&gt;&gt;</a:t>
                      </a:r>
                      <a:r>
                        <a:rPr lang="en-US" sz="1100" u="sng" dirty="0" smtClean="0">
                          <a:solidFill>
                            <a:schemeClr val="bg1"/>
                          </a:solidFill>
                        </a:rPr>
                        <a:t>Inbox</a:t>
                      </a:r>
                      <a:endParaRPr lang="en-US" sz="1100" u="sng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</a:tr>
              <a:tr h="215900"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solidFill>
                            <a:schemeClr val="bg1"/>
                          </a:solidFill>
                        </a:rPr>
                        <a:t>&gt;&gt;</a:t>
                      </a:r>
                      <a:r>
                        <a:rPr lang="en-US" sz="1200" u="sng" dirty="0" smtClean="0">
                          <a:solidFill>
                            <a:schemeClr val="bg1"/>
                          </a:solidFill>
                        </a:rPr>
                        <a:t>Change</a:t>
                      </a:r>
                      <a:r>
                        <a:rPr lang="en-US" sz="1200" u="sng" baseline="0" dirty="0" smtClean="0">
                          <a:solidFill>
                            <a:schemeClr val="bg1"/>
                          </a:solidFill>
                        </a:rPr>
                        <a:t> Password</a:t>
                      </a:r>
                      <a:endParaRPr lang="en-US" sz="1200" u="sng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</a:tr>
              <a:tr h="215900"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solidFill>
                            <a:schemeClr val="bg1"/>
                          </a:solidFill>
                        </a:rPr>
                        <a:t>&gt;&gt;</a:t>
                      </a:r>
                      <a:r>
                        <a:rPr lang="en-US" sz="1200" u="sng" dirty="0" smtClean="0">
                          <a:solidFill>
                            <a:schemeClr val="bg1"/>
                          </a:solidFill>
                        </a:rPr>
                        <a:t>View Information </a:t>
                      </a:r>
                      <a:endParaRPr lang="en-US" sz="1200" u="sng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</a:tr>
              <a:tr h="215900">
                <a:tc>
                  <a:txBody>
                    <a:bodyPr/>
                    <a:lstStyle/>
                    <a:p>
                      <a:r>
                        <a:rPr lang="en-US" sz="1200" u="none" dirty="0" smtClean="0">
                          <a:solidFill>
                            <a:schemeClr val="bg1"/>
                          </a:solidFill>
                        </a:rPr>
                        <a:t>&gt;&gt;</a:t>
                      </a:r>
                      <a:r>
                        <a:rPr lang="en-US" sz="1200" u="sng" dirty="0" smtClean="0">
                          <a:solidFill>
                            <a:schemeClr val="bg1"/>
                          </a:solidFill>
                        </a:rPr>
                        <a:t> Transfer</a:t>
                      </a:r>
                      <a:r>
                        <a:rPr lang="en-US" sz="1200" u="sng" baseline="0" dirty="0" smtClean="0">
                          <a:solidFill>
                            <a:schemeClr val="bg1"/>
                          </a:solidFill>
                        </a:rPr>
                        <a:t> Money</a:t>
                      </a:r>
                      <a:endParaRPr lang="en-US" sz="1200" u="sng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</a:tr>
              <a:tr h="215900">
                <a:tc>
                  <a:txBody>
                    <a:bodyPr/>
                    <a:lstStyle/>
                    <a:p>
                      <a:r>
                        <a:rPr lang="en-US" sz="1200" u="none" dirty="0" smtClean="0">
                          <a:solidFill>
                            <a:schemeClr val="bg1"/>
                          </a:solidFill>
                        </a:rPr>
                        <a:t>&gt;&gt;</a:t>
                      </a:r>
                      <a:r>
                        <a:rPr lang="en-US" sz="1200" u="sng" dirty="0" smtClean="0">
                          <a:solidFill>
                            <a:schemeClr val="bg1"/>
                          </a:solidFill>
                        </a:rPr>
                        <a:t> Cheque Book</a:t>
                      </a:r>
                      <a:endParaRPr lang="en-US" sz="1200" u="sng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</a:tr>
              <a:tr h="215900"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solidFill>
                            <a:schemeClr val="bg1"/>
                          </a:solidFill>
                        </a:rPr>
                        <a:t>&gt;&gt;</a:t>
                      </a:r>
                      <a:r>
                        <a:rPr lang="en-US" sz="1200" u="sng" dirty="0" smtClean="0">
                          <a:solidFill>
                            <a:schemeClr val="bg1"/>
                          </a:solidFill>
                        </a:rPr>
                        <a:t>Passbook</a:t>
                      </a:r>
                      <a:endParaRPr lang="en-US" sz="1200" u="sng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</a:tr>
              <a:tr h="215900"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solidFill>
                            <a:schemeClr val="bg1"/>
                          </a:solidFill>
                        </a:rPr>
                        <a:t>&gt;&gt;</a:t>
                      </a:r>
                      <a:r>
                        <a:rPr lang="en-US" sz="1200" u="sng" dirty="0" smtClean="0">
                          <a:solidFill>
                            <a:schemeClr val="bg1"/>
                          </a:solidFill>
                        </a:rPr>
                        <a:t>Send</a:t>
                      </a:r>
                      <a:r>
                        <a:rPr lang="en-US" sz="1200" u="sng" baseline="0" dirty="0" smtClean="0">
                          <a:solidFill>
                            <a:schemeClr val="bg1"/>
                          </a:solidFill>
                        </a:rPr>
                        <a:t> Message</a:t>
                      </a:r>
                      <a:endParaRPr lang="en-US" sz="1200" u="sng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</a:tr>
              <a:tr h="215900">
                <a:tc>
                  <a:txBody>
                    <a:bodyPr/>
                    <a:lstStyle/>
                    <a:p>
                      <a:r>
                        <a:rPr lang="en-US" sz="1200" u="none" dirty="0" smtClean="0">
                          <a:solidFill>
                            <a:schemeClr val="bg1"/>
                          </a:solidFill>
                        </a:rPr>
                        <a:t>&gt;&gt; </a:t>
                      </a:r>
                      <a:r>
                        <a:rPr lang="en-US" sz="1200" u="sng" dirty="0" smtClean="0">
                          <a:solidFill>
                            <a:schemeClr val="bg1"/>
                          </a:solidFill>
                        </a:rPr>
                        <a:t>Logout</a:t>
                      </a:r>
                      <a:endParaRPr lang="en-US" sz="1200" u="sng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pSp>
        <p:nvGrpSpPr>
          <p:cNvPr id="7228" name="Group 43"/>
          <p:cNvGrpSpPr>
            <a:grpSpLocks/>
          </p:cNvGrpSpPr>
          <p:nvPr/>
        </p:nvGrpSpPr>
        <p:grpSpPr bwMode="auto">
          <a:xfrm>
            <a:off x="6858000" y="1981200"/>
            <a:ext cx="2133600" cy="2590800"/>
            <a:chOff x="6715760" y="2209800"/>
            <a:chExt cx="2275840" cy="2220686"/>
          </a:xfrm>
        </p:grpSpPr>
        <p:sp>
          <p:nvSpPr>
            <p:cNvPr id="80" name="Rectangle 79"/>
            <p:cNvSpPr/>
            <p:nvPr/>
          </p:nvSpPr>
          <p:spPr>
            <a:xfrm>
              <a:off x="6715760" y="2525486"/>
              <a:ext cx="2275840" cy="1905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82" name="Rectangle 81"/>
            <p:cNvSpPr/>
            <p:nvPr/>
          </p:nvSpPr>
          <p:spPr>
            <a:xfrm>
              <a:off x="6715760" y="2209800"/>
              <a:ext cx="2275840" cy="303440"/>
            </a:xfrm>
            <a:prstGeom prst="rect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600" dirty="0"/>
                <a:t>Login Information</a:t>
              </a:r>
            </a:p>
          </p:txBody>
        </p:sp>
      </p:grpSp>
      <p:sp>
        <p:nvSpPr>
          <p:cNvPr id="7229" name="TextBox 82"/>
          <p:cNvSpPr txBox="1">
            <a:spLocks noChangeArrowheads="1"/>
          </p:cNvSpPr>
          <p:nvPr/>
        </p:nvSpPr>
        <p:spPr bwMode="auto">
          <a:xfrm>
            <a:off x="6934200" y="3657600"/>
            <a:ext cx="20574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600"/>
              <a:t>Last login:</a:t>
            </a:r>
            <a:r>
              <a:rPr lang="en-US"/>
              <a:t/>
            </a:r>
            <a:br>
              <a:rPr lang="en-US"/>
            </a:br>
            <a:r>
              <a:rPr lang="en-US" sz="1600"/>
              <a:t>23 Feb, 2008</a:t>
            </a:r>
          </a:p>
          <a:p>
            <a:r>
              <a:rPr lang="en-US" sz="1600"/>
              <a:t>Time : 11:50 Hrs</a:t>
            </a:r>
          </a:p>
        </p:txBody>
      </p:sp>
      <p:sp>
        <p:nvSpPr>
          <p:cNvPr id="7230" name="TextBox 83"/>
          <p:cNvSpPr txBox="1">
            <a:spLocks noChangeArrowheads="1"/>
          </p:cNvSpPr>
          <p:nvPr/>
        </p:nvSpPr>
        <p:spPr bwMode="auto">
          <a:xfrm>
            <a:off x="7010400" y="2362200"/>
            <a:ext cx="1676400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Welcome</a:t>
            </a:r>
            <a:br>
              <a:rPr lang="en-US"/>
            </a:br>
            <a:r>
              <a:rPr lang="en-US"/>
              <a:t>XYZ </a:t>
            </a:r>
          </a:p>
        </p:txBody>
      </p:sp>
      <p:sp>
        <p:nvSpPr>
          <p:cNvPr id="7231" name="TextBox 84"/>
          <p:cNvSpPr txBox="1">
            <a:spLocks noChangeArrowheads="1"/>
          </p:cNvSpPr>
          <p:nvPr/>
        </p:nvSpPr>
        <p:spPr bwMode="auto">
          <a:xfrm>
            <a:off x="6934200" y="3124200"/>
            <a:ext cx="19050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A/c # :  c4karan 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1981200" y="1981200"/>
          <a:ext cx="4800600" cy="30429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888761"/>
                <a:gridCol w="2911839"/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1" u="sng" dirty="0" smtClean="0">
                          <a:solidFill>
                            <a:schemeClr val="bg1"/>
                          </a:solidFill>
                        </a:rPr>
                        <a:t>Account Details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Account</a:t>
                      </a:r>
                      <a:r>
                        <a:rPr lang="en-US" baseline="0" dirty="0" smtClean="0"/>
                        <a:t> Number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C4karan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Account</a:t>
                      </a:r>
                      <a:r>
                        <a:rPr lang="en-US" baseline="0" dirty="0" smtClean="0"/>
                        <a:t> Holders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en-US" dirty="0" smtClean="0"/>
                        <a:t>K.J.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n-US" dirty="0" smtClean="0"/>
                        <a:t>A.K.G.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n-US" dirty="0" smtClean="0"/>
                        <a:t>GG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n-US" dirty="0" smtClean="0"/>
                        <a:t>R.J.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Account Type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Current</a:t>
                      </a:r>
                      <a:r>
                        <a:rPr lang="en-US" baseline="0" dirty="0" smtClean="0"/>
                        <a:t> Account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A/c</a:t>
                      </a:r>
                      <a:r>
                        <a:rPr lang="en-US" baseline="0" dirty="0" smtClean="0"/>
                        <a:t> opening Date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2008-1-3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Balance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50 INR</a:t>
                      </a:r>
                      <a:endParaRPr lang="en-US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pSp>
        <p:nvGrpSpPr>
          <p:cNvPr id="7254" name="Group 39"/>
          <p:cNvGrpSpPr>
            <a:grpSpLocks/>
          </p:cNvGrpSpPr>
          <p:nvPr/>
        </p:nvGrpSpPr>
        <p:grpSpPr bwMode="auto">
          <a:xfrm>
            <a:off x="6858000" y="4648200"/>
            <a:ext cx="2133600" cy="381000"/>
            <a:chOff x="6858000" y="6324600"/>
            <a:chExt cx="2133600" cy="381000"/>
          </a:xfrm>
        </p:grpSpPr>
        <p:sp>
          <p:nvSpPr>
            <p:cNvPr id="37" name="Rectangle 36"/>
            <p:cNvSpPr/>
            <p:nvPr/>
          </p:nvSpPr>
          <p:spPr>
            <a:xfrm>
              <a:off x="6858000" y="6324600"/>
              <a:ext cx="2133600" cy="381000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6934200" y="6400800"/>
              <a:ext cx="1524000" cy="228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600" dirty="0"/>
                <a:t>Command Box</a:t>
              </a:r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8534400" y="6400800"/>
              <a:ext cx="381000" cy="228600"/>
            </a:xfrm>
            <a:prstGeom prst="roundRect">
              <a:avLst/>
            </a:prstGeom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050" dirty="0"/>
                <a:t>GO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11" presetClass="exit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4" dur="1000"/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1" presetClass="exit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7" dur="1000"/>
                                        <p:tgtEl>
                                          <p:spTgt spid="8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" dur="500"/>
                                        <p:tgtEl>
                                          <p:spTgt spid="7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4" dur="500"/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 build="allAtOnce" animBg="1"/>
      <p:bldP spid="70" grpId="0" build="allAtOnce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 rtlCol="0">
            <a:normAutofit fontScale="90000"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bg1"/>
                </a:solidFill>
              </a:rPr>
              <a:t>References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 rtlCol="0">
            <a:normAutofit fontScale="77500" lnSpcReduction="20000"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>
                <a:solidFill>
                  <a:srgbClr val="280EE8"/>
                </a:solidFill>
                <a:hlinkClick r:id="rId2"/>
              </a:rPr>
              <a:t>http://www.chase.com/</a:t>
            </a:r>
            <a:endParaRPr lang="en-US" dirty="0" smtClean="0">
              <a:solidFill>
                <a:srgbClr val="280EE8"/>
              </a:solidFill>
            </a:endParaRPr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>
                <a:solidFill>
                  <a:srgbClr val="280EE8"/>
                </a:solidFill>
                <a:hlinkClick r:id="rId3"/>
              </a:rPr>
              <a:t>http://www.anz.com/</a:t>
            </a:r>
            <a:endParaRPr lang="en-US" dirty="0" smtClean="0">
              <a:solidFill>
                <a:srgbClr val="280EE8"/>
              </a:solidFill>
            </a:endParaRPr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>
                <a:solidFill>
                  <a:srgbClr val="280EE8"/>
                </a:solidFill>
                <a:hlinkClick r:id="rId4"/>
              </a:rPr>
              <a:t>http://www.standardchartered.com.sg/</a:t>
            </a:r>
            <a:endParaRPr lang="en-US" dirty="0" smtClean="0">
              <a:solidFill>
                <a:srgbClr val="280EE8"/>
              </a:solidFill>
            </a:endParaRPr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>
                <a:solidFill>
                  <a:srgbClr val="280EE8"/>
                </a:solidFill>
                <a:hlinkClick r:id="rId5"/>
              </a:rPr>
              <a:t>https://www.bankofamerica.com/</a:t>
            </a:r>
            <a:endParaRPr lang="en-US" dirty="0" smtClean="0">
              <a:solidFill>
                <a:srgbClr val="280EE8"/>
              </a:solidFill>
            </a:endParaRPr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>
                <a:solidFill>
                  <a:srgbClr val="280EE8"/>
                </a:solidFill>
                <a:hlinkClick r:id="rId6"/>
              </a:rPr>
              <a:t>http://www.citibank.com/us/index.htm</a:t>
            </a:r>
            <a:endParaRPr lang="en-US" dirty="0" smtClean="0">
              <a:solidFill>
                <a:srgbClr val="280EE8"/>
              </a:solidFill>
            </a:endParaRPr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>
                <a:solidFill>
                  <a:srgbClr val="280EE8"/>
                </a:solidFill>
                <a:hlinkClick r:id="rId7"/>
              </a:rPr>
              <a:t>http://www.usbank.com/</a:t>
            </a:r>
            <a:endParaRPr lang="en-US" dirty="0" smtClean="0">
              <a:solidFill>
                <a:srgbClr val="280EE8"/>
              </a:solidFill>
            </a:endParaRPr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>
                <a:solidFill>
                  <a:srgbClr val="280EE8"/>
                </a:solidFill>
                <a:hlinkClick r:id="rId8"/>
              </a:rPr>
              <a:t>http://www.marketwatch.com/</a:t>
            </a:r>
            <a:endParaRPr lang="en-US" dirty="0" smtClean="0">
              <a:solidFill>
                <a:srgbClr val="280EE8"/>
              </a:solidFill>
            </a:endParaRPr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>
                <a:solidFill>
                  <a:srgbClr val="280EE8"/>
                </a:solidFill>
                <a:hlinkClick r:id="rId9"/>
              </a:rPr>
              <a:t>http://www.creditcards.com/</a:t>
            </a:r>
            <a:endParaRPr lang="en-US" dirty="0" smtClean="0">
              <a:solidFill>
                <a:srgbClr val="280EE8"/>
              </a:solidFill>
            </a:endParaRPr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>
                <a:solidFill>
                  <a:srgbClr val="C00000"/>
                </a:solidFill>
                <a:hlinkClick r:id="rId10"/>
              </a:rPr>
              <a:t>http://www.stumbleupon.com/demo/?review=1#url=http://www.favoritesworld.com/</a:t>
            </a:r>
            <a:endParaRPr lang="en-US" dirty="0" smtClean="0">
              <a:solidFill>
                <a:srgbClr val="C00000"/>
              </a:solidFill>
            </a:endParaRPr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>
                <a:solidFill>
                  <a:srgbClr val="280EE8"/>
                </a:solidFill>
              </a:rPr>
              <a:t>http://www.britishairways.com/travel/informationhubpage/public/en_us?source=TOP_information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>
                <a:solidFill>
                  <a:srgbClr val="280EE8"/>
                </a:solidFill>
              </a:rPr>
              <a:t>http://www.worldbank.org/</a:t>
            </a:r>
            <a:endParaRPr lang="en-US" dirty="0">
              <a:solidFill>
                <a:srgbClr val="280EE8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>
          <a:xfrm>
            <a:off x="228600" y="236220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 smtClean="0">
                <a:solidFill>
                  <a:schemeClr val="bg1"/>
                </a:solidFill>
                <a:latin typeface="Forte" pitchFamily="66" charset="0"/>
              </a:rPr>
              <a:t>Howzatt!!!</a:t>
            </a:r>
            <a:br>
              <a:rPr lang="en-US" dirty="0" smtClean="0">
                <a:solidFill>
                  <a:schemeClr val="bg1"/>
                </a:solidFill>
                <a:latin typeface="Forte" pitchFamily="66" charset="0"/>
              </a:rPr>
            </a:br>
            <a:r>
              <a:rPr lang="en-US" dirty="0" smtClean="0">
                <a:solidFill>
                  <a:schemeClr val="bg1"/>
                </a:solidFill>
                <a:latin typeface="Forte" pitchFamily="66" charset="0"/>
              </a:rPr>
              <a:t>----</a:t>
            </a:r>
            <a:r>
              <a:rPr lang="en-US" dirty="0" smtClean="0">
                <a:solidFill>
                  <a:schemeClr val="bg1"/>
                </a:solidFill>
                <a:latin typeface="Rosewood Std Regular" pitchFamily="50" charset="0"/>
              </a:rPr>
              <a:t/>
            </a:r>
            <a:br>
              <a:rPr lang="en-US" dirty="0" smtClean="0">
                <a:solidFill>
                  <a:schemeClr val="bg1"/>
                </a:solidFill>
                <a:latin typeface="Rosewood Std Regular" pitchFamily="50" charset="0"/>
              </a:rPr>
            </a:br>
            <a:r>
              <a:rPr lang="en-US" dirty="0" smtClean="0">
                <a:solidFill>
                  <a:schemeClr val="bg1"/>
                </a:solidFill>
                <a:latin typeface="Rosewood Std Regular" pitchFamily="50" charset="0"/>
              </a:rPr>
              <a:t>Thank You</a:t>
            </a:r>
            <a:endParaRPr lang="en-US" dirty="0" smtClean="0">
              <a:solidFill>
                <a:schemeClr val="bg1"/>
              </a:solidFill>
              <a:latin typeface="Rosewood Std Regular" pitchFamily="50" charset="0"/>
            </a:endParaRPr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xfrm>
            <a:off x="5791200" y="4876800"/>
            <a:ext cx="2895600" cy="1249363"/>
          </a:xfrm>
        </p:spPr>
        <p:txBody>
          <a:bodyPr/>
          <a:lstStyle/>
          <a:p>
            <a:pPr eaLnBrk="1" hangingPunct="1">
              <a:buFont typeface="Arial" charset="0"/>
              <a:buNone/>
            </a:pPr>
            <a:r>
              <a:rPr lang="en-US" b="1" smtClean="0">
                <a:solidFill>
                  <a:schemeClr val="bg1"/>
                </a:solidFill>
                <a:latin typeface="Bradley Hand ITC" pitchFamily="66" charset="0"/>
              </a:rPr>
              <a:t>- Jst rohyt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828</TotalTime>
  <Words>689</Words>
  <Application>Microsoft Office PowerPoint</Application>
  <PresentationFormat>On-screen Show (4:3)</PresentationFormat>
  <Paragraphs>269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Our Previous CBS</vt:lpstr>
      <vt:lpstr>     </vt:lpstr>
      <vt:lpstr>Slide 3</vt:lpstr>
      <vt:lpstr>Slide 4</vt:lpstr>
      <vt:lpstr>Slide 5</vt:lpstr>
      <vt:lpstr>Slide 6</vt:lpstr>
      <vt:lpstr>References</vt:lpstr>
      <vt:lpstr>Howzatt!!! ---- Thank You</vt:lpstr>
    </vt:vector>
  </TitlesOfParts>
  <Company>iimcal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Rohit Jaiswal</dc:creator>
  <cp:lastModifiedBy>rohyt</cp:lastModifiedBy>
  <cp:revision>109</cp:revision>
  <dcterms:created xsi:type="dcterms:W3CDTF">2008-06-15T07:46:54Z</dcterms:created>
  <dcterms:modified xsi:type="dcterms:W3CDTF">2008-08-24T21:03:35Z</dcterms:modified>
</cp:coreProperties>
</file>