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72" r:id="rId2"/>
    <p:sldId id="274" r:id="rId3"/>
    <p:sldId id="276" r:id="rId4"/>
    <p:sldId id="275" r:id="rId5"/>
    <p:sldId id="277" r:id="rId6"/>
    <p:sldId id="278" r:id="rId7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B7B7B"/>
    <a:srgbClr val="000000"/>
    <a:srgbClr val="8EAD49"/>
    <a:srgbClr val="280EE8"/>
    <a:srgbClr val="FFCC00"/>
    <a:srgbClr val="97D7FF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20138" autoAdjust="0"/>
    <p:restoredTop sz="97407" autoAdjust="0"/>
  </p:normalViewPr>
  <p:slideViewPr>
    <p:cSldViewPr>
      <p:cViewPr>
        <p:scale>
          <a:sx n="79" d="100"/>
          <a:sy n="79" d="100"/>
        </p:scale>
        <p:origin x="-102" y="18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2112E58-963D-4FD1-85CF-99226FCCAB75}" type="datetimeFigureOut">
              <a:rPr lang="en-US" smtClean="0"/>
              <a:t>9/6/2008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7CE5C55-2C0D-4E24-908B-8AC322D43263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CD61D55-2CF4-4E6B-B740-4A0300255D28}" type="datetimeFigureOut">
              <a:rPr lang="en-US"/>
              <a:pPr>
                <a:defRPr/>
              </a:pPr>
              <a:t>9/5/2008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1160BE4-4132-481C-9D84-6998F4224DF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C5D010-5145-41CB-9297-A3171287FC6C}" type="datetimeFigureOut">
              <a:rPr lang="en-US"/>
              <a:pPr>
                <a:defRPr/>
              </a:pPr>
              <a:t>9/5/2008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4F78B24-18BD-4DDD-BB9E-699F97D53D0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AE6A43E-D996-4F16-A7A4-A9D034556864}" type="datetimeFigureOut">
              <a:rPr lang="en-US"/>
              <a:pPr>
                <a:defRPr/>
              </a:pPr>
              <a:t>9/5/2008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534F6A9-BFA7-43B1-89AA-EC2B5272372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7D8F7BE-4BD1-4DBC-BF9D-AEDCB4F09B68}" type="datetimeFigureOut">
              <a:rPr lang="en-US"/>
              <a:pPr>
                <a:defRPr/>
              </a:pPr>
              <a:t>9/5/2008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8A77D2-C2CE-4B3D-8D10-F3DBD2147D4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7B9786A-0F91-4595-8928-2D99BF293DF1}" type="datetimeFigureOut">
              <a:rPr lang="en-US"/>
              <a:pPr>
                <a:defRPr/>
              </a:pPr>
              <a:t>9/5/2008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E05A952-09F8-44DE-9A70-14B664022BC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9A8271F-4C0B-4EFD-94C3-A0EC3348AA49}" type="datetimeFigureOut">
              <a:rPr lang="en-US"/>
              <a:pPr>
                <a:defRPr/>
              </a:pPr>
              <a:t>9/5/2008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6D699CD-A71F-41C1-A115-BD4844BE6C0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578ACD-EF67-4031-8AC2-274277B27ED4}" type="datetimeFigureOut">
              <a:rPr lang="en-US"/>
              <a:pPr>
                <a:defRPr/>
              </a:pPr>
              <a:t>9/5/2008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452851-E75E-49ED-A5D2-73844148C65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F921CE9-E5DD-49C3-B5B3-273157399F89}" type="datetimeFigureOut">
              <a:rPr lang="en-US"/>
              <a:pPr>
                <a:defRPr/>
              </a:pPr>
              <a:t>9/5/2008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69202E6-3B94-4CA4-8067-4B661CA3EF0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CAF83B2-FBE2-4A0D-A130-0855DB683D23}" type="datetimeFigureOut">
              <a:rPr lang="en-US"/>
              <a:pPr>
                <a:defRPr/>
              </a:pPr>
              <a:t>9/5/2008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FDD1A6-36AE-4311-9FEC-C2CDB40B32B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F1E9DE5-0F33-425A-BBBD-5F11BE03D091}" type="datetimeFigureOut">
              <a:rPr lang="en-US"/>
              <a:pPr>
                <a:defRPr/>
              </a:pPr>
              <a:t>9/5/2008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E4BC042-A82E-4200-916F-F784DFA90EE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568BF97-FA85-4990-B824-6EB97D12AE15}" type="datetimeFigureOut">
              <a:rPr lang="en-US"/>
              <a:pPr>
                <a:defRPr/>
              </a:pPr>
              <a:t>9/5/2008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CC48D6C-D35E-443C-A0BC-37D89B0DC92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13D095BF-FB26-483B-9133-D6AC65AA26A7}" type="datetimeFigureOut">
              <a:rPr lang="en-US"/>
              <a:pPr>
                <a:defRPr/>
              </a:pPr>
              <a:t>9/5/2008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A702C407-C17E-4C30-8127-7E833F09FC1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Rectangle 97"/>
          <p:cNvSpPr/>
          <p:nvPr/>
        </p:nvSpPr>
        <p:spPr>
          <a:xfrm>
            <a:off x="0" y="1676400"/>
            <a:ext cx="9144000" cy="51816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Rectangle 74"/>
          <p:cNvSpPr/>
          <p:nvPr/>
        </p:nvSpPr>
        <p:spPr>
          <a:xfrm>
            <a:off x="3276600" y="0"/>
            <a:ext cx="5867400" cy="82296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3" name="Rectangle 32"/>
          <p:cNvSpPr/>
          <p:nvPr/>
        </p:nvSpPr>
        <p:spPr>
          <a:xfrm>
            <a:off x="0" y="1143000"/>
            <a:ext cx="9144000" cy="228600"/>
          </a:xfrm>
          <a:prstGeom prst="rect">
            <a:avLst/>
          </a:prstGeom>
          <a:ln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dirty="0"/>
              <a:t>               </a:t>
            </a:r>
            <a:r>
              <a:rPr lang="en-US" sz="1600" dirty="0">
                <a:solidFill>
                  <a:schemeClr val="tx1"/>
                </a:solidFill>
              </a:rPr>
              <a:t>&lt;---Presenting the new era of Banking                        &lt;---The front end has completed..</a:t>
            </a:r>
          </a:p>
        </p:txBody>
      </p:sp>
      <p:grpSp>
        <p:nvGrpSpPr>
          <p:cNvPr id="2" name="Group 48"/>
          <p:cNvGrpSpPr>
            <a:grpSpLocks/>
          </p:cNvGrpSpPr>
          <p:nvPr/>
        </p:nvGrpSpPr>
        <p:grpSpPr bwMode="auto">
          <a:xfrm>
            <a:off x="5867400" y="1752600"/>
            <a:ext cx="3124200" cy="2743200"/>
            <a:chOff x="6858000" y="2286000"/>
            <a:chExt cx="2133600" cy="2144111"/>
          </a:xfrm>
        </p:grpSpPr>
        <p:grpSp>
          <p:nvGrpSpPr>
            <p:cNvPr id="3" name="Group 43"/>
            <p:cNvGrpSpPr>
              <a:grpSpLocks/>
            </p:cNvGrpSpPr>
            <p:nvPr/>
          </p:nvGrpSpPr>
          <p:grpSpPr bwMode="auto">
            <a:xfrm>
              <a:off x="6858000" y="2286000"/>
              <a:ext cx="2133600" cy="2144111"/>
              <a:chOff x="6715760" y="2209800"/>
              <a:chExt cx="2275840" cy="2220686"/>
            </a:xfrm>
          </p:grpSpPr>
          <p:sp>
            <p:nvSpPr>
              <p:cNvPr id="35" name="Rectangle 34"/>
              <p:cNvSpPr/>
              <p:nvPr/>
            </p:nvSpPr>
            <p:spPr>
              <a:xfrm>
                <a:off x="6715760" y="2525397"/>
                <a:ext cx="2275840" cy="1905089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/>
              </a:p>
            </p:txBody>
          </p:sp>
          <p:sp>
            <p:nvSpPr>
              <p:cNvPr id="37" name="Rectangle 36"/>
              <p:cNvSpPr/>
              <p:nvPr/>
            </p:nvSpPr>
            <p:spPr>
              <a:xfrm>
                <a:off x="6715760" y="2209800"/>
                <a:ext cx="2275840" cy="304091"/>
              </a:xfrm>
              <a:prstGeom prst="rect">
                <a:avLst/>
              </a:prstGeom>
            </p:spPr>
            <p:style>
              <a:lnRef idx="1">
                <a:schemeClr val="accent5"/>
              </a:lnRef>
              <a:fillRef idx="3">
                <a:schemeClr val="accent5"/>
              </a:fillRef>
              <a:effectRef idx="2">
                <a:schemeClr val="accent5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sz="1600" dirty="0"/>
                  <a:t>Member Login</a:t>
                </a:r>
              </a:p>
            </p:txBody>
          </p:sp>
          <p:sp>
            <p:nvSpPr>
              <p:cNvPr id="38" name="Rectangle 37"/>
              <p:cNvSpPr/>
              <p:nvPr/>
            </p:nvSpPr>
            <p:spPr>
              <a:xfrm>
                <a:off x="7548384" y="2683196"/>
                <a:ext cx="1332199" cy="205147"/>
              </a:xfrm>
              <a:prstGeom prst="rect">
                <a:avLst/>
              </a:prstGeom>
              <a:solidFill>
                <a:schemeClr val="tx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/>
              </a:p>
            </p:txBody>
          </p:sp>
          <p:sp>
            <p:nvSpPr>
              <p:cNvPr id="39" name="Rectangle 38"/>
              <p:cNvSpPr/>
              <p:nvPr/>
            </p:nvSpPr>
            <p:spPr>
              <a:xfrm>
                <a:off x="7548384" y="2950029"/>
                <a:ext cx="1332199" cy="185057"/>
              </a:xfrm>
              <a:prstGeom prst="rect">
                <a:avLst/>
              </a:prstGeom>
              <a:solidFill>
                <a:schemeClr val="tx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/>
              </a:p>
            </p:txBody>
          </p:sp>
          <p:sp>
            <p:nvSpPr>
              <p:cNvPr id="40" name="Rectangle 39"/>
              <p:cNvSpPr/>
              <p:nvPr/>
            </p:nvSpPr>
            <p:spPr>
              <a:xfrm>
                <a:off x="6781802" y="2666758"/>
                <a:ext cx="766583" cy="174236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sz="1600" dirty="0">
                    <a:solidFill>
                      <a:schemeClr val="tx1"/>
                    </a:solidFill>
                  </a:rPr>
                  <a:t>Username</a:t>
                </a:r>
                <a:r>
                  <a:rPr lang="en-US" dirty="0">
                    <a:solidFill>
                      <a:schemeClr val="tx1"/>
                    </a:solidFill>
                  </a:rPr>
                  <a:t> </a:t>
                </a:r>
              </a:p>
            </p:txBody>
          </p:sp>
          <p:sp>
            <p:nvSpPr>
              <p:cNvPr id="42" name="Rectangle 41"/>
              <p:cNvSpPr/>
              <p:nvPr/>
            </p:nvSpPr>
            <p:spPr>
              <a:xfrm>
                <a:off x="6771268" y="2888343"/>
                <a:ext cx="777116" cy="315597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sz="1600" dirty="0"/>
                  <a:t>Password</a:t>
                </a:r>
              </a:p>
            </p:txBody>
          </p:sp>
        </p:grpSp>
        <p:sp>
          <p:nvSpPr>
            <p:cNvPr id="45" name="Rectangle 44"/>
            <p:cNvSpPr/>
            <p:nvPr/>
          </p:nvSpPr>
          <p:spPr>
            <a:xfrm>
              <a:off x="7014117" y="3834525"/>
              <a:ext cx="685800" cy="228600"/>
            </a:xfrm>
            <a:prstGeom prst="rect">
              <a:avLst/>
            </a:prstGeom>
            <a:scene3d>
              <a:camera prst="orthographicFront">
                <a:rot lat="0" lon="0" rev="0"/>
              </a:camera>
              <a:lightRig rig="brightRoom" dir="t"/>
            </a:scene3d>
            <a:sp3d>
              <a:bevelT w="63500" h="25400"/>
            </a:sp3d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400" dirty="0"/>
                <a:t>Log in</a:t>
              </a:r>
            </a:p>
          </p:txBody>
        </p:sp>
        <p:sp>
          <p:nvSpPr>
            <p:cNvPr id="46" name="Rectangle 45"/>
            <p:cNvSpPr/>
            <p:nvPr/>
          </p:nvSpPr>
          <p:spPr>
            <a:xfrm>
              <a:off x="7690624" y="3834525"/>
              <a:ext cx="1295400" cy="304714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400" u="sng" dirty="0"/>
                <a:t>Forgot password?</a:t>
              </a:r>
            </a:p>
          </p:txBody>
        </p:sp>
      </p:grpSp>
      <p:sp>
        <p:nvSpPr>
          <p:cNvPr id="56" name="Rectangle 55"/>
          <p:cNvSpPr/>
          <p:nvPr/>
        </p:nvSpPr>
        <p:spPr>
          <a:xfrm>
            <a:off x="91440" y="1752600"/>
            <a:ext cx="1737360" cy="3429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grpSp>
        <p:nvGrpSpPr>
          <p:cNvPr id="5" name="Group 69"/>
          <p:cNvGrpSpPr>
            <a:grpSpLocks/>
          </p:cNvGrpSpPr>
          <p:nvPr/>
        </p:nvGrpSpPr>
        <p:grpSpPr bwMode="auto">
          <a:xfrm>
            <a:off x="76200" y="5257800"/>
            <a:ext cx="2667000" cy="1219200"/>
            <a:chOff x="304800" y="3962400"/>
            <a:chExt cx="1981200" cy="1143000"/>
          </a:xfrm>
        </p:grpSpPr>
        <p:sp>
          <p:nvSpPr>
            <p:cNvPr id="59" name="Rectangle 58"/>
            <p:cNvSpPr/>
            <p:nvPr/>
          </p:nvSpPr>
          <p:spPr>
            <a:xfrm>
              <a:off x="304800" y="3962400"/>
              <a:ext cx="1981200" cy="1143000"/>
            </a:xfrm>
            <a:prstGeom prst="rect">
              <a:avLst/>
            </a:prstGeom>
            <a:solidFill>
              <a:schemeClr val="tx1">
                <a:lumMod val="85000"/>
              </a:schemeClr>
            </a:solidFill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60" name="Rectangle 59"/>
            <p:cNvSpPr/>
            <p:nvPr/>
          </p:nvSpPr>
          <p:spPr>
            <a:xfrm>
              <a:off x="304800" y="3962400"/>
              <a:ext cx="1981200" cy="30536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600" dirty="0" smtClean="0">
                  <a:solidFill>
                    <a:schemeClr val="bg1"/>
                  </a:solidFill>
                </a:rPr>
                <a:t>ATM / Branch </a:t>
              </a:r>
              <a:r>
                <a:rPr lang="en-US" sz="1600" dirty="0">
                  <a:solidFill>
                    <a:schemeClr val="bg1"/>
                  </a:solidFill>
                </a:rPr>
                <a:t>Locator</a:t>
              </a:r>
            </a:p>
          </p:txBody>
        </p:sp>
        <p:sp>
          <p:nvSpPr>
            <p:cNvPr id="61" name="Rectangle 60"/>
            <p:cNvSpPr/>
            <p:nvPr/>
          </p:nvSpPr>
          <p:spPr>
            <a:xfrm>
              <a:off x="364836" y="4402015"/>
              <a:ext cx="609220" cy="303960"/>
            </a:xfrm>
            <a:prstGeom prst="rect">
              <a:avLst/>
            </a:prstGeom>
            <a:solidFill>
              <a:schemeClr val="tx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600" dirty="0" smtClean="0">
                  <a:solidFill>
                    <a:schemeClr val="bg1"/>
                  </a:solidFill>
                </a:rPr>
                <a:t>ATM</a:t>
              </a:r>
              <a:r>
                <a:rPr lang="en-US" sz="1400" dirty="0" smtClean="0">
                  <a:solidFill>
                    <a:schemeClr val="bg1"/>
                  </a:solidFill>
                </a:rPr>
                <a:t> </a:t>
              </a:r>
              <a:endParaRPr lang="en-US" sz="1400" dirty="0">
                <a:solidFill>
                  <a:schemeClr val="bg1"/>
                </a:solidFill>
              </a:endParaRPr>
            </a:p>
          </p:txBody>
        </p:sp>
        <p:sp>
          <p:nvSpPr>
            <p:cNvPr id="62" name="Rectangle 61"/>
            <p:cNvSpPr/>
            <p:nvPr/>
          </p:nvSpPr>
          <p:spPr>
            <a:xfrm>
              <a:off x="1902542" y="4495800"/>
              <a:ext cx="153542" cy="152681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63" name="Rectangle 62"/>
            <p:cNvSpPr/>
            <p:nvPr/>
          </p:nvSpPr>
          <p:spPr>
            <a:xfrm>
              <a:off x="943897" y="4495800"/>
              <a:ext cx="153542" cy="152681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65" name="Rectangle 64"/>
            <p:cNvSpPr/>
            <p:nvPr/>
          </p:nvSpPr>
          <p:spPr>
            <a:xfrm>
              <a:off x="1135626" y="4419600"/>
              <a:ext cx="761112" cy="303960"/>
            </a:xfrm>
            <a:prstGeom prst="rect">
              <a:avLst/>
            </a:prstGeom>
            <a:solidFill>
              <a:schemeClr val="tx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600" dirty="0" smtClean="0">
                  <a:solidFill>
                    <a:schemeClr val="bg1"/>
                  </a:solidFill>
                </a:rPr>
                <a:t>Branch</a:t>
              </a:r>
              <a:endParaRPr lang="en-US" sz="1600" dirty="0">
                <a:solidFill>
                  <a:schemeClr val="bg1"/>
                </a:solidFill>
              </a:endParaRPr>
            </a:p>
          </p:txBody>
        </p:sp>
        <p:sp>
          <p:nvSpPr>
            <p:cNvPr id="67" name="Rectangle 66"/>
            <p:cNvSpPr/>
            <p:nvPr/>
          </p:nvSpPr>
          <p:spPr>
            <a:xfrm>
              <a:off x="378178" y="4819650"/>
              <a:ext cx="945525" cy="209550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600" dirty="0" smtClean="0">
                  <a:solidFill>
                    <a:schemeClr val="tx1">
                      <a:lumMod val="50000"/>
                    </a:schemeClr>
                  </a:solidFill>
                </a:rPr>
                <a:t>Select City</a:t>
              </a:r>
              <a:endParaRPr lang="en-US" sz="1600" dirty="0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69" name="Rounded Rectangle 68"/>
            <p:cNvSpPr/>
            <p:nvPr/>
          </p:nvSpPr>
          <p:spPr>
            <a:xfrm>
              <a:off x="1790700" y="4748213"/>
              <a:ext cx="419101" cy="280988"/>
            </a:xfrm>
            <a:prstGeom prst="roundRect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400" dirty="0">
                  <a:ln>
                    <a:solidFill>
                      <a:schemeClr val="accent1">
                        <a:shade val="50000"/>
                      </a:schemeClr>
                    </a:solidFill>
                  </a:ln>
                  <a:solidFill>
                    <a:schemeClr val="bg1"/>
                  </a:solidFill>
                </a:rPr>
                <a:t>GO</a:t>
              </a:r>
            </a:p>
          </p:txBody>
        </p:sp>
      </p:grpSp>
      <p:grpSp>
        <p:nvGrpSpPr>
          <p:cNvPr id="9" name="Group 89"/>
          <p:cNvGrpSpPr>
            <a:grpSpLocks/>
          </p:cNvGrpSpPr>
          <p:nvPr/>
        </p:nvGrpSpPr>
        <p:grpSpPr bwMode="auto">
          <a:xfrm>
            <a:off x="2895600" y="5257800"/>
            <a:ext cx="2895600" cy="1219200"/>
            <a:chOff x="5791200" y="5410200"/>
            <a:chExt cx="3200400" cy="1295400"/>
          </a:xfrm>
        </p:grpSpPr>
        <p:sp>
          <p:nvSpPr>
            <p:cNvPr id="81" name="Rectangle 80"/>
            <p:cNvSpPr/>
            <p:nvPr/>
          </p:nvSpPr>
          <p:spPr>
            <a:xfrm>
              <a:off x="5791200" y="5410200"/>
              <a:ext cx="3200400" cy="12954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pic>
          <p:nvPicPr>
            <p:cNvPr id="4171" name="Picture 82" descr="homepageimage_non_watermarked.gif"/>
            <p:cNvPicPr>
              <a:picLocks noChangeAspect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5867401" y="5486400"/>
              <a:ext cx="1752600" cy="11430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4172" name="TextBox 83"/>
            <p:cNvSpPr txBox="1">
              <a:spLocks noChangeArrowheads="1"/>
            </p:cNvSpPr>
            <p:nvPr/>
          </p:nvSpPr>
          <p:spPr bwMode="auto">
            <a:xfrm>
              <a:off x="7696200" y="5638800"/>
              <a:ext cx="1295400" cy="83099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600" u="sng" dirty="0">
                  <a:latin typeface="Calibri" pitchFamily="34" charset="0"/>
                </a:rPr>
                <a:t>Feedback &amp; </a:t>
              </a:r>
            </a:p>
            <a:p>
              <a:r>
                <a:rPr lang="en-US" sz="1600" u="sng" dirty="0">
                  <a:latin typeface="Calibri" pitchFamily="34" charset="0"/>
                </a:rPr>
                <a:t>Customer </a:t>
              </a:r>
              <a:br>
                <a:rPr lang="en-US" sz="1600" u="sng" dirty="0">
                  <a:latin typeface="Calibri" pitchFamily="34" charset="0"/>
                </a:rPr>
              </a:br>
              <a:r>
                <a:rPr lang="en-US" sz="1600" u="sng" dirty="0">
                  <a:latin typeface="Calibri" pitchFamily="34" charset="0"/>
                </a:rPr>
                <a:t>Care Centre</a:t>
              </a:r>
            </a:p>
          </p:txBody>
        </p:sp>
      </p:grpSp>
      <p:pic>
        <p:nvPicPr>
          <p:cNvPr id="4107" name="Picture 52" descr="ElectronicBanking.jp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867400" y="4572000"/>
            <a:ext cx="3116036" cy="1905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162" name="Picture 94" descr="side_postit.gif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7848600" y="4588564"/>
            <a:ext cx="1031338" cy="12423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166" name="TextBox 99"/>
          <p:cNvSpPr txBox="1">
            <a:spLocks noChangeArrowheads="1"/>
          </p:cNvSpPr>
          <p:nvPr/>
        </p:nvSpPr>
        <p:spPr bwMode="auto">
          <a:xfrm>
            <a:off x="6096000" y="4804886"/>
            <a:ext cx="838200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1200" dirty="0">
                <a:latin typeface="Calibri" pitchFamily="34" charset="0"/>
              </a:rPr>
              <a:t>Flash</a:t>
            </a:r>
          </a:p>
          <a:p>
            <a:r>
              <a:rPr lang="en-US" sz="1200" dirty="0">
                <a:latin typeface="Calibri" pitchFamily="34" charset="0"/>
              </a:rPr>
              <a:t>Video cum link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209800" y="6488668"/>
            <a:ext cx="1524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Wingdings" pitchFamily="2" charset="2"/>
              <a:buChar char="§"/>
            </a:pPr>
            <a:r>
              <a:rPr lang="en-US" sz="1200" dirty="0" smtClean="0">
                <a:solidFill>
                  <a:schemeClr val="bg2"/>
                </a:solidFill>
              </a:rPr>
              <a:t>Privacy Policy</a:t>
            </a:r>
            <a:endParaRPr lang="en-US" sz="1200" dirty="0">
              <a:solidFill>
                <a:schemeClr val="bg2"/>
              </a:solidFill>
            </a:endParaRPr>
          </a:p>
        </p:txBody>
      </p:sp>
      <p:sp>
        <p:nvSpPr>
          <p:cNvPr id="78" name="TextBox 77"/>
          <p:cNvSpPr txBox="1"/>
          <p:nvPr/>
        </p:nvSpPr>
        <p:spPr>
          <a:xfrm>
            <a:off x="3352800" y="6504801"/>
            <a:ext cx="1524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Wingdings" pitchFamily="2" charset="2"/>
              <a:buChar char="§"/>
            </a:pPr>
            <a:r>
              <a:rPr lang="en-US" sz="1200" dirty="0" smtClean="0">
                <a:solidFill>
                  <a:schemeClr val="bg2"/>
                </a:solidFill>
              </a:rPr>
              <a:t>Copyrights</a:t>
            </a:r>
            <a:endParaRPr lang="en-US" sz="1200" dirty="0">
              <a:solidFill>
                <a:schemeClr val="bg2"/>
              </a:solidFill>
            </a:endParaRPr>
          </a:p>
        </p:txBody>
      </p:sp>
      <p:sp>
        <p:nvSpPr>
          <p:cNvPr id="79" name="TextBox 78"/>
          <p:cNvSpPr txBox="1"/>
          <p:nvPr/>
        </p:nvSpPr>
        <p:spPr>
          <a:xfrm>
            <a:off x="5334000" y="6504801"/>
            <a:ext cx="1524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Wingdings" pitchFamily="2" charset="2"/>
              <a:buChar char="§"/>
            </a:pPr>
            <a:r>
              <a:rPr lang="en-US" sz="1200" dirty="0" smtClean="0">
                <a:solidFill>
                  <a:schemeClr val="bg2"/>
                </a:solidFill>
              </a:rPr>
              <a:t>Terms of Use</a:t>
            </a:r>
            <a:endParaRPr lang="en-US" sz="1200" dirty="0">
              <a:solidFill>
                <a:schemeClr val="bg2"/>
              </a:solidFill>
            </a:endParaRPr>
          </a:p>
        </p:txBody>
      </p:sp>
      <p:sp>
        <p:nvSpPr>
          <p:cNvPr id="82" name="TextBox 81"/>
          <p:cNvSpPr txBox="1"/>
          <p:nvPr/>
        </p:nvSpPr>
        <p:spPr>
          <a:xfrm>
            <a:off x="4343400" y="6504801"/>
            <a:ext cx="1524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Wingdings" pitchFamily="2" charset="2"/>
              <a:buChar char="§"/>
            </a:pPr>
            <a:r>
              <a:rPr lang="en-US" sz="1200" dirty="0" smtClean="0">
                <a:solidFill>
                  <a:schemeClr val="bg2"/>
                </a:solidFill>
              </a:rPr>
              <a:t>Disclaimers</a:t>
            </a:r>
            <a:endParaRPr lang="en-US" sz="1200" dirty="0">
              <a:solidFill>
                <a:schemeClr val="bg2"/>
              </a:solidFill>
            </a:endParaRPr>
          </a:p>
        </p:txBody>
      </p:sp>
      <p:sp>
        <p:nvSpPr>
          <p:cNvPr id="84" name="TextBox 83"/>
          <p:cNvSpPr txBox="1"/>
          <p:nvPr/>
        </p:nvSpPr>
        <p:spPr>
          <a:xfrm>
            <a:off x="5943600" y="2971800"/>
            <a:ext cx="1295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Account type</a:t>
            </a:r>
            <a:endParaRPr lang="en-US" sz="1200" dirty="0"/>
          </a:p>
        </p:txBody>
      </p:sp>
      <p:sp>
        <p:nvSpPr>
          <p:cNvPr id="85" name="Rectangle 84"/>
          <p:cNvSpPr/>
          <p:nvPr/>
        </p:nvSpPr>
        <p:spPr bwMode="auto">
          <a:xfrm>
            <a:off x="7010400" y="2971800"/>
            <a:ext cx="1447800" cy="2286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>
                <a:solidFill>
                  <a:schemeClr val="bg2"/>
                </a:solidFill>
              </a:rPr>
              <a:t>Corporate</a:t>
            </a:r>
            <a:endParaRPr lang="en-US" dirty="0">
              <a:solidFill>
                <a:schemeClr val="bg2"/>
              </a:solidFill>
            </a:endParaRPr>
          </a:p>
        </p:txBody>
      </p:sp>
      <p:sp>
        <p:nvSpPr>
          <p:cNvPr id="86" name="Rectangle 85"/>
          <p:cNvSpPr/>
          <p:nvPr/>
        </p:nvSpPr>
        <p:spPr>
          <a:xfrm>
            <a:off x="8458200" y="2971800"/>
            <a:ext cx="304800" cy="2286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 smtClean="0">
                <a:solidFill>
                  <a:schemeClr val="bg2"/>
                </a:solidFill>
              </a:rPr>
              <a:t>\/</a:t>
            </a:r>
            <a:endParaRPr lang="en-US" sz="1000" b="1" dirty="0">
              <a:solidFill>
                <a:schemeClr val="bg2"/>
              </a:solidFill>
            </a:endParaRPr>
          </a:p>
        </p:txBody>
      </p:sp>
      <p:sp>
        <p:nvSpPr>
          <p:cNvPr id="83" name="Rounded Rectangle 82"/>
          <p:cNvSpPr/>
          <p:nvPr/>
        </p:nvSpPr>
        <p:spPr>
          <a:xfrm>
            <a:off x="6096000" y="3276600"/>
            <a:ext cx="838200" cy="304800"/>
          </a:xfrm>
          <a:prstGeom prst="roundRect">
            <a:avLst/>
          </a:prstGeom>
          <a:solidFill>
            <a:schemeClr val="tx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bg2"/>
                </a:solidFill>
              </a:rPr>
              <a:t>Reset</a:t>
            </a:r>
            <a:endParaRPr lang="en-US" sz="1400" dirty="0">
              <a:solidFill>
                <a:schemeClr val="bg2"/>
              </a:solidFill>
            </a:endParaRPr>
          </a:p>
        </p:txBody>
      </p:sp>
      <p:sp>
        <p:nvSpPr>
          <p:cNvPr id="92" name="Rounded Rectangle 91"/>
          <p:cNvSpPr/>
          <p:nvPr/>
        </p:nvSpPr>
        <p:spPr>
          <a:xfrm>
            <a:off x="7086600" y="3276600"/>
            <a:ext cx="1752600" cy="304800"/>
          </a:xfrm>
          <a:prstGeom prst="roundRect">
            <a:avLst/>
          </a:prstGeom>
          <a:solidFill>
            <a:schemeClr val="tx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 smtClean="0">
                <a:solidFill>
                  <a:schemeClr val="bg2"/>
                </a:solidFill>
              </a:rPr>
              <a:t>Enable Virtual Keyboard</a:t>
            </a:r>
            <a:endParaRPr lang="en-US" sz="1100" dirty="0">
              <a:solidFill>
                <a:schemeClr val="bg2"/>
              </a:solidFill>
            </a:endParaRPr>
          </a:p>
        </p:txBody>
      </p:sp>
      <p:graphicFrame>
        <p:nvGraphicFramePr>
          <p:cNvPr id="94" name="Table 93"/>
          <p:cNvGraphicFramePr>
            <a:graphicFrameLocks noGrp="1"/>
          </p:cNvGraphicFramePr>
          <p:nvPr/>
        </p:nvGraphicFramePr>
        <p:xfrm>
          <a:off x="152400" y="1828800"/>
          <a:ext cx="1600200" cy="2270760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1600200"/>
              </a:tblGrid>
              <a:tr h="289560">
                <a:tc>
                  <a:txBody>
                    <a:bodyPr/>
                    <a:lstStyle/>
                    <a:p>
                      <a:r>
                        <a:rPr lang="en-US" dirty="0" smtClean="0"/>
                        <a:t>Services</a:t>
                      </a:r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243840">
                <a:tc>
                  <a:txBody>
                    <a:bodyPr/>
                    <a:lstStyle/>
                    <a:p>
                      <a:r>
                        <a:rPr lang="en-US" sz="1100" b="1" dirty="0" smtClean="0">
                          <a:solidFill>
                            <a:schemeClr val="bg2"/>
                          </a:solidFill>
                        </a:rPr>
                        <a:t>&gt;&gt;</a:t>
                      </a:r>
                      <a:r>
                        <a:rPr lang="en-US" sz="1100" b="1" u="sng" dirty="0" smtClean="0">
                          <a:solidFill>
                            <a:schemeClr val="bg2"/>
                          </a:solidFill>
                        </a:rPr>
                        <a:t>Corporate</a:t>
                      </a:r>
                      <a:r>
                        <a:rPr lang="en-US" sz="1100" b="1" u="sng" baseline="0" dirty="0" smtClean="0">
                          <a:solidFill>
                            <a:schemeClr val="bg2"/>
                          </a:solidFill>
                        </a:rPr>
                        <a:t> Banking</a:t>
                      </a:r>
                      <a:endParaRPr lang="en-US" sz="1100" b="1" u="sng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</a:tr>
              <a:tr h="215900">
                <a:tc>
                  <a:txBody>
                    <a:bodyPr/>
                    <a:lstStyle/>
                    <a:p>
                      <a:r>
                        <a:rPr lang="en-US" sz="1200" b="1" dirty="0" smtClean="0">
                          <a:solidFill>
                            <a:schemeClr val="bg2"/>
                          </a:solidFill>
                        </a:rPr>
                        <a:t>&gt;&gt;</a:t>
                      </a:r>
                      <a:r>
                        <a:rPr lang="en-US" sz="1200" b="1" u="sng" dirty="0" smtClean="0">
                          <a:solidFill>
                            <a:schemeClr val="bg2"/>
                          </a:solidFill>
                        </a:rPr>
                        <a:t>Verified</a:t>
                      </a:r>
                      <a:r>
                        <a:rPr lang="en-US" sz="1200" b="1" u="sng" baseline="0" dirty="0" smtClean="0">
                          <a:solidFill>
                            <a:schemeClr val="bg2"/>
                          </a:solidFill>
                        </a:rPr>
                        <a:t> by  Visa</a:t>
                      </a:r>
                      <a:endParaRPr lang="en-US" sz="1200" b="1" u="sng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</a:tr>
              <a:tr h="215900">
                <a:tc>
                  <a:txBody>
                    <a:bodyPr/>
                    <a:lstStyle/>
                    <a:p>
                      <a:r>
                        <a:rPr lang="en-US" sz="1200" b="1" dirty="0" smtClean="0">
                          <a:solidFill>
                            <a:schemeClr val="bg2"/>
                          </a:solidFill>
                        </a:rPr>
                        <a:t>&gt;&gt;</a:t>
                      </a:r>
                      <a:r>
                        <a:rPr lang="en-US" sz="1200" b="1" u="sng" dirty="0" smtClean="0">
                          <a:solidFill>
                            <a:schemeClr val="bg2"/>
                          </a:solidFill>
                        </a:rPr>
                        <a:t>Foreign</a:t>
                      </a:r>
                      <a:r>
                        <a:rPr lang="en-US" sz="1200" b="1" u="sng" baseline="0" dirty="0" smtClean="0">
                          <a:solidFill>
                            <a:schemeClr val="bg2"/>
                          </a:solidFill>
                        </a:rPr>
                        <a:t> Travel Card</a:t>
                      </a:r>
                      <a:endParaRPr lang="en-US" sz="1200" b="1" u="sng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</a:tr>
              <a:tr h="215900">
                <a:tc>
                  <a:txBody>
                    <a:bodyPr/>
                    <a:lstStyle/>
                    <a:p>
                      <a:r>
                        <a:rPr lang="en-US" sz="1200" b="1" dirty="0" smtClean="0">
                          <a:solidFill>
                            <a:schemeClr val="bg2"/>
                          </a:solidFill>
                        </a:rPr>
                        <a:t>&gt;&gt;</a:t>
                      </a:r>
                      <a:r>
                        <a:rPr lang="en-US" sz="1200" b="1" u="sng" dirty="0" smtClean="0">
                          <a:solidFill>
                            <a:schemeClr val="bg2"/>
                          </a:solidFill>
                        </a:rPr>
                        <a:t>Express</a:t>
                      </a:r>
                      <a:r>
                        <a:rPr lang="en-US" sz="1200" b="1" u="sng" baseline="0" dirty="0" smtClean="0">
                          <a:solidFill>
                            <a:schemeClr val="bg2"/>
                          </a:solidFill>
                        </a:rPr>
                        <a:t>  Remit</a:t>
                      </a:r>
                      <a:endParaRPr lang="en-US" sz="1200" b="1" u="sng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</a:tr>
              <a:tr h="215900">
                <a:tc>
                  <a:txBody>
                    <a:bodyPr/>
                    <a:lstStyle/>
                    <a:p>
                      <a:r>
                        <a:rPr lang="en-US" sz="1200" b="1" dirty="0" smtClean="0">
                          <a:solidFill>
                            <a:schemeClr val="bg2"/>
                          </a:solidFill>
                        </a:rPr>
                        <a:t>&gt;&gt;</a:t>
                      </a:r>
                      <a:r>
                        <a:rPr lang="en-US" sz="1200" b="1" u="sng" dirty="0" smtClean="0">
                          <a:solidFill>
                            <a:schemeClr val="bg2"/>
                          </a:solidFill>
                        </a:rPr>
                        <a:t>Online</a:t>
                      </a:r>
                      <a:r>
                        <a:rPr lang="en-US" sz="1200" b="1" u="sng" baseline="0" dirty="0" smtClean="0">
                          <a:solidFill>
                            <a:schemeClr val="bg2"/>
                          </a:solidFill>
                        </a:rPr>
                        <a:t> IBS Global</a:t>
                      </a:r>
                      <a:endParaRPr lang="en-US" sz="1200" b="1" u="sng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</a:tr>
              <a:tr h="215900">
                <a:tc>
                  <a:txBody>
                    <a:bodyPr/>
                    <a:lstStyle/>
                    <a:p>
                      <a:r>
                        <a:rPr lang="en-US" sz="1200" b="1" u="none" dirty="0" smtClean="0">
                          <a:solidFill>
                            <a:schemeClr val="bg2"/>
                          </a:solidFill>
                        </a:rPr>
                        <a:t>&gt;&gt;</a:t>
                      </a:r>
                      <a:r>
                        <a:rPr lang="en-US" sz="1200" b="1" u="sng" baseline="0" dirty="0" smtClean="0">
                          <a:solidFill>
                            <a:schemeClr val="bg2"/>
                          </a:solidFill>
                        </a:rPr>
                        <a:t> Bill Payment</a:t>
                      </a:r>
                      <a:endParaRPr lang="en-US" sz="1200" b="1" u="sng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</a:tr>
              <a:tr h="215900">
                <a:tc>
                  <a:txBody>
                    <a:bodyPr/>
                    <a:lstStyle/>
                    <a:p>
                      <a:r>
                        <a:rPr lang="en-US" sz="1200" b="1" u="none" dirty="0" smtClean="0">
                          <a:solidFill>
                            <a:schemeClr val="bg2"/>
                          </a:solidFill>
                        </a:rPr>
                        <a:t>&gt;&gt; </a:t>
                      </a:r>
                      <a:r>
                        <a:rPr lang="en-US" sz="1200" b="1" u="sng" dirty="0" smtClean="0">
                          <a:solidFill>
                            <a:schemeClr val="bg2"/>
                          </a:solidFill>
                        </a:rPr>
                        <a:t>Online Shopping</a:t>
                      </a:r>
                      <a:endParaRPr lang="en-US" sz="1200" b="1" u="sng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103" name="Rectangle 102"/>
          <p:cNvSpPr/>
          <p:nvPr/>
        </p:nvSpPr>
        <p:spPr>
          <a:xfrm>
            <a:off x="1524000" y="6172200"/>
            <a:ext cx="304800" cy="2286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 smtClean="0">
                <a:solidFill>
                  <a:schemeClr val="bg2"/>
                </a:solidFill>
              </a:rPr>
              <a:t>\/</a:t>
            </a:r>
            <a:endParaRPr lang="en-US" sz="1000" b="1" dirty="0">
              <a:solidFill>
                <a:schemeClr val="bg2"/>
              </a:solidFill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1905000" y="1752600"/>
            <a:ext cx="3886200" cy="2133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10" name="TextBox 109"/>
          <p:cNvSpPr txBox="1"/>
          <p:nvPr/>
        </p:nvSpPr>
        <p:spPr>
          <a:xfrm>
            <a:off x="0" y="0"/>
            <a:ext cx="9144000" cy="830997"/>
          </a:xfrm>
          <a:prstGeom prst="rect">
            <a:avLst/>
          </a:prstGeom>
          <a:scene3d>
            <a:camera prst="orthographicFront">
              <a:rot lat="0" lon="0" rev="0"/>
            </a:camera>
            <a:lightRig rig="brightRoom" dir="t"/>
          </a:scene3d>
          <a:sp3d>
            <a:bevelT w="63500" h="254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2400" b="1" dirty="0">
              <a:latin typeface="+mj-lt"/>
              <a:cs typeface="Tahoma" pitchFamily="34" charset="0"/>
            </a:endParaRP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2400" b="1" dirty="0">
              <a:latin typeface="+mj-lt"/>
              <a:cs typeface="Tahoma" pitchFamily="34" charset="0"/>
            </a:endParaRPr>
          </a:p>
        </p:txBody>
      </p:sp>
      <p:pic>
        <p:nvPicPr>
          <p:cNvPr id="112" name="Picture 7" descr="world.png"/>
          <p:cNvPicPr>
            <a:picLocks noChangeAspect="1"/>
          </p:cNvPicPr>
          <p:nvPr/>
        </p:nvPicPr>
        <p:blipFill>
          <a:blip r:embed="rId6">
            <a:lum bright="-60000" contrast="-100000"/>
          </a:blip>
          <a:srcRect/>
          <a:stretch>
            <a:fillRect/>
          </a:stretch>
        </p:blipFill>
        <p:spPr bwMode="auto">
          <a:xfrm>
            <a:off x="3352800" y="0"/>
            <a:ext cx="1609725" cy="809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3" name="TextBox 53"/>
          <p:cNvSpPr txBox="1">
            <a:spLocks noChangeArrowheads="1"/>
          </p:cNvSpPr>
          <p:nvPr/>
        </p:nvSpPr>
        <p:spPr bwMode="auto">
          <a:xfrm>
            <a:off x="2743200" y="152400"/>
            <a:ext cx="3124200" cy="430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2200" b="1" dirty="0">
                <a:latin typeface="Calibri" pitchFamily="34" charset="0"/>
              </a:rPr>
              <a:t>Internet Banking System</a:t>
            </a:r>
          </a:p>
        </p:txBody>
      </p:sp>
      <p:grpSp>
        <p:nvGrpSpPr>
          <p:cNvPr id="11" name="Group 77"/>
          <p:cNvGrpSpPr/>
          <p:nvPr/>
        </p:nvGrpSpPr>
        <p:grpSpPr>
          <a:xfrm>
            <a:off x="7162800" y="457200"/>
            <a:ext cx="1828800" cy="228600"/>
            <a:chOff x="7162800" y="533400"/>
            <a:chExt cx="1828800" cy="228600"/>
          </a:xfrm>
        </p:grpSpPr>
        <p:sp>
          <p:nvSpPr>
            <p:cNvPr id="12" name="Rectangle 11"/>
            <p:cNvSpPr/>
            <p:nvPr/>
          </p:nvSpPr>
          <p:spPr>
            <a:xfrm>
              <a:off x="7162800" y="533400"/>
              <a:ext cx="1295400" cy="228600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400" dirty="0">
                  <a:solidFill>
                    <a:schemeClr val="bg1"/>
                  </a:solidFill>
                </a:rPr>
                <a:t>Search</a:t>
              </a:r>
              <a:r>
                <a:rPr lang="en-US" dirty="0"/>
                <a:t> </a:t>
              </a:r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8534400" y="533400"/>
              <a:ext cx="457200" cy="228600"/>
            </a:xfrm>
            <a:prstGeom prst="roundRect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400" dirty="0">
                  <a:ln>
                    <a:solidFill>
                      <a:schemeClr val="accent1">
                        <a:shade val="50000"/>
                      </a:schemeClr>
                    </a:solidFill>
                  </a:ln>
                  <a:solidFill>
                    <a:schemeClr val="bg1"/>
                  </a:solidFill>
                </a:rPr>
                <a:t>GO</a:t>
              </a:r>
            </a:p>
          </p:txBody>
        </p:sp>
      </p:grpSp>
      <p:sp>
        <p:nvSpPr>
          <p:cNvPr id="116" name="Rectangle 115"/>
          <p:cNvSpPr/>
          <p:nvPr/>
        </p:nvSpPr>
        <p:spPr>
          <a:xfrm>
            <a:off x="0" y="838200"/>
            <a:ext cx="9144000" cy="228600"/>
          </a:xfrm>
          <a:prstGeom prst="rect">
            <a:avLst/>
          </a:prstGeom>
          <a:solidFill>
            <a:schemeClr val="tx1">
              <a:lumMod val="85000"/>
            </a:schemeClr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00" dirty="0">
                <a:solidFill>
                  <a:schemeClr val="bg2"/>
                </a:solidFill>
              </a:rPr>
              <a:t>Home	</a:t>
            </a:r>
            <a:r>
              <a:rPr lang="en-US" sz="1400" dirty="0" smtClean="0">
                <a:solidFill>
                  <a:schemeClr val="bg2"/>
                </a:solidFill>
              </a:rPr>
              <a:t>Product and Services              </a:t>
            </a:r>
            <a:r>
              <a:rPr lang="en-US" sz="1400" dirty="0" smtClean="0">
                <a:solidFill>
                  <a:schemeClr val="bg2"/>
                </a:solidFill>
              </a:rPr>
              <a:t>Downloads                    Contact Us               Help</a:t>
            </a:r>
            <a:endParaRPr lang="en-US" sz="1400" dirty="0">
              <a:solidFill>
                <a:schemeClr val="bg2"/>
              </a:solidFill>
            </a:endParaRPr>
          </a:p>
        </p:txBody>
      </p:sp>
      <p:sp>
        <p:nvSpPr>
          <p:cNvPr id="117" name="TextBox 116"/>
          <p:cNvSpPr txBox="1"/>
          <p:nvPr/>
        </p:nvSpPr>
        <p:spPr>
          <a:xfrm>
            <a:off x="6096000" y="4114800"/>
            <a:ext cx="1981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u="sng" dirty="0" smtClean="0"/>
              <a:t>Trouble logging in ?</a:t>
            </a:r>
            <a:endParaRPr lang="en-US" sz="1400" u="sng" dirty="0"/>
          </a:p>
        </p:txBody>
      </p:sp>
      <p:graphicFrame>
        <p:nvGraphicFramePr>
          <p:cNvPr id="118" name="Table 117"/>
          <p:cNvGraphicFramePr>
            <a:graphicFrameLocks noGrp="1"/>
          </p:cNvGraphicFramePr>
          <p:nvPr/>
        </p:nvGraphicFramePr>
        <p:xfrm>
          <a:off x="1905000" y="3921760"/>
          <a:ext cx="1828800" cy="124038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828800"/>
              </a:tblGrid>
              <a:tr h="417420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Inter Bank</a:t>
                      </a:r>
                      <a:r>
                        <a:rPr lang="en-US" sz="1600" baseline="0" dirty="0" smtClean="0"/>
                        <a:t> Transfer</a:t>
                      </a:r>
                      <a:endParaRPr lang="en-US" sz="1600" dirty="0"/>
                    </a:p>
                  </a:txBody>
                  <a:tcPr/>
                </a:tc>
              </a:tr>
              <a:tr h="690020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Transfer upto Rs 50,000/-</a:t>
                      </a:r>
                      <a:r>
                        <a:rPr lang="en-US" sz="1600" baseline="0" dirty="0" smtClean="0"/>
                        <a:t> No charges</a:t>
                      </a:r>
                      <a:endParaRPr lang="en-US" sz="1600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25" name="Table 124"/>
          <p:cNvGraphicFramePr>
            <a:graphicFrameLocks noGrp="1"/>
          </p:cNvGraphicFramePr>
          <p:nvPr/>
        </p:nvGraphicFramePr>
        <p:xfrm>
          <a:off x="3810000" y="3962400"/>
          <a:ext cx="1981200" cy="12331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1200"/>
              </a:tblGrid>
              <a:tr h="351785">
                <a:tc>
                  <a:txBody>
                    <a:bodyPr/>
                    <a:lstStyle/>
                    <a:p>
                      <a:r>
                        <a:rPr lang="en-US" dirty="0" smtClean="0"/>
                        <a:t>Virtual Keyboard</a:t>
                      </a:r>
                      <a:endParaRPr lang="en-US" dirty="0"/>
                    </a:p>
                  </a:txBody>
                  <a:tcPr/>
                </a:tc>
              </a:tr>
              <a:tr h="867415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Safe and Secure Banking-</a:t>
                      </a:r>
                      <a:r>
                        <a:rPr lang="en-US" sz="1600" baseline="0" dirty="0" smtClean="0"/>
                        <a:t> one step ahead</a:t>
                      </a:r>
                      <a:endParaRPr lang="en-US" sz="1600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7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0" fill="hold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0" fill="hold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Rectangle 97"/>
          <p:cNvSpPr/>
          <p:nvPr/>
        </p:nvSpPr>
        <p:spPr>
          <a:xfrm>
            <a:off x="0" y="1752600"/>
            <a:ext cx="9144000" cy="51054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Rectangle 55"/>
          <p:cNvSpPr/>
          <p:nvPr/>
        </p:nvSpPr>
        <p:spPr>
          <a:xfrm>
            <a:off x="91440" y="1828800"/>
            <a:ext cx="1737360" cy="4800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graphicFrame>
        <p:nvGraphicFramePr>
          <p:cNvPr id="72" name="Table 71"/>
          <p:cNvGraphicFramePr>
            <a:graphicFrameLocks noGrp="1"/>
          </p:cNvGraphicFramePr>
          <p:nvPr/>
        </p:nvGraphicFramePr>
        <p:xfrm>
          <a:off x="152400" y="1905000"/>
          <a:ext cx="1600200" cy="2270760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1600200"/>
              </a:tblGrid>
              <a:tr h="21590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243840">
                <a:tc>
                  <a:txBody>
                    <a:bodyPr/>
                    <a:lstStyle/>
                    <a:p>
                      <a:r>
                        <a:rPr lang="en-US" sz="1100" b="1" dirty="0" smtClean="0">
                          <a:solidFill>
                            <a:schemeClr val="bg2"/>
                          </a:solidFill>
                        </a:rPr>
                        <a:t>&gt;&gt;</a:t>
                      </a:r>
                      <a:r>
                        <a:rPr lang="en-US" sz="1100" b="1" u="sng" dirty="0" smtClean="0">
                          <a:solidFill>
                            <a:schemeClr val="bg2"/>
                          </a:solidFill>
                        </a:rPr>
                        <a:t>M</a:t>
                      </a:r>
                      <a:r>
                        <a:rPr lang="en-US" sz="1100" b="1" u="sng" baseline="0" dirty="0" smtClean="0">
                          <a:solidFill>
                            <a:schemeClr val="bg2"/>
                          </a:solidFill>
                        </a:rPr>
                        <a:t>y Accounts</a:t>
                      </a:r>
                      <a:endParaRPr lang="en-US" sz="1100" b="1" u="sng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</a:tr>
              <a:tr h="215900">
                <a:tc>
                  <a:txBody>
                    <a:bodyPr/>
                    <a:lstStyle/>
                    <a:p>
                      <a:r>
                        <a:rPr lang="en-US" sz="1200" b="1" dirty="0" smtClean="0">
                          <a:solidFill>
                            <a:schemeClr val="bg2"/>
                          </a:solidFill>
                        </a:rPr>
                        <a:t>&gt;&gt;</a:t>
                      </a:r>
                      <a:r>
                        <a:rPr lang="en-US" sz="1200" b="1" u="sng" dirty="0" smtClean="0">
                          <a:solidFill>
                            <a:schemeClr val="bg2"/>
                          </a:solidFill>
                        </a:rPr>
                        <a:t>Profile</a:t>
                      </a:r>
                      <a:endParaRPr lang="en-US" sz="1200" b="1" u="sng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</a:tr>
              <a:tr h="215900">
                <a:tc>
                  <a:txBody>
                    <a:bodyPr/>
                    <a:lstStyle/>
                    <a:p>
                      <a:r>
                        <a:rPr lang="en-US" sz="1200" b="1" dirty="0" smtClean="0">
                          <a:solidFill>
                            <a:schemeClr val="bg2"/>
                          </a:solidFill>
                        </a:rPr>
                        <a:t>&gt;&gt;</a:t>
                      </a:r>
                      <a:r>
                        <a:rPr lang="en-US" sz="1200" b="1" u="sng" dirty="0" smtClean="0">
                          <a:solidFill>
                            <a:schemeClr val="bg2"/>
                          </a:solidFill>
                        </a:rPr>
                        <a:t>Settings</a:t>
                      </a:r>
                      <a:endParaRPr lang="en-US" sz="1200" b="1" u="sng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</a:tr>
              <a:tr h="215900">
                <a:tc>
                  <a:txBody>
                    <a:bodyPr/>
                    <a:lstStyle/>
                    <a:p>
                      <a:r>
                        <a:rPr lang="en-US" sz="1200" b="1" dirty="0" smtClean="0">
                          <a:solidFill>
                            <a:schemeClr val="bg2"/>
                          </a:solidFill>
                        </a:rPr>
                        <a:t>&gt;&gt;</a:t>
                      </a:r>
                      <a:r>
                        <a:rPr lang="en-US" sz="1200" b="1" u="sng" dirty="0" smtClean="0">
                          <a:solidFill>
                            <a:schemeClr val="bg2"/>
                          </a:solidFill>
                        </a:rPr>
                        <a:t>Change Password</a:t>
                      </a:r>
                      <a:endParaRPr lang="en-US" sz="1200" b="1" u="sng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</a:tr>
              <a:tr h="215900">
                <a:tc>
                  <a:txBody>
                    <a:bodyPr/>
                    <a:lstStyle/>
                    <a:p>
                      <a:r>
                        <a:rPr lang="en-US" sz="1200" b="1" dirty="0" smtClean="0">
                          <a:solidFill>
                            <a:schemeClr val="bg2"/>
                          </a:solidFill>
                        </a:rPr>
                        <a:t>&gt;&gt;</a:t>
                      </a:r>
                      <a:r>
                        <a:rPr lang="en-US" sz="1200" b="1" u="sng" dirty="0" smtClean="0">
                          <a:solidFill>
                            <a:schemeClr val="bg2"/>
                          </a:solidFill>
                        </a:rPr>
                        <a:t>Favorites</a:t>
                      </a:r>
                      <a:endParaRPr lang="en-US" sz="1200" b="1" u="sng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</a:tr>
              <a:tr h="215900">
                <a:tc>
                  <a:txBody>
                    <a:bodyPr/>
                    <a:lstStyle/>
                    <a:p>
                      <a:r>
                        <a:rPr lang="en-US" sz="1200" b="1" u="none" dirty="0" smtClean="0">
                          <a:solidFill>
                            <a:schemeClr val="bg2"/>
                          </a:solidFill>
                        </a:rPr>
                        <a:t>&gt;&gt;</a:t>
                      </a:r>
                      <a:r>
                        <a:rPr lang="en-US" sz="1200" b="1" u="sng" dirty="0" smtClean="0">
                          <a:solidFill>
                            <a:schemeClr val="bg2"/>
                          </a:solidFill>
                        </a:rPr>
                        <a:t> New Account</a:t>
                      </a:r>
                      <a:endParaRPr lang="en-US" sz="1200" b="1" u="sng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</a:tr>
              <a:tr h="215900">
                <a:tc>
                  <a:txBody>
                    <a:bodyPr/>
                    <a:lstStyle/>
                    <a:p>
                      <a:r>
                        <a:rPr lang="en-US" sz="1200" b="1" u="none" dirty="0" smtClean="0">
                          <a:solidFill>
                            <a:schemeClr val="bg2"/>
                          </a:solidFill>
                        </a:rPr>
                        <a:t>&gt;&gt; </a:t>
                      </a:r>
                      <a:r>
                        <a:rPr lang="en-US" sz="1200" b="1" u="sng" dirty="0" smtClean="0">
                          <a:solidFill>
                            <a:schemeClr val="bg2"/>
                          </a:solidFill>
                        </a:rPr>
                        <a:t>Loan</a:t>
                      </a:r>
                      <a:r>
                        <a:rPr lang="en-US" sz="1200" b="1" u="sng" baseline="0" dirty="0" smtClean="0">
                          <a:solidFill>
                            <a:schemeClr val="bg2"/>
                          </a:solidFill>
                        </a:rPr>
                        <a:t> Account</a:t>
                      </a:r>
                      <a:endParaRPr lang="en-US" sz="1200" b="1" u="sng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87" name="Round Single Corner Rectangle 86"/>
          <p:cNvSpPr/>
          <p:nvPr/>
        </p:nvSpPr>
        <p:spPr>
          <a:xfrm>
            <a:off x="228600" y="1447800"/>
            <a:ext cx="1524000" cy="304800"/>
          </a:xfrm>
          <a:prstGeom prst="round1Rect">
            <a:avLst>
              <a:gd name="adj" fmla="val 50000"/>
            </a:avLst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My Profile</a:t>
            </a:r>
            <a:endParaRPr lang="en-US" dirty="0"/>
          </a:p>
        </p:txBody>
      </p:sp>
      <p:sp>
        <p:nvSpPr>
          <p:cNvPr id="88" name="Round Single Corner Rectangle 87"/>
          <p:cNvSpPr/>
          <p:nvPr/>
        </p:nvSpPr>
        <p:spPr>
          <a:xfrm>
            <a:off x="3124200" y="1447800"/>
            <a:ext cx="1524001" cy="228599"/>
          </a:xfrm>
          <a:prstGeom prst="round1Rect">
            <a:avLst>
              <a:gd name="adj" fmla="val 50000"/>
            </a:avLst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Remittance</a:t>
            </a:r>
            <a:endParaRPr lang="en-US" dirty="0"/>
          </a:p>
        </p:txBody>
      </p:sp>
      <p:sp>
        <p:nvSpPr>
          <p:cNvPr id="90" name="Round Single Corner Rectangle 89"/>
          <p:cNvSpPr/>
          <p:nvPr/>
        </p:nvSpPr>
        <p:spPr>
          <a:xfrm>
            <a:off x="1752600" y="1447800"/>
            <a:ext cx="1347335" cy="228600"/>
          </a:xfrm>
          <a:prstGeom prst="round1Rect">
            <a:avLst>
              <a:gd name="adj" fmla="val 50000"/>
            </a:avLst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Bills</a:t>
            </a:r>
            <a:endParaRPr lang="en-US" dirty="0"/>
          </a:p>
        </p:txBody>
      </p:sp>
      <p:sp>
        <p:nvSpPr>
          <p:cNvPr id="91" name="Round Single Corner Rectangle 90"/>
          <p:cNvSpPr/>
          <p:nvPr/>
        </p:nvSpPr>
        <p:spPr>
          <a:xfrm>
            <a:off x="4648200" y="1447800"/>
            <a:ext cx="1524000" cy="228600"/>
          </a:xfrm>
          <a:prstGeom prst="round1Rect">
            <a:avLst>
              <a:gd name="adj" fmla="val 50000"/>
            </a:avLst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Draft/Cheque</a:t>
            </a:r>
            <a:endParaRPr lang="en-US" dirty="0"/>
          </a:p>
        </p:txBody>
      </p:sp>
      <p:cxnSp>
        <p:nvCxnSpPr>
          <p:cNvPr id="93" name="Straight Connector 92"/>
          <p:cNvCxnSpPr/>
          <p:nvPr/>
        </p:nvCxnSpPr>
        <p:spPr>
          <a:xfrm>
            <a:off x="1676400" y="1752600"/>
            <a:ext cx="7467600" cy="1588"/>
          </a:xfrm>
          <a:prstGeom prst="line">
            <a:avLst/>
          </a:prstGeom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97" name="Straight Connector 96"/>
          <p:cNvCxnSpPr/>
          <p:nvPr/>
        </p:nvCxnSpPr>
        <p:spPr>
          <a:xfrm rot="10800000">
            <a:off x="0" y="1752600"/>
            <a:ext cx="228600" cy="1588"/>
          </a:xfrm>
          <a:prstGeom prst="line">
            <a:avLst/>
          </a:prstGeom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99" name="Round Single Corner Rectangle 98"/>
          <p:cNvSpPr/>
          <p:nvPr/>
        </p:nvSpPr>
        <p:spPr>
          <a:xfrm>
            <a:off x="6172200" y="1447800"/>
            <a:ext cx="1371600" cy="228600"/>
          </a:xfrm>
          <a:prstGeom prst="round1Rect">
            <a:avLst>
              <a:gd name="adj" fmla="val 50000"/>
            </a:avLst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Utilties</a:t>
            </a:r>
            <a:endParaRPr lang="en-US" dirty="0"/>
          </a:p>
        </p:txBody>
      </p:sp>
      <p:sp>
        <p:nvSpPr>
          <p:cNvPr id="101" name="Round Single Corner Rectangle 100"/>
          <p:cNvSpPr/>
          <p:nvPr/>
        </p:nvSpPr>
        <p:spPr>
          <a:xfrm>
            <a:off x="7543800" y="1447800"/>
            <a:ext cx="1280160" cy="228600"/>
          </a:xfrm>
          <a:prstGeom prst="round1Rect">
            <a:avLst>
              <a:gd name="adj" fmla="val 50000"/>
            </a:avLst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Enquiry</a:t>
            </a:r>
            <a:endParaRPr lang="en-US" dirty="0"/>
          </a:p>
        </p:txBody>
      </p:sp>
      <p:sp>
        <p:nvSpPr>
          <p:cNvPr id="74" name="TextBox 73"/>
          <p:cNvSpPr txBox="1"/>
          <p:nvPr/>
        </p:nvSpPr>
        <p:spPr>
          <a:xfrm>
            <a:off x="2209800" y="6564868"/>
            <a:ext cx="1524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Wingdings" pitchFamily="2" charset="2"/>
              <a:buChar char="§"/>
            </a:pPr>
            <a:r>
              <a:rPr lang="en-US" sz="1200" dirty="0" smtClean="0">
                <a:solidFill>
                  <a:schemeClr val="bg2"/>
                </a:solidFill>
              </a:rPr>
              <a:t>Privacy Policy</a:t>
            </a:r>
            <a:endParaRPr lang="en-US" sz="1200" dirty="0">
              <a:solidFill>
                <a:schemeClr val="bg2"/>
              </a:solidFill>
            </a:endParaRPr>
          </a:p>
        </p:txBody>
      </p:sp>
      <p:sp>
        <p:nvSpPr>
          <p:cNvPr id="78" name="TextBox 77"/>
          <p:cNvSpPr txBox="1"/>
          <p:nvPr/>
        </p:nvSpPr>
        <p:spPr>
          <a:xfrm>
            <a:off x="3352800" y="6581001"/>
            <a:ext cx="1524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Wingdings" pitchFamily="2" charset="2"/>
              <a:buChar char="§"/>
            </a:pPr>
            <a:r>
              <a:rPr lang="en-US" sz="1200" dirty="0" smtClean="0">
                <a:solidFill>
                  <a:schemeClr val="bg2"/>
                </a:solidFill>
              </a:rPr>
              <a:t>Copyrights</a:t>
            </a:r>
            <a:endParaRPr lang="en-US" sz="1200" dirty="0">
              <a:solidFill>
                <a:schemeClr val="bg2"/>
              </a:solidFill>
            </a:endParaRPr>
          </a:p>
        </p:txBody>
      </p:sp>
      <p:sp>
        <p:nvSpPr>
          <p:cNvPr id="79" name="TextBox 78"/>
          <p:cNvSpPr txBox="1"/>
          <p:nvPr/>
        </p:nvSpPr>
        <p:spPr>
          <a:xfrm>
            <a:off x="5334000" y="6581001"/>
            <a:ext cx="1524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Wingdings" pitchFamily="2" charset="2"/>
              <a:buChar char="§"/>
            </a:pPr>
            <a:r>
              <a:rPr lang="en-US" sz="1200" dirty="0" smtClean="0">
                <a:solidFill>
                  <a:schemeClr val="bg2"/>
                </a:solidFill>
              </a:rPr>
              <a:t>Terms of Use</a:t>
            </a:r>
            <a:endParaRPr lang="en-US" sz="1200" dirty="0">
              <a:solidFill>
                <a:schemeClr val="bg2"/>
              </a:solidFill>
            </a:endParaRPr>
          </a:p>
        </p:txBody>
      </p:sp>
      <p:sp>
        <p:nvSpPr>
          <p:cNvPr id="82" name="TextBox 81"/>
          <p:cNvSpPr txBox="1"/>
          <p:nvPr/>
        </p:nvSpPr>
        <p:spPr>
          <a:xfrm>
            <a:off x="4343400" y="6581001"/>
            <a:ext cx="1524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Wingdings" pitchFamily="2" charset="2"/>
              <a:buChar char="§"/>
            </a:pPr>
            <a:r>
              <a:rPr lang="en-US" sz="1200" dirty="0" smtClean="0">
                <a:solidFill>
                  <a:schemeClr val="bg2"/>
                </a:solidFill>
              </a:rPr>
              <a:t>Disclaimers</a:t>
            </a:r>
            <a:endParaRPr lang="en-US" sz="1200" dirty="0">
              <a:solidFill>
                <a:schemeClr val="bg2"/>
              </a:solidFill>
            </a:endParaRPr>
          </a:p>
        </p:txBody>
      </p:sp>
      <p:grpSp>
        <p:nvGrpSpPr>
          <p:cNvPr id="14" name="Group 39"/>
          <p:cNvGrpSpPr>
            <a:grpSpLocks/>
          </p:cNvGrpSpPr>
          <p:nvPr/>
        </p:nvGrpSpPr>
        <p:grpSpPr bwMode="auto">
          <a:xfrm>
            <a:off x="152400" y="1828800"/>
            <a:ext cx="1676400" cy="381000"/>
            <a:chOff x="6858000" y="6324600"/>
            <a:chExt cx="2133600" cy="381000"/>
          </a:xfrm>
        </p:grpSpPr>
        <p:sp>
          <p:nvSpPr>
            <p:cNvPr id="96" name="Rectangle 95"/>
            <p:cNvSpPr/>
            <p:nvPr/>
          </p:nvSpPr>
          <p:spPr>
            <a:xfrm>
              <a:off x="6858000" y="6324600"/>
              <a:ext cx="2133600" cy="381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00" name="Rectangle 99"/>
            <p:cNvSpPr/>
            <p:nvPr/>
          </p:nvSpPr>
          <p:spPr>
            <a:xfrm>
              <a:off x="6934200" y="6400800"/>
              <a:ext cx="1524000" cy="228600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sz="1200" dirty="0" smtClean="0"/>
                <a:t>Go to </a:t>
              </a:r>
              <a:r>
                <a:rPr lang="en-US" sz="1200" dirty="0" smtClean="0">
                  <a:sym typeface="Wingdings" pitchFamily="2" charset="2"/>
                </a:rPr>
                <a:t></a:t>
              </a:r>
              <a:endParaRPr lang="en-US" sz="1200" dirty="0"/>
            </a:p>
          </p:txBody>
        </p:sp>
        <p:sp>
          <p:nvSpPr>
            <p:cNvPr id="102" name="Rounded Rectangle 101"/>
            <p:cNvSpPr/>
            <p:nvPr/>
          </p:nvSpPr>
          <p:spPr>
            <a:xfrm>
              <a:off x="8409709" y="6400800"/>
              <a:ext cx="484909" cy="228600"/>
            </a:xfrm>
            <a:prstGeom prst="roundRect">
              <a:avLst/>
            </a:prstGeom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sz="1050" dirty="0"/>
                <a:t>GO</a:t>
              </a:r>
            </a:p>
          </p:txBody>
        </p:sp>
      </p:grpSp>
      <p:graphicFrame>
        <p:nvGraphicFramePr>
          <p:cNvPr id="112" name="Table 111"/>
          <p:cNvGraphicFramePr>
            <a:graphicFrameLocks noGrp="1"/>
          </p:cNvGraphicFramePr>
          <p:nvPr/>
        </p:nvGraphicFramePr>
        <p:xfrm>
          <a:off x="1905000" y="3733800"/>
          <a:ext cx="51816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816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Savings Account</a:t>
                      </a:r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3" name="Table 112"/>
          <p:cNvGraphicFramePr>
            <a:graphicFrameLocks noGrp="1"/>
          </p:cNvGraphicFramePr>
          <p:nvPr/>
        </p:nvGraphicFramePr>
        <p:xfrm>
          <a:off x="1905000" y="3352800"/>
          <a:ext cx="5181600" cy="38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81600"/>
              </a:tblGrid>
              <a:tr h="381000">
                <a:tc>
                  <a:txBody>
                    <a:bodyPr/>
                    <a:lstStyle/>
                    <a:p>
                      <a:r>
                        <a:rPr lang="en-US" dirty="0" smtClean="0"/>
                        <a:t>Current Account</a:t>
                      </a:r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6" name="Table 115"/>
          <p:cNvGraphicFramePr>
            <a:graphicFrameLocks noGrp="1"/>
          </p:cNvGraphicFramePr>
          <p:nvPr/>
        </p:nvGraphicFramePr>
        <p:xfrm>
          <a:off x="1905000" y="4114800"/>
          <a:ext cx="5181600" cy="889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38200"/>
                <a:gridCol w="889000"/>
                <a:gridCol w="711200"/>
                <a:gridCol w="800100"/>
                <a:gridCol w="809625"/>
                <a:gridCol w="1133475"/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A/c </a:t>
                      </a:r>
                      <a:r>
                        <a:rPr lang="en-US" sz="1400" baseline="0" dirty="0" smtClean="0"/>
                        <a:t> #</a:t>
                      </a:r>
                      <a:endParaRPr lang="en-US" sz="1400" dirty="0"/>
                    </a:p>
                  </a:txBody>
                  <a:tcPr>
                    <a:solidFill>
                      <a:schemeClr val="tx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Branch</a:t>
                      </a:r>
                      <a:endParaRPr lang="en-US" sz="1400" dirty="0"/>
                    </a:p>
                  </a:txBody>
                  <a:tcPr>
                    <a:solidFill>
                      <a:schemeClr val="tx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Name</a:t>
                      </a:r>
                      <a:endParaRPr lang="en-US" sz="1400" dirty="0"/>
                    </a:p>
                  </a:txBody>
                  <a:tcPr>
                    <a:solidFill>
                      <a:schemeClr val="tx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Balance</a:t>
                      </a:r>
                      <a:br>
                        <a:rPr lang="en-US" sz="1400" dirty="0" smtClean="0"/>
                      </a:br>
                      <a:r>
                        <a:rPr lang="en-US" sz="1400" dirty="0" smtClean="0"/>
                        <a:t>( INR)</a:t>
                      </a:r>
                      <a:endParaRPr lang="en-US" sz="1400" dirty="0"/>
                    </a:p>
                  </a:txBody>
                  <a:tcPr>
                    <a:solidFill>
                      <a:schemeClr val="tx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Details</a:t>
                      </a:r>
                      <a:endParaRPr lang="en-US" sz="1400" dirty="0"/>
                    </a:p>
                  </a:txBody>
                  <a:tcPr>
                    <a:solidFill>
                      <a:schemeClr val="tx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Mini</a:t>
                      </a:r>
                      <a:br>
                        <a:rPr lang="en-US" sz="1400" dirty="0" smtClean="0"/>
                      </a:br>
                      <a:r>
                        <a:rPr lang="en-US" sz="1400" dirty="0" smtClean="0"/>
                        <a:t>Statament</a:t>
                      </a:r>
                      <a:endParaRPr lang="en-US" sz="1400" dirty="0"/>
                    </a:p>
                  </a:txBody>
                  <a:tcPr>
                    <a:solidFill>
                      <a:schemeClr val="tx1">
                        <a:lumMod val="65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358989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BHU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Karan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5000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u="sng" dirty="0" smtClean="0">
                          <a:solidFill>
                            <a:srgbClr val="0070C0"/>
                          </a:solidFill>
                        </a:rPr>
                        <a:t>view</a:t>
                      </a:r>
                      <a:endParaRPr lang="en-US" sz="1400" u="sng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u="sng" dirty="0" smtClean="0">
                          <a:solidFill>
                            <a:srgbClr val="0070C0"/>
                          </a:solidFill>
                        </a:rPr>
                        <a:t>view</a:t>
                      </a:r>
                      <a:endParaRPr lang="en-US" sz="1400" u="sng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17" name="Table 116"/>
          <p:cNvGraphicFramePr>
            <a:graphicFrameLocks noGrp="1"/>
          </p:cNvGraphicFramePr>
          <p:nvPr/>
        </p:nvGraphicFramePr>
        <p:xfrm>
          <a:off x="1905000" y="5029200"/>
          <a:ext cx="5181600" cy="38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81600"/>
              </a:tblGrid>
              <a:tr h="381000">
                <a:tc>
                  <a:txBody>
                    <a:bodyPr/>
                    <a:lstStyle/>
                    <a:p>
                      <a:r>
                        <a:rPr lang="en-US" dirty="0" smtClean="0"/>
                        <a:t>Loan Account</a:t>
                      </a:r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</a:tr>
            </a:tbl>
          </a:graphicData>
        </a:graphic>
      </p:graphicFrame>
      <p:sp>
        <p:nvSpPr>
          <p:cNvPr id="122" name="Line Callout 1 121"/>
          <p:cNvSpPr/>
          <p:nvPr/>
        </p:nvSpPr>
        <p:spPr>
          <a:xfrm>
            <a:off x="5715000" y="5791200"/>
            <a:ext cx="2743200" cy="685800"/>
          </a:xfrm>
          <a:prstGeom prst="borderCallout1">
            <a:avLst>
              <a:gd name="adj1" fmla="val 49342"/>
              <a:gd name="adj2" fmla="val -1315"/>
              <a:gd name="adj3" fmla="val -84979"/>
              <a:gd name="adj4" fmla="val -37894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These tabs opens like reading mails in GMail</a:t>
            </a:r>
            <a:endParaRPr lang="en-US" dirty="0"/>
          </a:p>
        </p:txBody>
      </p:sp>
      <p:grpSp>
        <p:nvGrpSpPr>
          <p:cNvPr id="123" name="Group 43"/>
          <p:cNvGrpSpPr>
            <a:grpSpLocks/>
          </p:cNvGrpSpPr>
          <p:nvPr/>
        </p:nvGrpSpPr>
        <p:grpSpPr bwMode="auto">
          <a:xfrm>
            <a:off x="7162800" y="1828800"/>
            <a:ext cx="1828800" cy="2057400"/>
            <a:chOff x="6715760" y="2209800"/>
            <a:chExt cx="2275840" cy="2220686"/>
          </a:xfrm>
        </p:grpSpPr>
        <p:sp>
          <p:nvSpPr>
            <p:cNvPr id="124" name="Rectangle 123"/>
            <p:cNvSpPr/>
            <p:nvPr/>
          </p:nvSpPr>
          <p:spPr>
            <a:xfrm>
              <a:off x="6715760" y="2525939"/>
              <a:ext cx="2275840" cy="190454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125" name="Rectangle 124"/>
            <p:cNvSpPr/>
            <p:nvPr/>
          </p:nvSpPr>
          <p:spPr>
            <a:xfrm>
              <a:off x="6715760" y="2209800"/>
              <a:ext cx="2275840" cy="304574"/>
            </a:xfrm>
            <a:prstGeom prst="rect">
              <a:avLst/>
            </a:prstGeom>
          </p:spPr>
          <p:style>
            <a:lnRef idx="1">
              <a:schemeClr val="accent5"/>
            </a:lnRef>
            <a:fillRef idx="3">
              <a:schemeClr val="accent5"/>
            </a:fillRef>
            <a:effectRef idx="2">
              <a:schemeClr val="accent5"/>
            </a:effectRef>
            <a:fontRef idx="minor">
              <a:schemeClr val="lt1"/>
            </a:fontRef>
          </p:style>
          <p:txBody>
            <a:bodyPr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600" dirty="0"/>
                <a:t>Login Information</a:t>
              </a:r>
            </a:p>
          </p:txBody>
        </p:sp>
      </p:grpSp>
      <p:sp>
        <p:nvSpPr>
          <p:cNvPr id="126" name="TextBox 71"/>
          <p:cNvSpPr txBox="1">
            <a:spLocks noChangeArrowheads="1"/>
          </p:cNvSpPr>
          <p:nvPr/>
        </p:nvSpPr>
        <p:spPr bwMode="auto">
          <a:xfrm>
            <a:off x="7239000" y="3048000"/>
            <a:ext cx="1752600" cy="830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1600" dirty="0" smtClean="0"/>
              <a:t>Last </a:t>
            </a:r>
            <a:r>
              <a:rPr lang="en-US" sz="1600" dirty="0"/>
              <a:t>login:</a:t>
            </a:r>
            <a:r>
              <a:rPr lang="en-US" dirty="0"/>
              <a:t/>
            </a:r>
            <a:br>
              <a:rPr lang="en-US" dirty="0"/>
            </a:br>
            <a:r>
              <a:rPr lang="en-US" sz="1600" dirty="0"/>
              <a:t>24 March,2008</a:t>
            </a:r>
          </a:p>
          <a:p>
            <a:r>
              <a:rPr lang="en-US" sz="1600" dirty="0"/>
              <a:t>Time : 14:50 Hrs</a:t>
            </a:r>
          </a:p>
        </p:txBody>
      </p:sp>
      <p:sp>
        <p:nvSpPr>
          <p:cNvPr id="127" name="TextBox 73"/>
          <p:cNvSpPr txBox="1">
            <a:spLocks noChangeArrowheads="1"/>
          </p:cNvSpPr>
          <p:nvPr/>
        </p:nvSpPr>
        <p:spPr bwMode="auto">
          <a:xfrm>
            <a:off x="7239000" y="2209800"/>
            <a:ext cx="1676400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400" dirty="0" smtClean="0"/>
              <a:t>Welcome</a:t>
            </a:r>
          </a:p>
          <a:p>
            <a:r>
              <a:rPr lang="en-US" sz="1400" dirty="0" smtClean="0"/>
              <a:t>Mr. Karan Jain</a:t>
            </a:r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128" name="TextBox 127"/>
          <p:cNvSpPr txBox="1"/>
          <p:nvPr/>
        </p:nvSpPr>
        <p:spPr>
          <a:xfrm>
            <a:off x="1981200" y="1828800"/>
            <a:ext cx="28194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chemeClr val="bg2"/>
                </a:solidFill>
              </a:rPr>
              <a:t>My Accounts</a:t>
            </a:r>
          </a:p>
          <a:p>
            <a:r>
              <a:rPr lang="en-US" sz="1100" u="sng" dirty="0" smtClean="0">
                <a:solidFill>
                  <a:schemeClr val="accent1"/>
                </a:solidFill>
              </a:rPr>
              <a:t>My Profile</a:t>
            </a:r>
            <a:r>
              <a:rPr lang="en-US" sz="1100" dirty="0" smtClean="0">
                <a:solidFill>
                  <a:schemeClr val="accent1"/>
                </a:solidFill>
              </a:rPr>
              <a:t>  &gt; My Accounts</a:t>
            </a:r>
            <a:endParaRPr lang="en-US" sz="1100" dirty="0">
              <a:solidFill>
                <a:schemeClr val="accent1"/>
              </a:solidFill>
            </a:endParaRPr>
          </a:p>
        </p:txBody>
      </p:sp>
      <p:sp>
        <p:nvSpPr>
          <p:cNvPr id="58" name="Rectangle 57"/>
          <p:cNvSpPr/>
          <p:nvPr/>
        </p:nvSpPr>
        <p:spPr>
          <a:xfrm>
            <a:off x="1905000" y="2438400"/>
            <a:ext cx="5105400" cy="38100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TextBox 51"/>
          <p:cNvSpPr txBox="1"/>
          <p:nvPr/>
        </p:nvSpPr>
        <p:spPr>
          <a:xfrm>
            <a:off x="1981200" y="2480846"/>
            <a:ext cx="18288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/>
              <a:t>Default  Account</a:t>
            </a:r>
            <a:endParaRPr lang="en-US" sz="1600" dirty="0"/>
          </a:p>
        </p:txBody>
      </p:sp>
      <p:sp>
        <p:nvSpPr>
          <p:cNvPr id="53" name="Rectangle 52"/>
          <p:cNvSpPr/>
          <p:nvPr/>
        </p:nvSpPr>
        <p:spPr bwMode="auto">
          <a:xfrm>
            <a:off x="3657600" y="2514600"/>
            <a:ext cx="1447800" cy="2286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>
                <a:solidFill>
                  <a:schemeClr val="bg1"/>
                </a:solidFill>
              </a:rPr>
              <a:t>8594621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54" name="Rectangle 53"/>
          <p:cNvSpPr/>
          <p:nvPr/>
        </p:nvSpPr>
        <p:spPr>
          <a:xfrm>
            <a:off x="5105400" y="2514600"/>
            <a:ext cx="304800" cy="2286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 smtClean="0">
                <a:solidFill>
                  <a:schemeClr val="bg2"/>
                </a:solidFill>
              </a:rPr>
              <a:t>\/</a:t>
            </a:r>
            <a:endParaRPr lang="en-US" sz="1000" b="1" dirty="0">
              <a:solidFill>
                <a:schemeClr val="bg2"/>
              </a:solidFill>
            </a:endParaRPr>
          </a:p>
        </p:txBody>
      </p:sp>
      <p:sp>
        <p:nvSpPr>
          <p:cNvPr id="55" name="Rounded Rectangle 54"/>
          <p:cNvSpPr/>
          <p:nvPr/>
        </p:nvSpPr>
        <p:spPr>
          <a:xfrm>
            <a:off x="5715000" y="2514600"/>
            <a:ext cx="990600" cy="228600"/>
          </a:xfrm>
          <a:prstGeom prst="roundRect">
            <a:avLst/>
          </a:prstGeom>
          <a:solidFill>
            <a:schemeClr val="bg1">
              <a:lumMod val="50000"/>
              <a:lumOff val="50000"/>
            </a:schemeClr>
          </a:solidFill>
          <a:ln>
            <a:solidFill>
              <a:schemeClr val="bg1">
                <a:lumMod val="85000"/>
                <a:lumOff val="15000"/>
              </a:schemeClr>
            </a:solidFill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Change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276600" y="0"/>
            <a:ext cx="5867400" cy="82296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1" name="Rectangle 60"/>
          <p:cNvSpPr/>
          <p:nvPr/>
        </p:nvSpPr>
        <p:spPr>
          <a:xfrm>
            <a:off x="0" y="838200"/>
            <a:ext cx="9144000" cy="228600"/>
          </a:xfrm>
          <a:prstGeom prst="rect">
            <a:avLst/>
          </a:prstGeom>
          <a:solidFill>
            <a:schemeClr val="tx1">
              <a:lumMod val="85000"/>
            </a:schemeClr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00" dirty="0">
                <a:solidFill>
                  <a:schemeClr val="bg2"/>
                </a:solidFill>
              </a:rPr>
              <a:t>Home	</a:t>
            </a:r>
            <a:r>
              <a:rPr lang="en-US" sz="1400" dirty="0" smtClean="0">
                <a:solidFill>
                  <a:schemeClr val="bg2"/>
                </a:solidFill>
              </a:rPr>
              <a:t>Product and Services              </a:t>
            </a:r>
            <a:r>
              <a:rPr lang="en-US" sz="1400" dirty="0" smtClean="0">
                <a:solidFill>
                  <a:schemeClr val="bg2"/>
                </a:solidFill>
              </a:rPr>
              <a:t>Downloads                    Contact Us               Help</a:t>
            </a:r>
            <a:endParaRPr lang="en-US" sz="1400" dirty="0">
              <a:solidFill>
                <a:schemeClr val="bg2"/>
              </a:solidFill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0" y="0"/>
            <a:ext cx="9144000" cy="830997"/>
          </a:xfrm>
          <a:prstGeom prst="rect">
            <a:avLst/>
          </a:prstGeom>
          <a:scene3d>
            <a:camera prst="orthographicFront">
              <a:rot lat="0" lon="0" rev="0"/>
            </a:camera>
            <a:lightRig rig="brightRoom" dir="t"/>
          </a:scene3d>
          <a:sp3d>
            <a:bevelT w="63500" h="254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2400" b="1" dirty="0">
              <a:latin typeface="+mj-lt"/>
              <a:cs typeface="Tahoma" pitchFamily="34" charset="0"/>
            </a:endParaRP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2400" b="1" dirty="0">
              <a:latin typeface="+mj-lt"/>
              <a:cs typeface="Tahoma" pitchFamily="34" charset="0"/>
            </a:endParaRPr>
          </a:p>
        </p:txBody>
      </p:sp>
      <p:pic>
        <p:nvPicPr>
          <p:cNvPr id="64" name="Picture 7" descr="world.png"/>
          <p:cNvPicPr>
            <a:picLocks noChangeAspect="1"/>
          </p:cNvPicPr>
          <p:nvPr/>
        </p:nvPicPr>
        <p:blipFill>
          <a:blip r:embed="rId2">
            <a:lum bright="-60000" contrast="-100000"/>
          </a:blip>
          <a:srcRect/>
          <a:stretch>
            <a:fillRect/>
          </a:stretch>
        </p:blipFill>
        <p:spPr bwMode="auto">
          <a:xfrm>
            <a:off x="3352800" y="0"/>
            <a:ext cx="1609725" cy="809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5" name="TextBox 53"/>
          <p:cNvSpPr txBox="1">
            <a:spLocks noChangeArrowheads="1"/>
          </p:cNvSpPr>
          <p:nvPr/>
        </p:nvSpPr>
        <p:spPr bwMode="auto">
          <a:xfrm>
            <a:off x="2743200" y="152400"/>
            <a:ext cx="3124200" cy="430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2200" b="1" dirty="0">
                <a:latin typeface="Calibri" pitchFamily="34" charset="0"/>
              </a:rPr>
              <a:t>Internet Banking System</a:t>
            </a:r>
          </a:p>
        </p:txBody>
      </p:sp>
      <p:grpSp>
        <p:nvGrpSpPr>
          <p:cNvPr id="66" name="Group 77"/>
          <p:cNvGrpSpPr/>
          <p:nvPr/>
        </p:nvGrpSpPr>
        <p:grpSpPr>
          <a:xfrm>
            <a:off x="7162800" y="457200"/>
            <a:ext cx="1828800" cy="228600"/>
            <a:chOff x="7162800" y="533400"/>
            <a:chExt cx="1828800" cy="228600"/>
          </a:xfrm>
        </p:grpSpPr>
        <p:sp>
          <p:nvSpPr>
            <p:cNvPr id="67" name="Rectangle 66"/>
            <p:cNvSpPr/>
            <p:nvPr/>
          </p:nvSpPr>
          <p:spPr>
            <a:xfrm>
              <a:off x="7162800" y="533400"/>
              <a:ext cx="1295400" cy="228600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400" dirty="0">
                  <a:solidFill>
                    <a:schemeClr val="bg1"/>
                  </a:solidFill>
                </a:rPr>
                <a:t>Search</a:t>
              </a:r>
              <a:r>
                <a:rPr lang="en-US" dirty="0"/>
                <a:t> </a:t>
              </a:r>
            </a:p>
          </p:txBody>
        </p:sp>
        <p:sp>
          <p:nvSpPr>
            <p:cNvPr id="68" name="Rounded Rectangle 67"/>
            <p:cNvSpPr/>
            <p:nvPr/>
          </p:nvSpPr>
          <p:spPr>
            <a:xfrm>
              <a:off x="8534400" y="533400"/>
              <a:ext cx="457200" cy="228600"/>
            </a:xfrm>
            <a:prstGeom prst="roundRect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400" dirty="0">
                  <a:ln>
                    <a:solidFill>
                      <a:schemeClr val="accent1">
                        <a:shade val="50000"/>
                      </a:schemeClr>
                    </a:solidFill>
                  </a:ln>
                  <a:solidFill>
                    <a:schemeClr val="bg1"/>
                  </a:solidFill>
                </a:rPr>
                <a:t>GO</a:t>
              </a:r>
            </a:p>
          </p:txBody>
        </p:sp>
      </p:grpSp>
      <p:sp>
        <p:nvSpPr>
          <p:cNvPr id="69" name="Rounded Rectangle 68"/>
          <p:cNvSpPr/>
          <p:nvPr/>
        </p:nvSpPr>
        <p:spPr>
          <a:xfrm>
            <a:off x="7848600" y="838200"/>
            <a:ext cx="1219200" cy="228600"/>
          </a:xfrm>
          <a:prstGeom prst="round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/>
              <a:t>Log out</a:t>
            </a:r>
            <a:endParaRPr lang="en-US" sz="1600" dirty="0"/>
          </a:p>
        </p:txBody>
      </p:sp>
      <p:sp>
        <p:nvSpPr>
          <p:cNvPr id="81" name="Rectangle 80"/>
          <p:cNvSpPr/>
          <p:nvPr/>
        </p:nvSpPr>
        <p:spPr>
          <a:xfrm>
            <a:off x="0" y="1143000"/>
            <a:ext cx="9144000" cy="228600"/>
          </a:xfrm>
          <a:prstGeom prst="rect">
            <a:avLst/>
          </a:prstGeom>
          <a:ln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dirty="0"/>
              <a:t>               </a:t>
            </a:r>
            <a:r>
              <a:rPr lang="en-US" sz="1600" dirty="0">
                <a:solidFill>
                  <a:schemeClr val="tx1"/>
                </a:solidFill>
              </a:rPr>
              <a:t>&lt;---Presenting the new era of Banking                        &lt;---The front end has completed..</a:t>
            </a:r>
          </a:p>
        </p:txBody>
      </p:sp>
      <p:sp>
        <p:nvSpPr>
          <p:cNvPr id="83" name="Round Same Side Corner Rectangle 82"/>
          <p:cNvSpPr/>
          <p:nvPr/>
        </p:nvSpPr>
        <p:spPr>
          <a:xfrm>
            <a:off x="1905000" y="3048000"/>
            <a:ext cx="1981200" cy="304800"/>
          </a:xfrm>
          <a:prstGeom prst="round2SameRect">
            <a:avLst/>
          </a:prstGeom>
          <a:solidFill>
            <a:schemeClr val="tx1">
              <a:lumMod val="65000"/>
            </a:schemeClr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List of Accounts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7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0" fill="hold"/>
                                        <p:tgtEl>
                                          <p:spTgt spid="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0" fill="hold"/>
                                        <p:tgtEl>
                                          <p:spTgt spid="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Rectangle 97"/>
          <p:cNvSpPr/>
          <p:nvPr/>
        </p:nvSpPr>
        <p:spPr>
          <a:xfrm>
            <a:off x="0" y="1676400"/>
            <a:ext cx="9144000" cy="51816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Rectangle 55"/>
          <p:cNvSpPr/>
          <p:nvPr/>
        </p:nvSpPr>
        <p:spPr>
          <a:xfrm>
            <a:off x="91440" y="1752600"/>
            <a:ext cx="1737360" cy="4800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graphicFrame>
        <p:nvGraphicFramePr>
          <p:cNvPr id="72" name="Table 71"/>
          <p:cNvGraphicFramePr>
            <a:graphicFrameLocks noGrp="1"/>
          </p:cNvGraphicFramePr>
          <p:nvPr/>
        </p:nvGraphicFramePr>
        <p:xfrm>
          <a:off x="152400" y="1828800"/>
          <a:ext cx="1600200" cy="2270760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1600200"/>
              </a:tblGrid>
              <a:tr h="21590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243840">
                <a:tc>
                  <a:txBody>
                    <a:bodyPr/>
                    <a:lstStyle/>
                    <a:p>
                      <a:r>
                        <a:rPr lang="en-US" sz="1100" b="1" dirty="0" smtClean="0">
                          <a:solidFill>
                            <a:schemeClr val="bg2"/>
                          </a:solidFill>
                        </a:rPr>
                        <a:t>&gt;&gt;</a:t>
                      </a:r>
                      <a:r>
                        <a:rPr lang="en-US" sz="1100" b="1" u="sng" dirty="0" smtClean="0">
                          <a:solidFill>
                            <a:schemeClr val="bg2"/>
                          </a:solidFill>
                        </a:rPr>
                        <a:t>M</a:t>
                      </a:r>
                      <a:r>
                        <a:rPr lang="en-US" sz="1100" b="1" u="sng" baseline="0" dirty="0" smtClean="0">
                          <a:solidFill>
                            <a:schemeClr val="bg2"/>
                          </a:solidFill>
                        </a:rPr>
                        <a:t>y Accounts</a:t>
                      </a:r>
                      <a:endParaRPr lang="en-US" sz="1100" b="1" u="sng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</a:tr>
              <a:tr h="215900">
                <a:tc>
                  <a:txBody>
                    <a:bodyPr/>
                    <a:lstStyle/>
                    <a:p>
                      <a:r>
                        <a:rPr lang="en-US" sz="1200" b="1" dirty="0" smtClean="0">
                          <a:solidFill>
                            <a:schemeClr val="bg2"/>
                          </a:solidFill>
                        </a:rPr>
                        <a:t>&gt;&gt;</a:t>
                      </a:r>
                      <a:r>
                        <a:rPr lang="en-US" sz="1200" b="1" u="sng" dirty="0" smtClean="0">
                          <a:solidFill>
                            <a:schemeClr val="bg2"/>
                          </a:solidFill>
                        </a:rPr>
                        <a:t>Profile</a:t>
                      </a:r>
                      <a:endParaRPr lang="en-US" sz="1200" b="1" u="sng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</a:tr>
              <a:tr h="215900">
                <a:tc>
                  <a:txBody>
                    <a:bodyPr/>
                    <a:lstStyle/>
                    <a:p>
                      <a:r>
                        <a:rPr lang="en-US" sz="1200" b="1" dirty="0" smtClean="0">
                          <a:solidFill>
                            <a:schemeClr val="bg2"/>
                          </a:solidFill>
                        </a:rPr>
                        <a:t>&gt;&gt;</a:t>
                      </a:r>
                      <a:r>
                        <a:rPr lang="en-US" sz="1200" b="1" u="sng" dirty="0" smtClean="0">
                          <a:solidFill>
                            <a:schemeClr val="bg2"/>
                          </a:solidFill>
                        </a:rPr>
                        <a:t>Settings</a:t>
                      </a:r>
                      <a:endParaRPr lang="en-US" sz="1200" b="1" u="sng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</a:tr>
              <a:tr h="215900">
                <a:tc>
                  <a:txBody>
                    <a:bodyPr/>
                    <a:lstStyle/>
                    <a:p>
                      <a:r>
                        <a:rPr lang="en-US" sz="1200" b="1" dirty="0" smtClean="0">
                          <a:solidFill>
                            <a:schemeClr val="bg2"/>
                          </a:solidFill>
                        </a:rPr>
                        <a:t>&gt;&gt;</a:t>
                      </a:r>
                      <a:r>
                        <a:rPr lang="en-US" sz="1200" b="1" u="sng" dirty="0" smtClean="0">
                          <a:solidFill>
                            <a:schemeClr val="bg2"/>
                          </a:solidFill>
                        </a:rPr>
                        <a:t>Change Password</a:t>
                      </a:r>
                      <a:endParaRPr lang="en-US" sz="1200" b="1" u="sng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</a:tr>
              <a:tr h="215900">
                <a:tc>
                  <a:txBody>
                    <a:bodyPr/>
                    <a:lstStyle/>
                    <a:p>
                      <a:r>
                        <a:rPr lang="en-US" sz="1200" b="1" dirty="0" smtClean="0">
                          <a:solidFill>
                            <a:schemeClr val="bg2"/>
                          </a:solidFill>
                        </a:rPr>
                        <a:t>&gt;&gt;</a:t>
                      </a:r>
                      <a:r>
                        <a:rPr lang="en-US" sz="1200" b="1" u="sng" dirty="0" smtClean="0">
                          <a:solidFill>
                            <a:schemeClr val="bg2"/>
                          </a:solidFill>
                        </a:rPr>
                        <a:t>Favorites</a:t>
                      </a:r>
                      <a:endParaRPr lang="en-US" sz="1200" b="1" u="sng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</a:tr>
              <a:tr h="215900">
                <a:tc>
                  <a:txBody>
                    <a:bodyPr/>
                    <a:lstStyle/>
                    <a:p>
                      <a:r>
                        <a:rPr lang="en-US" sz="1200" b="1" u="none" dirty="0" smtClean="0">
                          <a:solidFill>
                            <a:schemeClr val="bg2"/>
                          </a:solidFill>
                        </a:rPr>
                        <a:t>&gt;&gt;</a:t>
                      </a:r>
                      <a:r>
                        <a:rPr lang="en-US" sz="1200" b="1" u="sng" dirty="0" smtClean="0">
                          <a:solidFill>
                            <a:schemeClr val="bg2"/>
                          </a:solidFill>
                        </a:rPr>
                        <a:t> New Account</a:t>
                      </a:r>
                      <a:endParaRPr lang="en-US" sz="1200" b="1" u="sng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</a:tr>
              <a:tr h="215900">
                <a:tc>
                  <a:txBody>
                    <a:bodyPr/>
                    <a:lstStyle/>
                    <a:p>
                      <a:r>
                        <a:rPr lang="en-US" sz="1200" b="1" u="none" dirty="0" smtClean="0">
                          <a:solidFill>
                            <a:schemeClr val="bg2"/>
                          </a:solidFill>
                        </a:rPr>
                        <a:t>&gt;&gt; </a:t>
                      </a:r>
                      <a:r>
                        <a:rPr lang="en-US" sz="1200" b="1" u="sng" dirty="0" smtClean="0">
                          <a:solidFill>
                            <a:schemeClr val="bg2"/>
                          </a:solidFill>
                        </a:rPr>
                        <a:t>Loan</a:t>
                      </a:r>
                      <a:r>
                        <a:rPr lang="en-US" sz="1200" b="1" u="sng" baseline="0" dirty="0" smtClean="0">
                          <a:solidFill>
                            <a:schemeClr val="bg2"/>
                          </a:solidFill>
                        </a:rPr>
                        <a:t> Account</a:t>
                      </a:r>
                      <a:endParaRPr lang="en-US" sz="1200" b="1" u="sng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87" name="Round Single Corner Rectangle 86"/>
          <p:cNvSpPr/>
          <p:nvPr/>
        </p:nvSpPr>
        <p:spPr>
          <a:xfrm>
            <a:off x="228600" y="1371600"/>
            <a:ext cx="1524000" cy="304800"/>
          </a:xfrm>
          <a:prstGeom prst="round1Rect">
            <a:avLst>
              <a:gd name="adj" fmla="val 50000"/>
            </a:avLst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My Profile</a:t>
            </a:r>
            <a:endParaRPr lang="en-US" dirty="0"/>
          </a:p>
        </p:txBody>
      </p:sp>
      <p:sp>
        <p:nvSpPr>
          <p:cNvPr id="88" name="Round Single Corner Rectangle 87"/>
          <p:cNvSpPr/>
          <p:nvPr/>
        </p:nvSpPr>
        <p:spPr>
          <a:xfrm>
            <a:off x="3124200" y="1371600"/>
            <a:ext cx="1524001" cy="228599"/>
          </a:xfrm>
          <a:prstGeom prst="round1Rect">
            <a:avLst>
              <a:gd name="adj" fmla="val 50000"/>
            </a:avLst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Remittance</a:t>
            </a:r>
            <a:endParaRPr lang="en-US" dirty="0"/>
          </a:p>
        </p:txBody>
      </p:sp>
      <p:sp>
        <p:nvSpPr>
          <p:cNvPr id="90" name="Round Single Corner Rectangle 89"/>
          <p:cNvSpPr/>
          <p:nvPr/>
        </p:nvSpPr>
        <p:spPr>
          <a:xfrm>
            <a:off x="1752600" y="1371600"/>
            <a:ext cx="1347335" cy="228600"/>
          </a:xfrm>
          <a:prstGeom prst="round1Rect">
            <a:avLst>
              <a:gd name="adj" fmla="val 50000"/>
            </a:avLst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Bills</a:t>
            </a:r>
            <a:endParaRPr lang="en-US" dirty="0"/>
          </a:p>
        </p:txBody>
      </p:sp>
      <p:sp>
        <p:nvSpPr>
          <p:cNvPr id="91" name="Round Single Corner Rectangle 90"/>
          <p:cNvSpPr/>
          <p:nvPr/>
        </p:nvSpPr>
        <p:spPr>
          <a:xfrm>
            <a:off x="4648200" y="1371600"/>
            <a:ext cx="1524000" cy="228600"/>
          </a:xfrm>
          <a:prstGeom prst="round1Rect">
            <a:avLst>
              <a:gd name="adj" fmla="val 50000"/>
            </a:avLst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Draft/Cheque</a:t>
            </a:r>
            <a:endParaRPr lang="en-US" dirty="0"/>
          </a:p>
        </p:txBody>
      </p:sp>
      <p:cxnSp>
        <p:nvCxnSpPr>
          <p:cNvPr id="93" name="Straight Connector 92"/>
          <p:cNvCxnSpPr/>
          <p:nvPr/>
        </p:nvCxnSpPr>
        <p:spPr>
          <a:xfrm>
            <a:off x="1676400" y="1676400"/>
            <a:ext cx="7467600" cy="1588"/>
          </a:xfrm>
          <a:prstGeom prst="line">
            <a:avLst/>
          </a:prstGeom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97" name="Straight Connector 96"/>
          <p:cNvCxnSpPr/>
          <p:nvPr/>
        </p:nvCxnSpPr>
        <p:spPr>
          <a:xfrm rot="10800000">
            <a:off x="0" y="1676400"/>
            <a:ext cx="228600" cy="1588"/>
          </a:xfrm>
          <a:prstGeom prst="line">
            <a:avLst/>
          </a:prstGeom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99" name="Round Single Corner Rectangle 98"/>
          <p:cNvSpPr/>
          <p:nvPr/>
        </p:nvSpPr>
        <p:spPr>
          <a:xfrm>
            <a:off x="6172200" y="1371600"/>
            <a:ext cx="1371600" cy="228600"/>
          </a:xfrm>
          <a:prstGeom prst="round1Rect">
            <a:avLst>
              <a:gd name="adj" fmla="val 50000"/>
            </a:avLst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Utilties</a:t>
            </a:r>
            <a:endParaRPr lang="en-US" dirty="0"/>
          </a:p>
        </p:txBody>
      </p:sp>
      <p:sp>
        <p:nvSpPr>
          <p:cNvPr id="101" name="Round Single Corner Rectangle 100"/>
          <p:cNvSpPr/>
          <p:nvPr/>
        </p:nvSpPr>
        <p:spPr>
          <a:xfrm>
            <a:off x="7543800" y="1371600"/>
            <a:ext cx="1280160" cy="228600"/>
          </a:xfrm>
          <a:prstGeom prst="round1Rect">
            <a:avLst>
              <a:gd name="adj" fmla="val 50000"/>
            </a:avLst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Enquiry</a:t>
            </a:r>
            <a:endParaRPr lang="en-US" dirty="0"/>
          </a:p>
        </p:txBody>
      </p:sp>
      <p:sp>
        <p:nvSpPr>
          <p:cNvPr id="74" name="TextBox 73"/>
          <p:cNvSpPr txBox="1"/>
          <p:nvPr/>
        </p:nvSpPr>
        <p:spPr>
          <a:xfrm>
            <a:off x="2209800" y="6488668"/>
            <a:ext cx="1524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Wingdings" pitchFamily="2" charset="2"/>
              <a:buChar char="§"/>
            </a:pPr>
            <a:r>
              <a:rPr lang="en-US" sz="1200" dirty="0" smtClean="0">
                <a:solidFill>
                  <a:schemeClr val="bg2"/>
                </a:solidFill>
              </a:rPr>
              <a:t>Privacy Policy</a:t>
            </a:r>
            <a:endParaRPr lang="en-US" sz="1200" dirty="0">
              <a:solidFill>
                <a:schemeClr val="bg2"/>
              </a:solidFill>
            </a:endParaRPr>
          </a:p>
        </p:txBody>
      </p:sp>
      <p:sp>
        <p:nvSpPr>
          <p:cNvPr id="78" name="TextBox 77"/>
          <p:cNvSpPr txBox="1"/>
          <p:nvPr/>
        </p:nvSpPr>
        <p:spPr>
          <a:xfrm>
            <a:off x="3352800" y="6504801"/>
            <a:ext cx="1524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Wingdings" pitchFamily="2" charset="2"/>
              <a:buChar char="§"/>
            </a:pPr>
            <a:r>
              <a:rPr lang="en-US" sz="1200" dirty="0" smtClean="0">
                <a:solidFill>
                  <a:schemeClr val="bg2"/>
                </a:solidFill>
              </a:rPr>
              <a:t>Copyrights</a:t>
            </a:r>
            <a:endParaRPr lang="en-US" sz="1200" dirty="0">
              <a:solidFill>
                <a:schemeClr val="bg2"/>
              </a:solidFill>
            </a:endParaRPr>
          </a:p>
        </p:txBody>
      </p:sp>
      <p:sp>
        <p:nvSpPr>
          <p:cNvPr id="79" name="TextBox 78"/>
          <p:cNvSpPr txBox="1"/>
          <p:nvPr/>
        </p:nvSpPr>
        <p:spPr>
          <a:xfrm>
            <a:off x="5334000" y="6504801"/>
            <a:ext cx="1524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Wingdings" pitchFamily="2" charset="2"/>
              <a:buChar char="§"/>
            </a:pPr>
            <a:r>
              <a:rPr lang="en-US" sz="1200" dirty="0" smtClean="0">
                <a:solidFill>
                  <a:schemeClr val="bg2"/>
                </a:solidFill>
              </a:rPr>
              <a:t>Terms of Use</a:t>
            </a:r>
            <a:endParaRPr lang="en-US" sz="1200" dirty="0">
              <a:solidFill>
                <a:schemeClr val="bg2"/>
              </a:solidFill>
            </a:endParaRPr>
          </a:p>
        </p:txBody>
      </p:sp>
      <p:sp>
        <p:nvSpPr>
          <p:cNvPr id="82" name="TextBox 81"/>
          <p:cNvSpPr txBox="1"/>
          <p:nvPr/>
        </p:nvSpPr>
        <p:spPr>
          <a:xfrm>
            <a:off x="4343400" y="6504801"/>
            <a:ext cx="1524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Wingdings" pitchFamily="2" charset="2"/>
              <a:buChar char="§"/>
            </a:pPr>
            <a:r>
              <a:rPr lang="en-US" sz="1200" dirty="0" smtClean="0">
                <a:solidFill>
                  <a:schemeClr val="bg2"/>
                </a:solidFill>
              </a:rPr>
              <a:t>Disclaimers</a:t>
            </a:r>
            <a:endParaRPr lang="en-US" sz="1200" dirty="0">
              <a:solidFill>
                <a:schemeClr val="bg2"/>
              </a:solidFill>
            </a:endParaRPr>
          </a:p>
        </p:txBody>
      </p:sp>
      <p:grpSp>
        <p:nvGrpSpPr>
          <p:cNvPr id="4" name="Group 39"/>
          <p:cNvGrpSpPr>
            <a:grpSpLocks/>
          </p:cNvGrpSpPr>
          <p:nvPr/>
        </p:nvGrpSpPr>
        <p:grpSpPr bwMode="auto">
          <a:xfrm>
            <a:off x="152400" y="1752600"/>
            <a:ext cx="1676400" cy="381000"/>
            <a:chOff x="6858000" y="6324600"/>
            <a:chExt cx="2133600" cy="381000"/>
          </a:xfrm>
        </p:grpSpPr>
        <p:sp>
          <p:nvSpPr>
            <p:cNvPr id="96" name="Rectangle 95"/>
            <p:cNvSpPr/>
            <p:nvPr/>
          </p:nvSpPr>
          <p:spPr>
            <a:xfrm>
              <a:off x="6858000" y="6324600"/>
              <a:ext cx="2133600" cy="381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00" name="Rectangle 99"/>
            <p:cNvSpPr/>
            <p:nvPr/>
          </p:nvSpPr>
          <p:spPr>
            <a:xfrm>
              <a:off x="6934200" y="6400800"/>
              <a:ext cx="1524000" cy="228600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sz="1200" dirty="0" smtClean="0"/>
                <a:t>Go to </a:t>
              </a:r>
              <a:r>
                <a:rPr lang="en-US" sz="1200" dirty="0" smtClean="0">
                  <a:sym typeface="Wingdings" pitchFamily="2" charset="2"/>
                </a:rPr>
                <a:t></a:t>
              </a:r>
              <a:endParaRPr lang="en-US" sz="1200" dirty="0"/>
            </a:p>
          </p:txBody>
        </p:sp>
        <p:sp>
          <p:nvSpPr>
            <p:cNvPr id="102" name="Rounded Rectangle 101"/>
            <p:cNvSpPr/>
            <p:nvPr/>
          </p:nvSpPr>
          <p:spPr>
            <a:xfrm>
              <a:off x="8409709" y="6400800"/>
              <a:ext cx="484909" cy="228600"/>
            </a:xfrm>
            <a:prstGeom prst="roundRect">
              <a:avLst/>
            </a:prstGeom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sz="1050" dirty="0"/>
                <a:t>GO</a:t>
              </a:r>
            </a:p>
          </p:txBody>
        </p:sp>
      </p:grpSp>
      <p:grpSp>
        <p:nvGrpSpPr>
          <p:cNvPr id="5" name="Group 43"/>
          <p:cNvGrpSpPr>
            <a:grpSpLocks/>
          </p:cNvGrpSpPr>
          <p:nvPr/>
        </p:nvGrpSpPr>
        <p:grpSpPr bwMode="auto">
          <a:xfrm>
            <a:off x="7162800" y="1752600"/>
            <a:ext cx="1828800" cy="2057400"/>
            <a:chOff x="6715760" y="2209800"/>
            <a:chExt cx="2275840" cy="2220686"/>
          </a:xfrm>
        </p:grpSpPr>
        <p:sp>
          <p:nvSpPr>
            <p:cNvPr id="124" name="Rectangle 123"/>
            <p:cNvSpPr/>
            <p:nvPr/>
          </p:nvSpPr>
          <p:spPr>
            <a:xfrm>
              <a:off x="6715760" y="2525939"/>
              <a:ext cx="2275840" cy="190454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125" name="Rectangle 124"/>
            <p:cNvSpPr/>
            <p:nvPr/>
          </p:nvSpPr>
          <p:spPr>
            <a:xfrm>
              <a:off x="6715760" y="2209800"/>
              <a:ext cx="2275840" cy="304574"/>
            </a:xfrm>
            <a:prstGeom prst="rect">
              <a:avLst/>
            </a:prstGeom>
          </p:spPr>
          <p:style>
            <a:lnRef idx="1">
              <a:schemeClr val="accent5"/>
            </a:lnRef>
            <a:fillRef idx="3">
              <a:schemeClr val="accent5"/>
            </a:fillRef>
            <a:effectRef idx="2">
              <a:schemeClr val="accent5"/>
            </a:effectRef>
            <a:fontRef idx="minor">
              <a:schemeClr val="lt1"/>
            </a:fontRef>
          </p:style>
          <p:txBody>
            <a:bodyPr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600" dirty="0"/>
                <a:t>Login Information</a:t>
              </a:r>
            </a:p>
          </p:txBody>
        </p:sp>
      </p:grpSp>
      <p:sp>
        <p:nvSpPr>
          <p:cNvPr id="126" name="TextBox 71"/>
          <p:cNvSpPr txBox="1">
            <a:spLocks noChangeArrowheads="1"/>
          </p:cNvSpPr>
          <p:nvPr/>
        </p:nvSpPr>
        <p:spPr bwMode="auto">
          <a:xfrm>
            <a:off x="7239000" y="2971800"/>
            <a:ext cx="1752600" cy="830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1600" dirty="0" smtClean="0"/>
              <a:t>Last </a:t>
            </a:r>
            <a:r>
              <a:rPr lang="en-US" sz="1600" dirty="0"/>
              <a:t>login:</a:t>
            </a:r>
            <a:r>
              <a:rPr lang="en-US" dirty="0"/>
              <a:t/>
            </a:r>
            <a:br>
              <a:rPr lang="en-US" dirty="0"/>
            </a:br>
            <a:r>
              <a:rPr lang="en-US" sz="1600" dirty="0"/>
              <a:t>24 March,2008</a:t>
            </a:r>
          </a:p>
          <a:p>
            <a:r>
              <a:rPr lang="en-US" sz="1600" dirty="0"/>
              <a:t>Time : 14:50 Hrs</a:t>
            </a:r>
          </a:p>
        </p:txBody>
      </p:sp>
      <p:sp>
        <p:nvSpPr>
          <p:cNvPr id="127" name="TextBox 73"/>
          <p:cNvSpPr txBox="1">
            <a:spLocks noChangeArrowheads="1"/>
          </p:cNvSpPr>
          <p:nvPr/>
        </p:nvSpPr>
        <p:spPr bwMode="auto">
          <a:xfrm>
            <a:off x="7239000" y="2133600"/>
            <a:ext cx="1676400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400" dirty="0" smtClean="0"/>
              <a:t>Welcome</a:t>
            </a:r>
          </a:p>
          <a:p>
            <a:r>
              <a:rPr lang="en-US" sz="1400" dirty="0" smtClean="0"/>
              <a:t>Mr. Karan Jain</a:t>
            </a:r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128" name="TextBox 127"/>
          <p:cNvSpPr txBox="1"/>
          <p:nvPr/>
        </p:nvSpPr>
        <p:spPr>
          <a:xfrm>
            <a:off x="1981200" y="1752600"/>
            <a:ext cx="3505200" cy="5386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chemeClr val="bg2"/>
                </a:solidFill>
              </a:rPr>
              <a:t>Details</a:t>
            </a:r>
          </a:p>
          <a:p>
            <a:r>
              <a:rPr lang="en-US" sz="1100" u="sng" dirty="0" smtClean="0">
                <a:solidFill>
                  <a:schemeClr val="accent1"/>
                </a:solidFill>
              </a:rPr>
              <a:t>My Profile</a:t>
            </a:r>
            <a:r>
              <a:rPr lang="en-US" sz="1100" dirty="0" smtClean="0">
                <a:solidFill>
                  <a:schemeClr val="accent1"/>
                </a:solidFill>
              </a:rPr>
              <a:t>  &gt; </a:t>
            </a:r>
            <a:r>
              <a:rPr lang="en-US" sz="1100" u="sng" dirty="0" smtClean="0">
                <a:solidFill>
                  <a:schemeClr val="accent1"/>
                </a:solidFill>
              </a:rPr>
              <a:t>My Accounts</a:t>
            </a:r>
            <a:r>
              <a:rPr lang="en-US" sz="1100" dirty="0" smtClean="0">
                <a:solidFill>
                  <a:schemeClr val="accent1"/>
                </a:solidFill>
              </a:rPr>
              <a:t>&gt; Account Details</a:t>
            </a:r>
            <a:endParaRPr lang="en-US" sz="1100" dirty="0">
              <a:solidFill>
                <a:schemeClr val="accent1"/>
              </a:solidFill>
            </a:endParaRPr>
          </a:p>
        </p:txBody>
      </p:sp>
      <p:graphicFrame>
        <p:nvGraphicFramePr>
          <p:cNvPr id="49" name="Table 48"/>
          <p:cNvGraphicFramePr>
            <a:graphicFrameLocks noGrp="1"/>
          </p:cNvGraphicFramePr>
          <p:nvPr/>
        </p:nvGraphicFramePr>
        <p:xfrm>
          <a:off x="2057400" y="2362200"/>
          <a:ext cx="4800600" cy="304292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888761"/>
                <a:gridCol w="2911839"/>
              </a:tblGrid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US" b="1" u="sng" dirty="0" smtClean="0">
                          <a:solidFill>
                            <a:schemeClr val="bg1"/>
                          </a:solidFill>
                        </a:rPr>
                        <a:t>Account Details</a:t>
                      </a:r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Account</a:t>
                      </a:r>
                      <a:r>
                        <a:rPr lang="en-US" baseline="0" dirty="0" smtClean="0"/>
                        <a:t> Number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41215686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Account</a:t>
                      </a:r>
                      <a:r>
                        <a:rPr lang="en-US" baseline="0" dirty="0" smtClean="0"/>
                        <a:t> Holders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indent="-342900">
                        <a:buAutoNum type="arabicPeriod"/>
                      </a:pPr>
                      <a:r>
                        <a:rPr lang="en-US" dirty="0" smtClean="0"/>
                        <a:t>K.J.</a:t>
                      </a:r>
                    </a:p>
                    <a:p>
                      <a:pPr marL="342900" indent="-342900">
                        <a:buAutoNum type="arabicPeriod"/>
                      </a:pPr>
                      <a:r>
                        <a:rPr lang="en-US" dirty="0" smtClean="0"/>
                        <a:t>A.K.G.</a:t>
                      </a:r>
                    </a:p>
                    <a:p>
                      <a:pPr marL="342900" indent="-342900">
                        <a:buAutoNum type="arabicPeriod"/>
                      </a:pPr>
                      <a:r>
                        <a:rPr lang="en-US" dirty="0" smtClean="0"/>
                        <a:t>GG</a:t>
                      </a:r>
                    </a:p>
                    <a:p>
                      <a:pPr marL="342900" indent="-342900">
                        <a:buAutoNum type="arabicPeriod"/>
                      </a:pPr>
                      <a:r>
                        <a:rPr lang="en-US" dirty="0" smtClean="0"/>
                        <a:t>R.J.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Account Type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Current</a:t>
                      </a:r>
                      <a:r>
                        <a:rPr lang="en-US" baseline="0" dirty="0" smtClean="0"/>
                        <a:t> Account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A/c</a:t>
                      </a:r>
                      <a:r>
                        <a:rPr lang="en-US" baseline="0" dirty="0" smtClean="0"/>
                        <a:t> opening Date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2008-1-3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Balance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50 INR</a:t>
                      </a:r>
                      <a:endParaRPr lang="en-US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46" name="Rectangle 45"/>
          <p:cNvSpPr/>
          <p:nvPr/>
        </p:nvSpPr>
        <p:spPr>
          <a:xfrm>
            <a:off x="3276600" y="0"/>
            <a:ext cx="5867400" cy="82296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7" name="Rectangle 46"/>
          <p:cNvSpPr/>
          <p:nvPr/>
        </p:nvSpPr>
        <p:spPr>
          <a:xfrm>
            <a:off x="0" y="838200"/>
            <a:ext cx="9144000" cy="228600"/>
          </a:xfrm>
          <a:prstGeom prst="rect">
            <a:avLst/>
          </a:prstGeom>
          <a:solidFill>
            <a:schemeClr val="tx1">
              <a:lumMod val="85000"/>
            </a:schemeClr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00" dirty="0">
                <a:solidFill>
                  <a:schemeClr val="bg2"/>
                </a:solidFill>
              </a:rPr>
              <a:t>Home	</a:t>
            </a:r>
            <a:r>
              <a:rPr lang="en-US" sz="1400" dirty="0" smtClean="0">
                <a:solidFill>
                  <a:schemeClr val="bg2"/>
                </a:solidFill>
              </a:rPr>
              <a:t>Product and Services              </a:t>
            </a:r>
            <a:r>
              <a:rPr lang="en-US" sz="1400" dirty="0" smtClean="0">
                <a:solidFill>
                  <a:schemeClr val="bg2"/>
                </a:solidFill>
              </a:rPr>
              <a:t>Downloads                    Contact Us               Help</a:t>
            </a:r>
            <a:endParaRPr lang="en-US" sz="1400" dirty="0">
              <a:solidFill>
                <a:schemeClr val="bg2"/>
              </a:solidFill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0" y="0"/>
            <a:ext cx="9144000" cy="830997"/>
          </a:xfrm>
          <a:prstGeom prst="rect">
            <a:avLst/>
          </a:prstGeom>
          <a:scene3d>
            <a:camera prst="orthographicFront">
              <a:rot lat="0" lon="0" rev="0"/>
            </a:camera>
            <a:lightRig rig="brightRoom" dir="t"/>
          </a:scene3d>
          <a:sp3d>
            <a:bevelT w="63500" h="254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2400" b="1" dirty="0">
              <a:latin typeface="+mj-lt"/>
              <a:cs typeface="Tahoma" pitchFamily="34" charset="0"/>
            </a:endParaRP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2400" b="1" dirty="0">
              <a:latin typeface="+mj-lt"/>
              <a:cs typeface="Tahoma" pitchFamily="34" charset="0"/>
            </a:endParaRPr>
          </a:p>
        </p:txBody>
      </p:sp>
      <p:pic>
        <p:nvPicPr>
          <p:cNvPr id="51" name="Picture 7" descr="world.png"/>
          <p:cNvPicPr>
            <a:picLocks noChangeAspect="1"/>
          </p:cNvPicPr>
          <p:nvPr/>
        </p:nvPicPr>
        <p:blipFill>
          <a:blip r:embed="rId2">
            <a:lum bright="-60000" contrast="-100000"/>
          </a:blip>
          <a:srcRect/>
          <a:stretch>
            <a:fillRect/>
          </a:stretch>
        </p:blipFill>
        <p:spPr bwMode="auto">
          <a:xfrm>
            <a:off x="3352800" y="0"/>
            <a:ext cx="1609725" cy="809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2" name="TextBox 53"/>
          <p:cNvSpPr txBox="1">
            <a:spLocks noChangeArrowheads="1"/>
          </p:cNvSpPr>
          <p:nvPr/>
        </p:nvSpPr>
        <p:spPr bwMode="auto">
          <a:xfrm>
            <a:off x="2743200" y="152400"/>
            <a:ext cx="3124200" cy="430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2200" b="1" dirty="0">
                <a:latin typeface="Calibri" pitchFamily="34" charset="0"/>
              </a:rPr>
              <a:t>Internet Banking System</a:t>
            </a:r>
          </a:p>
        </p:txBody>
      </p:sp>
      <p:grpSp>
        <p:nvGrpSpPr>
          <p:cNvPr id="53" name="Group 77"/>
          <p:cNvGrpSpPr/>
          <p:nvPr/>
        </p:nvGrpSpPr>
        <p:grpSpPr>
          <a:xfrm>
            <a:off x="7162800" y="457200"/>
            <a:ext cx="1828800" cy="228600"/>
            <a:chOff x="7162800" y="533400"/>
            <a:chExt cx="1828800" cy="228600"/>
          </a:xfrm>
        </p:grpSpPr>
        <p:sp>
          <p:nvSpPr>
            <p:cNvPr id="54" name="Rectangle 53"/>
            <p:cNvSpPr/>
            <p:nvPr/>
          </p:nvSpPr>
          <p:spPr>
            <a:xfrm>
              <a:off x="7162800" y="533400"/>
              <a:ext cx="1295400" cy="228600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400" dirty="0">
                  <a:solidFill>
                    <a:schemeClr val="bg1"/>
                  </a:solidFill>
                </a:rPr>
                <a:t>Search</a:t>
              </a:r>
              <a:r>
                <a:rPr lang="en-US" dirty="0"/>
                <a:t> </a:t>
              </a:r>
            </a:p>
          </p:txBody>
        </p:sp>
        <p:sp>
          <p:nvSpPr>
            <p:cNvPr id="55" name="Rounded Rectangle 54"/>
            <p:cNvSpPr/>
            <p:nvPr/>
          </p:nvSpPr>
          <p:spPr>
            <a:xfrm>
              <a:off x="8534400" y="533400"/>
              <a:ext cx="457200" cy="228600"/>
            </a:xfrm>
            <a:prstGeom prst="roundRect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400" dirty="0">
                  <a:ln>
                    <a:solidFill>
                      <a:schemeClr val="accent1">
                        <a:shade val="50000"/>
                      </a:schemeClr>
                    </a:solidFill>
                  </a:ln>
                  <a:solidFill>
                    <a:schemeClr val="bg1"/>
                  </a:solidFill>
                </a:rPr>
                <a:t>GO</a:t>
              </a:r>
            </a:p>
          </p:txBody>
        </p:sp>
      </p:grpSp>
      <p:sp>
        <p:nvSpPr>
          <p:cNvPr id="57" name="Rounded Rectangle 56"/>
          <p:cNvSpPr/>
          <p:nvPr/>
        </p:nvSpPr>
        <p:spPr>
          <a:xfrm>
            <a:off x="7848600" y="838200"/>
            <a:ext cx="1219200" cy="228600"/>
          </a:xfrm>
          <a:prstGeom prst="round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/>
              <a:t>Log out</a:t>
            </a:r>
            <a:endParaRPr lang="en-US" sz="1600" dirty="0"/>
          </a:p>
        </p:txBody>
      </p:sp>
      <p:sp>
        <p:nvSpPr>
          <p:cNvPr id="58" name="Rectangle 57"/>
          <p:cNvSpPr/>
          <p:nvPr/>
        </p:nvSpPr>
        <p:spPr>
          <a:xfrm>
            <a:off x="0" y="1066800"/>
            <a:ext cx="9144000" cy="228600"/>
          </a:xfrm>
          <a:prstGeom prst="rect">
            <a:avLst/>
          </a:prstGeom>
          <a:ln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dirty="0"/>
              <a:t>               </a:t>
            </a:r>
            <a:r>
              <a:rPr lang="en-US" sz="1600" dirty="0">
                <a:solidFill>
                  <a:schemeClr val="tx1"/>
                </a:solidFill>
              </a:rPr>
              <a:t>&lt;---Presenting the new era of Banking                        &lt;---The front end has completed..</a:t>
            </a:r>
          </a:p>
        </p:txBody>
      </p:sp>
      <p:sp>
        <p:nvSpPr>
          <p:cNvPr id="61" name="Cloud Callout 60"/>
          <p:cNvSpPr/>
          <p:nvPr/>
        </p:nvSpPr>
        <p:spPr>
          <a:xfrm>
            <a:off x="7239000" y="4038600"/>
            <a:ext cx="1600200" cy="1143000"/>
          </a:xfrm>
          <a:prstGeom prst="cloudCallout">
            <a:avLst>
              <a:gd name="adj1" fmla="val -11059"/>
              <a:gd name="adj2" fmla="val 45496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Ads  or</a:t>
            </a:r>
            <a:br>
              <a:rPr lang="en-US" dirty="0" smtClean="0"/>
            </a:br>
            <a:r>
              <a:rPr lang="en-US" dirty="0" smtClean="0"/>
              <a:t>new scheme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7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0" fill="hold"/>
                                        <p:tgtEl>
                                          <p:spTgt spid="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0" fill="hold"/>
                                        <p:tgtEl>
                                          <p:spTgt spid="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Rectangle 97"/>
          <p:cNvSpPr/>
          <p:nvPr/>
        </p:nvSpPr>
        <p:spPr>
          <a:xfrm>
            <a:off x="0" y="1676400"/>
            <a:ext cx="9144000" cy="51816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Rectangle 55"/>
          <p:cNvSpPr/>
          <p:nvPr/>
        </p:nvSpPr>
        <p:spPr>
          <a:xfrm>
            <a:off x="91440" y="1752600"/>
            <a:ext cx="1737360" cy="4800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graphicFrame>
        <p:nvGraphicFramePr>
          <p:cNvPr id="72" name="Table 71"/>
          <p:cNvGraphicFramePr>
            <a:graphicFrameLocks noGrp="1"/>
          </p:cNvGraphicFramePr>
          <p:nvPr/>
        </p:nvGraphicFramePr>
        <p:xfrm>
          <a:off x="152400" y="1828800"/>
          <a:ext cx="1600200" cy="2270760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1600200"/>
              </a:tblGrid>
              <a:tr h="21590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243840">
                <a:tc>
                  <a:txBody>
                    <a:bodyPr/>
                    <a:lstStyle/>
                    <a:p>
                      <a:r>
                        <a:rPr lang="en-US" sz="1100" b="1" dirty="0" smtClean="0">
                          <a:solidFill>
                            <a:schemeClr val="bg2"/>
                          </a:solidFill>
                        </a:rPr>
                        <a:t>&gt;&gt;</a:t>
                      </a:r>
                      <a:r>
                        <a:rPr lang="en-US" sz="1100" b="1" u="sng" dirty="0" smtClean="0">
                          <a:solidFill>
                            <a:schemeClr val="bg2"/>
                          </a:solidFill>
                        </a:rPr>
                        <a:t>M</a:t>
                      </a:r>
                      <a:r>
                        <a:rPr lang="en-US" sz="1100" b="1" u="sng" baseline="0" dirty="0" smtClean="0">
                          <a:solidFill>
                            <a:schemeClr val="bg2"/>
                          </a:solidFill>
                        </a:rPr>
                        <a:t>y Accounts</a:t>
                      </a:r>
                      <a:endParaRPr lang="en-US" sz="1100" b="1" u="sng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</a:tr>
              <a:tr h="215900">
                <a:tc>
                  <a:txBody>
                    <a:bodyPr/>
                    <a:lstStyle/>
                    <a:p>
                      <a:r>
                        <a:rPr lang="en-US" sz="1200" b="1" dirty="0" smtClean="0">
                          <a:solidFill>
                            <a:schemeClr val="bg2"/>
                          </a:solidFill>
                        </a:rPr>
                        <a:t>&gt;&gt;</a:t>
                      </a:r>
                      <a:r>
                        <a:rPr lang="en-US" sz="1200" b="1" u="sng" dirty="0" smtClean="0">
                          <a:solidFill>
                            <a:schemeClr val="bg2"/>
                          </a:solidFill>
                        </a:rPr>
                        <a:t>Profile</a:t>
                      </a:r>
                      <a:endParaRPr lang="en-US" sz="1200" b="1" u="sng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</a:tr>
              <a:tr h="215900">
                <a:tc>
                  <a:txBody>
                    <a:bodyPr/>
                    <a:lstStyle/>
                    <a:p>
                      <a:r>
                        <a:rPr lang="en-US" sz="1200" b="1" dirty="0" smtClean="0">
                          <a:solidFill>
                            <a:schemeClr val="bg2"/>
                          </a:solidFill>
                        </a:rPr>
                        <a:t>&gt;&gt;</a:t>
                      </a:r>
                      <a:r>
                        <a:rPr lang="en-US" sz="1200" b="1" u="sng" dirty="0" smtClean="0">
                          <a:solidFill>
                            <a:schemeClr val="bg2"/>
                          </a:solidFill>
                        </a:rPr>
                        <a:t>Settings</a:t>
                      </a:r>
                      <a:endParaRPr lang="en-US" sz="1200" b="1" u="sng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</a:tr>
              <a:tr h="215900">
                <a:tc>
                  <a:txBody>
                    <a:bodyPr/>
                    <a:lstStyle/>
                    <a:p>
                      <a:r>
                        <a:rPr lang="en-US" sz="1200" b="1" dirty="0" smtClean="0">
                          <a:solidFill>
                            <a:schemeClr val="bg2"/>
                          </a:solidFill>
                        </a:rPr>
                        <a:t>&gt;&gt;</a:t>
                      </a:r>
                      <a:r>
                        <a:rPr lang="en-US" sz="1200" b="1" u="sng" dirty="0" smtClean="0">
                          <a:solidFill>
                            <a:schemeClr val="bg2"/>
                          </a:solidFill>
                        </a:rPr>
                        <a:t>Change Password</a:t>
                      </a:r>
                      <a:endParaRPr lang="en-US" sz="1200" b="1" u="sng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</a:tr>
              <a:tr h="215900">
                <a:tc>
                  <a:txBody>
                    <a:bodyPr/>
                    <a:lstStyle/>
                    <a:p>
                      <a:r>
                        <a:rPr lang="en-US" sz="1200" b="1" dirty="0" smtClean="0">
                          <a:solidFill>
                            <a:schemeClr val="bg2"/>
                          </a:solidFill>
                        </a:rPr>
                        <a:t>&gt;&gt;</a:t>
                      </a:r>
                      <a:r>
                        <a:rPr lang="en-US" sz="1200" b="1" u="sng" dirty="0" smtClean="0">
                          <a:solidFill>
                            <a:schemeClr val="bg2"/>
                          </a:solidFill>
                        </a:rPr>
                        <a:t>Favorites</a:t>
                      </a:r>
                      <a:endParaRPr lang="en-US" sz="1200" b="1" u="sng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</a:tr>
              <a:tr h="215900">
                <a:tc>
                  <a:txBody>
                    <a:bodyPr/>
                    <a:lstStyle/>
                    <a:p>
                      <a:r>
                        <a:rPr lang="en-US" sz="1200" b="1" u="none" dirty="0" smtClean="0">
                          <a:solidFill>
                            <a:schemeClr val="bg2"/>
                          </a:solidFill>
                        </a:rPr>
                        <a:t>&gt;&gt;</a:t>
                      </a:r>
                      <a:r>
                        <a:rPr lang="en-US" sz="1200" b="1" u="sng" dirty="0" smtClean="0">
                          <a:solidFill>
                            <a:schemeClr val="bg2"/>
                          </a:solidFill>
                        </a:rPr>
                        <a:t> New Account</a:t>
                      </a:r>
                      <a:endParaRPr lang="en-US" sz="1200" b="1" u="sng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</a:tr>
              <a:tr h="215900">
                <a:tc>
                  <a:txBody>
                    <a:bodyPr/>
                    <a:lstStyle/>
                    <a:p>
                      <a:r>
                        <a:rPr lang="en-US" sz="1200" b="1" u="none" dirty="0" smtClean="0">
                          <a:solidFill>
                            <a:schemeClr val="bg2"/>
                          </a:solidFill>
                        </a:rPr>
                        <a:t>&gt;&gt; </a:t>
                      </a:r>
                      <a:r>
                        <a:rPr lang="en-US" sz="1200" b="1" u="sng" dirty="0" smtClean="0">
                          <a:solidFill>
                            <a:schemeClr val="bg2"/>
                          </a:solidFill>
                        </a:rPr>
                        <a:t>Loan</a:t>
                      </a:r>
                      <a:r>
                        <a:rPr lang="en-US" sz="1200" b="1" u="sng" baseline="0" dirty="0" smtClean="0">
                          <a:solidFill>
                            <a:schemeClr val="bg2"/>
                          </a:solidFill>
                        </a:rPr>
                        <a:t> Account</a:t>
                      </a:r>
                      <a:endParaRPr lang="en-US" sz="1200" b="1" u="sng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87" name="Round Single Corner Rectangle 86"/>
          <p:cNvSpPr/>
          <p:nvPr/>
        </p:nvSpPr>
        <p:spPr>
          <a:xfrm>
            <a:off x="228600" y="1371600"/>
            <a:ext cx="1524000" cy="304800"/>
          </a:xfrm>
          <a:prstGeom prst="round1Rect">
            <a:avLst>
              <a:gd name="adj" fmla="val 50000"/>
            </a:avLst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My Profile</a:t>
            </a:r>
            <a:endParaRPr lang="en-US" dirty="0"/>
          </a:p>
        </p:txBody>
      </p:sp>
      <p:sp>
        <p:nvSpPr>
          <p:cNvPr id="88" name="Round Single Corner Rectangle 87"/>
          <p:cNvSpPr/>
          <p:nvPr/>
        </p:nvSpPr>
        <p:spPr>
          <a:xfrm>
            <a:off x="3124200" y="1371600"/>
            <a:ext cx="1524001" cy="228599"/>
          </a:xfrm>
          <a:prstGeom prst="round1Rect">
            <a:avLst>
              <a:gd name="adj" fmla="val 50000"/>
            </a:avLst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Remittance</a:t>
            </a:r>
            <a:endParaRPr lang="en-US" dirty="0"/>
          </a:p>
        </p:txBody>
      </p:sp>
      <p:sp>
        <p:nvSpPr>
          <p:cNvPr id="90" name="Round Single Corner Rectangle 89"/>
          <p:cNvSpPr/>
          <p:nvPr/>
        </p:nvSpPr>
        <p:spPr>
          <a:xfrm>
            <a:off x="1752600" y="1371600"/>
            <a:ext cx="1347335" cy="228600"/>
          </a:xfrm>
          <a:prstGeom prst="round1Rect">
            <a:avLst>
              <a:gd name="adj" fmla="val 50000"/>
            </a:avLst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Bills</a:t>
            </a:r>
            <a:endParaRPr lang="en-US" dirty="0"/>
          </a:p>
        </p:txBody>
      </p:sp>
      <p:sp>
        <p:nvSpPr>
          <p:cNvPr id="91" name="Round Single Corner Rectangle 90"/>
          <p:cNvSpPr/>
          <p:nvPr/>
        </p:nvSpPr>
        <p:spPr>
          <a:xfrm>
            <a:off x="4648200" y="1371600"/>
            <a:ext cx="1524000" cy="228600"/>
          </a:xfrm>
          <a:prstGeom prst="round1Rect">
            <a:avLst>
              <a:gd name="adj" fmla="val 50000"/>
            </a:avLst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Draft/Cheque</a:t>
            </a:r>
            <a:endParaRPr lang="en-US" dirty="0"/>
          </a:p>
        </p:txBody>
      </p:sp>
      <p:cxnSp>
        <p:nvCxnSpPr>
          <p:cNvPr id="93" name="Straight Connector 92"/>
          <p:cNvCxnSpPr/>
          <p:nvPr/>
        </p:nvCxnSpPr>
        <p:spPr>
          <a:xfrm>
            <a:off x="1676400" y="1676400"/>
            <a:ext cx="7467600" cy="1588"/>
          </a:xfrm>
          <a:prstGeom prst="line">
            <a:avLst/>
          </a:prstGeom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97" name="Straight Connector 96"/>
          <p:cNvCxnSpPr/>
          <p:nvPr/>
        </p:nvCxnSpPr>
        <p:spPr>
          <a:xfrm rot="10800000">
            <a:off x="0" y="1676400"/>
            <a:ext cx="228600" cy="1588"/>
          </a:xfrm>
          <a:prstGeom prst="line">
            <a:avLst/>
          </a:prstGeom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99" name="Round Single Corner Rectangle 98"/>
          <p:cNvSpPr/>
          <p:nvPr/>
        </p:nvSpPr>
        <p:spPr>
          <a:xfrm>
            <a:off x="6172200" y="1371600"/>
            <a:ext cx="1371600" cy="228600"/>
          </a:xfrm>
          <a:prstGeom prst="round1Rect">
            <a:avLst>
              <a:gd name="adj" fmla="val 50000"/>
            </a:avLst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Utilties</a:t>
            </a:r>
            <a:endParaRPr lang="en-US" dirty="0"/>
          </a:p>
        </p:txBody>
      </p:sp>
      <p:sp>
        <p:nvSpPr>
          <p:cNvPr id="101" name="Round Single Corner Rectangle 100"/>
          <p:cNvSpPr/>
          <p:nvPr/>
        </p:nvSpPr>
        <p:spPr>
          <a:xfrm>
            <a:off x="7543800" y="1371600"/>
            <a:ext cx="1280160" cy="228600"/>
          </a:xfrm>
          <a:prstGeom prst="round1Rect">
            <a:avLst>
              <a:gd name="adj" fmla="val 50000"/>
            </a:avLst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Enquiry</a:t>
            </a:r>
            <a:endParaRPr lang="en-US" dirty="0"/>
          </a:p>
        </p:txBody>
      </p:sp>
      <p:sp>
        <p:nvSpPr>
          <p:cNvPr id="74" name="TextBox 73"/>
          <p:cNvSpPr txBox="1"/>
          <p:nvPr/>
        </p:nvSpPr>
        <p:spPr>
          <a:xfrm>
            <a:off x="2209800" y="6488668"/>
            <a:ext cx="1524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Wingdings" pitchFamily="2" charset="2"/>
              <a:buChar char="§"/>
            </a:pPr>
            <a:r>
              <a:rPr lang="en-US" sz="1200" dirty="0" smtClean="0">
                <a:solidFill>
                  <a:schemeClr val="bg2"/>
                </a:solidFill>
              </a:rPr>
              <a:t>Privacy Policy</a:t>
            </a:r>
            <a:endParaRPr lang="en-US" sz="1200" dirty="0">
              <a:solidFill>
                <a:schemeClr val="bg2"/>
              </a:solidFill>
            </a:endParaRPr>
          </a:p>
        </p:txBody>
      </p:sp>
      <p:sp>
        <p:nvSpPr>
          <p:cNvPr id="78" name="TextBox 77"/>
          <p:cNvSpPr txBox="1"/>
          <p:nvPr/>
        </p:nvSpPr>
        <p:spPr>
          <a:xfrm>
            <a:off x="3352800" y="6504801"/>
            <a:ext cx="1524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Wingdings" pitchFamily="2" charset="2"/>
              <a:buChar char="§"/>
            </a:pPr>
            <a:r>
              <a:rPr lang="en-US" sz="1200" dirty="0" smtClean="0">
                <a:solidFill>
                  <a:schemeClr val="bg2"/>
                </a:solidFill>
              </a:rPr>
              <a:t>Copyrights</a:t>
            </a:r>
            <a:endParaRPr lang="en-US" sz="1200" dirty="0">
              <a:solidFill>
                <a:schemeClr val="bg2"/>
              </a:solidFill>
            </a:endParaRPr>
          </a:p>
        </p:txBody>
      </p:sp>
      <p:sp>
        <p:nvSpPr>
          <p:cNvPr id="79" name="TextBox 78"/>
          <p:cNvSpPr txBox="1"/>
          <p:nvPr/>
        </p:nvSpPr>
        <p:spPr>
          <a:xfrm>
            <a:off x="5334000" y="6504801"/>
            <a:ext cx="1524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Wingdings" pitchFamily="2" charset="2"/>
              <a:buChar char="§"/>
            </a:pPr>
            <a:r>
              <a:rPr lang="en-US" sz="1200" dirty="0" smtClean="0">
                <a:solidFill>
                  <a:schemeClr val="bg2"/>
                </a:solidFill>
              </a:rPr>
              <a:t>Terms of Use</a:t>
            </a:r>
            <a:endParaRPr lang="en-US" sz="1200" dirty="0">
              <a:solidFill>
                <a:schemeClr val="bg2"/>
              </a:solidFill>
            </a:endParaRPr>
          </a:p>
        </p:txBody>
      </p:sp>
      <p:sp>
        <p:nvSpPr>
          <p:cNvPr id="82" name="TextBox 81"/>
          <p:cNvSpPr txBox="1"/>
          <p:nvPr/>
        </p:nvSpPr>
        <p:spPr>
          <a:xfrm>
            <a:off x="4343400" y="6504801"/>
            <a:ext cx="1524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Wingdings" pitchFamily="2" charset="2"/>
              <a:buChar char="§"/>
            </a:pPr>
            <a:r>
              <a:rPr lang="en-US" sz="1200" dirty="0" smtClean="0">
                <a:solidFill>
                  <a:schemeClr val="bg2"/>
                </a:solidFill>
              </a:rPr>
              <a:t>Disclaimers</a:t>
            </a:r>
            <a:endParaRPr lang="en-US" sz="1200" dirty="0">
              <a:solidFill>
                <a:schemeClr val="bg2"/>
              </a:solidFill>
            </a:endParaRPr>
          </a:p>
        </p:txBody>
      </p:sp>
      <p:grpSp>
        <p:nvGrpSpPr>
          <p:cNvPr id="4" name="Group 39"/>
          <p:cNvGrpSpPr>
            <a:grpSpLocks/>
          </p:cNvGrpSpPr>
          <p:nvPr/>
        </p:nvGrpSpPr>
        <p:grpSpPr bwMode="auto">
          <a:xfrm>
            <a:off x="152400" y="1752600"/>
            <a:ext cx="1676400" cy="381000"/>
            <a:chOff x="6858000" y="6324600"/>
            <a:chExt cx="2133600" cy="381000"/>
          </a:xfrm>
        </p:grpSpPr>
        <p:sp>
          <p:nvSpPr>
            <p:cNvPr id="96" name="Rectangle 95"/>
            <p:cNvSpPr/>
            <p:nvPr/>
          </p:nvSpPr>
          <p:spPr>
            <a:xfrm>
              <a:off x="6858000" y="6324600"/>
              <a:ext cx="2133600" cy="381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00" name="Rectangle 99"/>
            <p:cNvSpPr/>
            <p:nvPr/>
          </p:nvSpPr>
          <p:spPr>
            <a:xfrm>
              <a:off x="6934200" y="6400800"/>
              <a:ext cx="1524000" cy="228600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sz="1200" dirty="0" smtClean="0"/>
                <a:t>Go to </a:t>
              </a:r>
              <a:r>
                <a:rPr lang="en-US" sz="1200" dirty="0" smtClean="0">
                  <a:sym typeface="Wingdings" pitchFamily="2" charset="2"/>
                </a:rPr>
                <a:t></a:t>
              </a:r>
              <a:endParaRPr lang="en-US" sz="1200" dirty="0"/>
            </a:p>
          </p:txBody>
        </p:sp>
        <p:sp>
          <p:nvSpPr>
            <p:cNvPr id="102" name="Rounded Rectangle 101"/>
            <p:cNvSpPr/>
            <p:nvPr/>
          </p:nvSpPr>
          <p:spPr>
            <a:xfrm>
              <a:off x="8409709" y="6400800"/>
              <a:ext cx="484909" cy="228600"/>
            </a:xfrm>
            <a:prstGeom prst="roundRect">
              <a:avLst/>
            </a:prstGeom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sz="1050" dirty="0"/>
                <a:t>GO</a:t>
              </a:r>
            </a:p>
          </p:txBody>
        </p:sp>
      </p:grpSp>
      <p:grpSp>
        <p:nvGrpSpPr>
          <p:cNvPr id="5" name="Group 43"/>
          <p:cNvGrpSpPr>
            <a:grpSpLocks/>
          </p:cNvGrpSpPr>
          <p:nvPr/>
        </p:nvGrpSpPr>
        <p:grpSpPr bwMode="auto">
          <a:xfrm>
            <a:off x="7162800" y="1752600"/>
            <a:ext cx="1828800" cy="2057400"/>
            <a:chOff x="6715760" y="2209800"/>
            <a:chExt cx="2275840" cy="2220686"/>
          </a:xfrm>
        </p:grpSpPr>
        <p:sp>
          <p:nvSpPr>
            <p:cNvPr id="107" name="Rectangle 106"/>
            <p:cNvSpPr/>
            <p:nvPr/>
          </p:nvSpPr>
          <p:spPr>
            <a:xfrm>
              <a:off x="6715760" y="2525939"/>
              <a:ext cx="2275840" cy="190454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108" name="Rectangle 107"/>
            <p:cNvSpPr/>
            <p:nvPr/>
          </p:nvSpPr>
          <p:spPr>
            <a:xfrm>
              <a:off x="6715760" y="2209800"/>
              <a:ext cx="2275840" cy="304574"/>
            </a:xfrm>
            <a:prstGeom prst="rect">
              <a:avLst/>
            </a:prstGeom>
          </p:spPr>
          <p:style>
            <a:lnRef idx="1">
              <a:schemeClr val="accent5"/>
            </a:lnRef>
            <a:fillRef idx="3">
              <a:schemeClr val="accent5"/>
            </a:fillRef>
            <a:effectRef idx="2">
              <a:schemeClr val="accent5"/>
            </a:effectRef>
            <a:fontRef idx="minor">
              <a:schemeClr val="lt1"/>
            </a:fontRef>
          </p:style>
          <p:txBody>
            <a:bodyPr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600" dirty="0"/>
                <a:t>Login Information</a:t>
              </a:r>
            </a:p>
          </p:txBody>
        </p:sp>
      </p:grpSp>
      <p:sp>
        <p:nvSpPr>
          <p:cNvPr id="109" name="TextBox 71"/>
          <p:cNvSpPr txBox="1">
            <a:spLocks noChangeArrowheads="1"/>
          </p:cNvSpPr>
          <p:nvPr/>
        </p:nvSpPr>
        <p:spPr bwMode="auto">
          <a:xfrm>
            <a:off x="7239000" y="2971800"/>
            <a:ext cx="1752600" cy="830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1600" dirty="0" smtClean="0"/>
              <a:t>Last </a:t>
            </a:r>
            <a:r>
              <a:rPr lang="en-US" sz="1600" dirty="0"/>
              <a:t>login:</a:t>
            </a:r>
            <a:r>
              <a:rPr lang="en-US" dirty="0"/>
              <a:t/>
            </a:r>
            <a:br>
              <a:rPr lang="en-US" dirty="0"/>
            </a:br>
            <a:r>
              <a:rPr lang="en-US" sz="1600" dirty="0"/>
              <a:t>24 March,2008</a:t>
            </a:r>
          </a:p>
          <a:p>
            <a:r>
              <a:rPr lang="en-US" sz="1600" dirty="0"/>
              <a:t>Time : 14:50 Hrs</a:t>
            </a:r>
          </a:p>
        </p:txBody>
      </p:sp>
      <p:sp>
        <p:nvSpPr>
          <p:cNvPr id="110" name="TextBox 73"/>
          <p:cNvSpPr txBox="1">
            <a:spLocks noChangeArrowheads="1"/>
          </p:cNvSpPr>
          <p:nvPr/>
        </p:nvSpPr>
        <p:spPr bwMode="auto">
          <a:xfrm>
            <a:off x="7239000" y="2133600"/>
            <a:ext cx="1676400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400" dirty="0" smtClean="0"/>
              <a:t>Welcome</a:t>
            </a:r>
          </a:p>
          <a:p>
            <a:r>
              <a:rPr lang="en-US" sz="1400" dirty="0" smtClean="0"/>
              <a:t>Mr. Karan Jain</a:t>
            </a:r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46" name="TextBox 45"/>
          <p:cNvSpPr txBox="1"/>
          <p:nvPr/>
        </p:nvSpPr>
        <p:spPr>
          <a:xfrm>
            <a:off x="1981200" y="1752600"/>
            <a:ext cx="28194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chemeClr val="bg2"/>
                </a:solidFill>
              </a:rPr>
              <a:t>Settings</a:t>
            </a:r>
          </a:p>
          <a:p>
            <a:r>
              <a:rPr lang="en-US" sz="1100" u="sng" dirty="0" smtClean="0">
                <a:solidFill>
                  <a:schemeClr val="accent1"/>
                </a:solidFill>
              </a:rPr>
              <a:t>My Profile</a:t>
            </a:r>
            <a:r>
              <a:rPr lang="en-US" sz="1100" dirty="0" smtClean="0">
                <a:solidFill>
                  <a:schemeClr val="accent1"/>
                </a:solidFill>
              </a:rPr>
              <a:t>  &gt; Settings</a:t>
            </a:r>
            <a:endParaRPr lang="en-US" sz="1100" dirty="0">
              <a:solidFill>
                <a:schemeClr val="accent1"/>
              </a:solidFill>
            </a:endParaRPr>
          </a:p>
        </p:txBody>
      </p:sp>
      <p:sp>
        <p:nvSpPr>
          <p:cNvPr id="49" name="Round Same Side Corner Rectangle 48"/>
          <p:cNvSpPr/>
          <p:nvPr/>
        </p:nvSpPr>
        <p:spPr>
          <a:xfrm>
            <a:off x="1981200" y="2362200"/>
            <a:ext cx="1524000" cy="228600"/>
          </a:xfrm>
          <a:prstGeom prst="round2SameRect">
            <a:avLst/>
          </a:prstGeom>
          <a:solidFill>
            <a:schemeClr val="tx1">
              <a:lumMod val="50000"/>
            </a:schemeClr>
          </a:solidFill>
          <a:ln>
            <a:solidFill>
              <a:schemeClr val="tx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Add/Del A/c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0" name="Round Same Side Corner Rectangle 49"/>
          <p:cNvSpPr/>
          <p:nvPr/>
        </p:nvSpPr>
        <p:spPr>
          <a:xfrm>
            <a:off x="3581400" y="2362200"/>
            <a:ext cx="1447800" cy="228600"/>
          </a:xfrm>
          <a:prstGeom prst="round2SameRect">
            <a:avLst/>
          </a:prstGeom>
          <a:solidFill>
            <a:schemeClr val="tx1">
              <a:lumMod val="85000"/>
            </a:schemeClr>
          </a:solidFill>
          <a:ln>
            <a:solidFill>
              <a:schemeClr val="tx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bg1"/>
                </a:solidFill>
              </a:rPr>
              <a:t>Add/Del Biller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51" name="Round Same Side Corner Rectangle 50"/>
          <p:cNvSpPr/>
          <p:nvPr/>
        </p:nvSpPr>
        <p:spPr>
          <a:xfrm>
            <a:off x="5105400" y="2362200"/>
            <a:ext cx="1905000" cy="228600"/>
          </a:xfrm>
          <a:prstGeom prst="round2SameRect">
            <a:avLst/>
          </a:prstGeom>
          <a:solidFill>
            <a:schemeClr val="tx1">
              <a:lumMod val="85000"/>
            </a:schemeClr>
          </a:solidFill>
          <a:ln>
            <a:solidFill>
              <a:schemeClr val="tx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bg1"/>
                </a:solidFill>
              </a:rPr>
              <a:t>Change security Level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1905000" y="2590800"/>
            <a:ext cx="5181600" cy="1600200"/>
          </a:xfrm>
          <a:prstGeom prst="rect">
            <a:avLst/>
          </a:prstGeom>
          <a:solidFill>
            <a:schemeClr val="accent1"/>
          </a:solidFill>
          <a:ln>
            <a:solidFill>
              <a:schemeClr val="tx1">
                <a:lumMod val="6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TextBox 52"/>
          <p:cNvSpPr txBox="1"/>
          <p:nvPr/>
        </p:nvSpPr>
        <p:spPr>
          <a:xfrm>
            <a:off x="2133600" y="2819401"/>
            <a:ext cx="3352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bg2"/>
                </a:solidFill>
              </a:rPr>
              <a:t>Action</a:t>
            </a:r>
          </a:p>
          <a:p>
            <a:r>
              <a:rPr lang="en-US" dirty="0" smtClean="0">
                <a:solidFill>
                  <a:schemeClr val="bg2"/>
                </a:solidFill>
              </a:rPr>
              <a:t>  </a:t>
            </a:r>
            <a:endParaRPr lang="en-US" dirty="0">
              <a:solidFill>
                <a:schemeClr val="bg2"/>
              </a:solidFill>
            </a:endParaRPr>
          </a:p>
        </p:txBody>
      </p:sp>
      <p:sp>
        <p:nvSpPr>
          <p:cNvPr id="54" name="Rectangle 53"/>
          <p:cNvSpPr/>
          <p:nvPr/>
        </p:nvSpPr>
        <p:spPr bwMode="auto">
          <a:xfrm>
            <a:off x="3581400" y="2895600"/>
            <a:ext cx="1447800" cy="2286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>
                <a:solidFill>
                  <a:schemeClr val="bg1"/>
                </a:solidFill>
              </a:rPr>
              <a:t>Add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55" name="Rectangle 54"/>
          <p:cNvSpPr/>
          <p:nvPr/>
        </p:nvSpPr>
        <p:spPr>
          <a:xfrm>
            <a:off x="5029200" y="2895600"/>
            <a:ext cx="304800" cy="2286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 smtClean="0">
                <a:solidFill>
                  <a:schemeClr val="bg2"/>
                </a:solidFill>
              </a:rPr>
              <a:t>\/</a:t>
            </a:r>
            <a:endParaRPr lang="en-US" sz="1000" b="1" dirty="0">
              <a:solidFill>
                <a:schemeClr val="bg2"/>
              </a:solidFill>
            </a:endParaRPr>
          </a:p>
        </p:txBody>
      </p:sp>
      <p:sp>
        <p:nvSpPr>
          <p:cNvPr id="57" name="Rectangle 56"/>
          <p:cNvSpPr/>
          <p:nvPr/>
        </p:nvSpPr>
        <p:spPr bwMode="auto">
          <a:xfrm>
            <a:off x="3581400" y="3276600"/>
            <a:ext cx="1447800" cy="2286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2133600" y="3200400"/>
            <a:ext cx="1676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bg2"/>
                </a:solidFill>
              </a:rPr>
              <a:t>Account No:  </a:t>
            </a:r>
          </a:p>
          <a:p>
            <a:endParaRPr lang="en-US" dirty="0"/>
          </a:p>
        </p:txBody>
      </p:sp>
      <p:sp>
        <p:nvSpPr>
          <p:cNvPr id="59" name="Rounded Rectangle 58"/>
          <p:cNvSpPr/>
          <p:nvPr/>
        </p:nvSpPr>
        <p:spPr>
          <a:xfrm>
            <a:off x="2819400" y="3733800"/>
            <a:ext cx="1143000" cy="228600"/>
          </a:xfrm>
          <a:prstGeom prst="round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Submit</a:t>
            </a:r>
            <a:endParaRPr lang="en-US" dirty="0"/>
          </a:p>
        </p:txBody>
      </p:sp>
      <p:sp>
        <p:nvSpPr>
          <p:cNvPr id="60" name="Rounded Rectangle 59"/>
          <p:cNvSpPr/>
          <p:nvPr/>
        </p:nvSpPr>
        <p:spPr>
          <a:xfrm>
            <a:off x="4572000" y="3733800"/>
            <a:ext cx="1066800" cy="228600"/>
          </a:xfrm>
          <a:prstGeom prst="round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Reset</a:t>
            </a:r>
            <a:endParaRPr lang="en-US" dirty="0"/>
          </a:p>
        </p:txBody>
      </p:sp>
      <p:sp>
        <p:nvSpPr>
          <p:cNvPr id="63" name="Rectangle 62"/>
          <p:cNvSpPr/>
          <p:nvPr/>
        </p:nvSpPr>
        <p:spPr>
          <a:xfrm>
            <a:off x="3276600" y="0"/>
            <a:ext cx="5867400" cy="82296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4" name="Rectangle 63"/>
          <p:cNvSpPr/>
          <p:nvPr/>
        </p:nvSpPr>
        <p:spPr>
          <a:xfrm>
            <a:off x="0" y="838200"/>
            <a:ext cx="9144000" cy="228600"/>
          </a:xfrm>
          <a:prstGeom prst="rect">
            <a:avLst/>
          </a:prstGeom>
          <a:solidFill>
            <a:schemeClr val="tx1">
              <a:lumMod val="85000"/>
            </a:schemeClr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00" dirty="0">
                <a:solidFill>
                  <a:schemeClr val="bg2"/>
                </a:solidFill>
              </a:rPr>
              <a:t>Home	</a:t>
            </a:r>
            <a:r>
              <a:rPr lang="en-US" sz="1400" dirty="0" smtClean="0">
                <a:solidFill>
                  <a:schemeClr val="bg2"/>
                </a:solidFill>
              </a:rPr>
              <a:t>Product and Services              </a:t>
            </a:r>
            <a:r>
              <a:rPr lang="en-US" sz="1400" dirty="0" smtClean="0">
                <a:solidFill>
                  <a:schemeClr val="bg2"/>
                </a:solidFill>
              </a:rPr>
              <a:t>Downloads                    Contact Us               Help</a:t>
            </a:r>
            <a:endParaRPr lang="en-US" sz="1400" dirty="0">
              <a:solidFill>
                <a:schemeClr val="bg2"/>
              </a:solidFill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0" y="0"/>
            <a:ext cx="9144000" cy="830997"/>
          </a:xfrm>
          <a:prstGeom prst="rect">
            <a:avLst/>
          </a:prstGeom>
          <a:scene3d>
            <a:camera prst="orthographicFront">
              <a:rot lat="0" lon="0" rev="0"/>
            </a:camera>
            <a:lightRig rig="brightRoom" dir="t"/>
          </a:scene3d>
          <a:sp3d>
            <a:bevelT w="63500" h="254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2400" b="1" dirty="0">
              <a:latin typeface="+mj-lt"/>
              <a:cs typeface="Tahoma" pitchFamily="34" charset="0"/>
            </a:endParaRP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2400" b="1" dirty="0">
              <a:latin typeface="+mj-lt"/>
              <a:cs typeface="Tahoma" pitchFamily="34" charset="0"/>
            </a:endParaRPr>
          </a:p>
        </p:txBody>
      </p:sp>
      <p:pic>
        <p:nvPicPr>
          <p:cNvPr id="67" name="Picture 7" descr="world.png"/>
          <p:cNvPicPr>
            <a:picLocks noChangeAspect="1"/>
          </p:cNvPicPr>
          <p:nvPr/>
        </p:nvPicPr>
        <p:blipFill>
          <a:blip r:embed="rId2">
            <a:lum bright="-60000" contrast="-100000"/>
          </a:blip>
          <a:srcRect/>
          <a:stretch>
            <a:fillRect/>
          </a:stretch>
        </p:blipFill>
        <p:spPr bwMode="auto">
          <a:xfrm>
            <a:off x="3352800" y="0"/>
            <a:ext cx="1609725" cy="809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8" name="TextBox 53"/>
          <p:cNvSpPr txBox="1">
            <a:spLocks noChangeArrowheads="1"/>
          </p:cNvSpPr>
          <p:nvPr/>
        </p:nvSpPr>
        <p:spPr bwMode="auto">
          <a:xfrm>
            <a:off x="2743200" y="152400"/>
            <a:ext cx="3124200" cy="430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2200" b="1" dirty="0">
                <a:latin typeface="Calibri" pitchFamily="34" charset="0"/>
              </a:rPr>
              <a:t>Internet Banking System</a:t>
            </a:r>
          </a:p>
        </p:txBody>
      </p:sp>
      <p:grpSp>
        <p:nvGrpSpPr>
          <p:cNvPr id="69" name="Group 77"/>
          <p:cNvGrpSpPr/>
          <p:nvPr/>
        </p:nvGrpSpPr>
        <p:grpSpPr>
          <a:xfrm>
            <a:off x="7162800" y="457200"/>
            <a:ext cx="1828800" cy="228600"/>
            <a:chOff x="7162800" y="533400"/>
            <a:chExt cx="1828800" cy="228600"/>
          </a:xfrm>
        </p:grpSpPr>
        <p:sp>
          <p:nvSpPr>
            <p:cNvPr id="71" name="Rectangle 70"/>
            <p:cNvSpPr/>
            <p:nvPr/>
          </p:nvSpPr>
          <p:spPr>
            <a:xfrm>
              <a:off x="7162800" y="533400"/>
              <a:ext cx="1295400" cy="228600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400" dirty="0">
                  <a:solidFill>
                    <a:schemeClr val="bg1"/>
                  </a:solidFill>
                </a:rPr>
                <a:t>Search</a:t>
              </a:r>
              <a:r>
                <a:rPr lang="en-US" dirty="0"/>
                <a:t> </a:t>
              </a:r>
            </a:p>
          </p:txBody>
        </p:sp>
        <p:sp>
          <p:nvSpPr>
            <p:cNvPr id="73" name="Rounded Rectangle 72"/>
            <p:cNvSpPr/>
            <p:nvPr/>
          </p:nvSpPr>
          <p:spPr>
            <a:xfrm>
              <a:off x="8534400" y="533400"/>
              <a:ext cx="457200" cy="228600"/>
            </a:xfrm>
            <a:prstGeom prst="roundRect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400" dirty="0">
                  <a:ln>
                    <a:solidFill>
                      <a:schemeClr val="accent1">
                        <a:shade val="50000"/>
                      </a:schemeClr>
                    </a:solidFill>
                  </a:ln>
                  <a:solidFill>
                    <a:schemeClr val="bg1"/>
                  </a:solidFill>
                </a:rPr>
                <a:t>GO</a:t>
              </a:r>
            </a:p>
          </p:txBody>
        </p:sp>
      </p:grpSp>
      <p:sp>
        <p:nvSpPr>
          <p:cNvPr id="81" name="Rounded Rectangle 80"/>
          <p:cNvSpPr/>
          <p:nvPr/>
        </p:nvSpPr>
        <p:spPr>
          <a:xfrm>
            <a:off x="7848600" y="838200"/>
            <a:ext cx="1219200" cy="228600"/>
          </a:xfrm>
          <a:prstGeom prst="round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/>
              <a:t>Log out</a:t>
            </a:r>
            <a:endParaRPr lang="en-US" sz="1600" dirty="0"/>
          </a:p>
        </p:txBody>
      </p:sp>
      <p:sp>
        <p:nvSpPr>
          <p:cNvPr id="83" name="Rectangle 82"/>
          <p:cNvSpPr/>
          <p:nvPr/>
        </p:nvSpPr>
        <p:spPr>
          <a:xfrm>
            <a:off x="0" y="1066800"/>
            <a:ext cx="9144000" cy="228600"/>
          </a:xfrm>
          <a:prstGeom prst="rect">
            <a:avLst/>
          </a:prstGeom>
          <a:ln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dirty="0"/>
              <a:t>               </a:t>
            </a:r>
            <a:r>
              <a:rPr lang="en-US" sz="1600" dirty="0">
                <a:solidFill>
                  <a:schemeClr val="tx1"/>
                </a:solidFill>
              </a:rPr>
              <a:t>&lt;---Presenting the new era of Banking                        &lt;---The front end has completed..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7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0" fill="hold"/>
                                        <p:tgtEl>
                                          <p:spTgt spid="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0" fill="hold"/>
                                        <p:tgtEl>
                                          <p:spTgt spid="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Rectangle 97"/>
          <p:cNvSpPr/>
          <p:nvPr/>
        </p:nvSpPr>
        <p:spPr>
          <a:xfrm>
            <a:off x="0" y="1752600"/>
            <a:ext cx="9144000" cy="51054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Lil</a:t>
            </a:r>
            <a:endParaRPr lang="en-US" dirty="0"/>
          </a:p>
        </p:txBody>
      </p:sp>
      <p:sp>
        <p:nvSpPr>
          <p:cNvPr id="56" name="Rectangle 55"/>
          <p:cNvSpPr/>
          <p:nvPr/>
        </p:nvSpPr>
        <p:spPr>
          <a:xfrm>
            <a:off x="91440" y="1828800"/>
            <a:ext cx="1737360" cy="4800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graphicFrame>
        <p:nvGraphicFramePr>
          <p:cNvPr id="72" name="Table 71"/>
          <p:cNvGraphicFramePr>
            <a:graphicFrameLocks noGrp="1"/>
          </p:cNvGraphicFramePr>
          <p:nvPr/>
        </p:nvGraphicFramePr>
        <p:xfrm>
          <a:off x="152400" y="1905000"/>
          <a:ext cx="1600200" cy="2270760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1600200"/>
              </a:tblGrid>
              <a:tr h="21590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243840">
                <a:tc>
                  <a:txBody>
                    <a:bodyPr/>
                    <a:lstStyle/>
                    <a:p>
                      <a:r>
                        <a:rPr lang="en-US" sz="1100" b="1" dirty="0" smtClean="0">
                          <a:solidFill>
                            <a:schemeClr val="bg2"/>
                          </a:solidFill>
                        </a:rPr>
                        <a:t>&gt;&gt;</a:t>
                      </a:r>
                      <a:r>
                        <a:rPr lang="en-US" sz="1100" b="1" u="sng" dirty="0" smtClean="0">
                          <a:solidFill>
                            <a:schemeClr val="bg2"/>
                          </a:solidFill>
                        </a:rPr>
                        <a:t>M</a:t>
                      </a:r>
                      <a:r>
                        <a:rPr lang="en-US" sz="1100" b="1" u="sng" baseline="0" dirty="0" smtClean="0">
                          <a:solidFill>
                            <a:schemeClr val="bg2"/>
                          </a:solidFill>
                        </a:rPr>
                        <a:t>y Accounts</a:t>
                      </a:r>
                      <a:endParaRPr lang="en-US" sz="1100" b="1" u="sng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</a:tr>
              <a:tr h="215900">
                <a:tc>
                  <a:txBody>
                    <a:bodyPr/>
                    <a:lstStyle/>
                    <a:p>
                      <a:r>
                        <a:rPr lang="en-US" sz="1200" b="1" dirty="0" smtClean="0">
                          <a:solidFill>
                            <a:schemeClr val="bg2"/>
                          </a:solidFill>
                        </a:rPr>
                        <a:t>&gt;&gt;</a:t>
                      </a:r>
                      <a:r>
                        <a:rPr lang="en-US" sz="1200" b="1" u="sng" dirty="0" smtClean="0">
                          <a:solidFill>
                            <a:schemeClr val="bg2"/>
                          </a:solidFill>
                        </a:rPr>
                        <a:t>Profile</a:t>
                      </a:r>
                      <a:endParaRPr lang="en-US" sz="1200" b="1" u="sng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</a:tr>
              <a:tr h="215900">
                <a:tc>
                  <a:txBody>
                    <a:bodyPr/>
                    <a:lstStyle/>
                    <a:p>
                      <a:r>
                        <a:rPr lang="en-US" sz="1200" b="1" dirty="0" smtClean="0">
                          <a:solidFill>
                            <a:schemeClr val="bg2"/>
                          </a:solidFill>
                        </a:rPr>
                        <a:t>&gt;&gt;</a:t>
                      </a:r>
                      <a:r>
                        <a:rPr lang="en-US" sz="1200" b="1" u="sng" dirty="0" smtClean="0">
                          <a:solidFill>
                            <a:schemeClr val="bg2"/>
                          </a:solidFill>
                        </a:rPr>
                        <a:t>Settings</a:t>
                      </a:r>
                      <a:endParaRPr lang="en-US" sz="1200" b="1" u="sng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</a:tr>
              <a:tr h="215900">
                <a:tc>
                  <a:txBody>
                    <a:bodyPr/>
                    <a:lstStyle/>
                    <a:p>
                      <a:r>
                        <a:rPr lang="en-US" sz="1200" b="1" dirty="0" smtClean="0">
                          <a:solidFill>
                            <a:schemeClr val="bg2"/>
                          </a:solidFill>
                        </a:rPr>
                        <a:t>&gt;&gt;</a:t>
                      </a:r>
                      <a:r>
                        <a:rPr lang="en-US" sz="1200" b="1" u="sng" dirty="0" smtClean="0">
                          <a:solidFill>
                            <a:schemeClr val="bg2"/>
                          </a:solidFill>
                        </a:rPr>
                        <a:t>Change Password</a:t>
                      </a:r>
                      <a:endParaRPr lang="en-US" sz="1200" b="1" u="sng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</a:tr>
              <a:tr h="215900">
                <a:tc>
                  <a:txBody>
                    <a:bodyPr/>
                    <a:lstStyle/>
                    <a:p>
                      <a:r>
                        <a:rPr lang="en-US" sz="1200" b="1" dirty="0" smtClean="0">
                          <a:solidFill>
                            <a:schemeClr val="bg2"/>
                          </a:solidFill>
                        </a:rPr>
                        <a:t>&gt;&gt;</a:t>
                      </a:r>
                      <a:r>
                        <a:rPr lang="en-US" sz="1200" b="1" u="sng" dirty="0" smtClean="0">
                          <a:solidFill>
                            <a:schemeClr val="bg2"/>
                          </a:solidFill>
                        </a:rPr>
                        <a:t>Favorites</a:t>
                      </a:r>
                      <a:endParaRPr lang="en-US" sz="1200" b="1" u="sng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</a:tr>
              <a:tr h="215900">
                <a:tc>
                  <a:txBody>
                    <a:bodyPr/>
                    <a:lstStyle/>
                    <a:p>
                      <a:r>
                        <a:rPr lang="en-US" sz="1200" b="1" u="none" dirty="0" smtClean="0">
                          <a:solidFill>
                            <a:schemeClr val="bg2"/>
                          </a:solidFill>
                        </a:rPr>
                        <a:t>&gt;&gt;</a:t>
                      </a:r>
                      <a:r>
                        <a:rPr lang="en-US" sz="1200" b="1" u="sng" dirty="0" smtClean="0">
                          <a:solidFill>
                            <a:schemeClr val="bg2"/>
                          </a:solidFill>
                        </a:rPr>
                        <a:t> New Account</a:t>
                      </a:r>
                      <a:endParaRPr lang="en-US" sz="1200" b="1" u="sng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</a:tr>
              <a:tr h="215900">
                <a:tc>
                  <a:txBody>
                    <a:bodyPr/>
                    <a:lstStyle/>
                    <a:p>
                      <a:r>
                        <a:rPr lang="en-US" sz="1200" b="1" u="none" dirty="0" smtClean="0">
                          <a:solidFill>
                            <a:schemeClr val="bg2"/>
                          </a:solidFill>
                        </a:rPr>
                        <a:t>&gt;&gt; </a:t>
                      </a:r>
                      <a:r>
                        <a:rPr lang="en-US" sz="1200" b="1" u="sng" dirty="0" smtClean="0">
                          <a:solidFill>
                            <a:schemeClr val="bg2"/>
                          </a:solidFill>
                        </a:rPr>
                        <a:t>Loan</a:t>
                      </a:r>
                      <a:r>
                        <a:rPr lang="en-US" sz="1200" b="1" u="sng" baseline="0" dirty="0" smtClean="0">
                          <a:solidFill>
                            <a:schemeClr val="bg2"/>
                          </a:solidFill>
                        </a:rPr>
                        <a:t> Account</a:t>
                      </a:r>
                      <a:endParaRPr lang="en-US" sz="1200" b="1" u="sng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87" name="Round Single Corner Rectangle 86"/>
          <p:cNvSpPr/>
          <p:nvPr/>
        </p:nvSpPr>
        <p:spPr>
          <a:xfrm>
            <a:off x="228600" y="1447800"/>
            <a:ext cx="1524000" cy="304800"/>
          </a:xfrm>
          <a:prstGeom prst="round1Rect">
            <a:avLst>
              <a:gd name="adj" fmla="val 50000"/>
            </a:avLst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My Profile</a:t>
            </a:r>
            <a:endParaRPr lang="en-US" dirty="0"/>
          </a:p>
        </p:txBody>
      </p:sp>
      <p:sp>
        <p:nvSpPr>
          <p:cNvPr id="88" name="Round Single Corner Rectangle 87"/>
          <p:cNvSpPr/>
          <p:nvPr/>
        </p:nvSpPr>
        <p:spPr>
          <a:xfrm>
            <a:off x="3124200" y="1447800"/>
            <a:ext cx="1524001" cy="228599"/>
          </a:xfrm>
          <a:prstGeom prst="round1Rect">
            <a:avLst>
              <a:gd name="adj" fmla="val 50000"/>
            </a:avLst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Remittance</a:t>
            </a:r>
            <a:endParaRPr lang="en-US" dirty="0"/>
          </a:p>
        </p:txBody>
      </p:sp>
      <p:sp>
        <p:nvSpPr>
          <p:cNvPr id="90" name="Round Single Corner Rectangle 89"/>
          <p:cNvSpPr/>
          <p:nvPr/>
        </p:nvSpPr>
        <p:spPr>
          <a:xfrm>
            <a:off x="1752600" y="1447800"/>
            <a:ext cx="1347335" cy="228600"/>
          </a:xfrm>
          <a:prstGeom prst="round1Rect">
            <a:avLst>
              <a:gd name="adj" fmla="val 50000"/>
            </a:avLst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Bills</a:t>
            </a:r>
            <a:endParaRPr lang="en-US" dirty="0"/>
          </a:p>
        </p:txBody>
      </p:sp>
      <p:sp>
        <p:nvSpPr>
          <p:cNvPr id="91" name="Round Single Corner Rectangle 90"/>
          <p:cNvSpPr/>
          <p:nvPr/>
        </p:nvSpPr>
        <p:spPr>
          <a:xfrm>
            <a:off x="4648200" y="1447800"/>
            <a:ext cx="1524000" cy="228600"/>
          </a:xfrm>
          <a:prstGeom prst="round1Rect">
            <a:avLst>
              <a:gd name="adj" fmla="val 50000"/>
            </a:avLst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Draft/Cheque</a:t>
            </a:r>
            <a:endParaRPr lang="en-US" dirty="0"/>
          </a:p>
        </p:txBody>
      </p:sp>
      <p:cxnSp>
        <p:nvCxnSpPr>
          <p:cNvPr id="93" name="Straight Connector 92"/>
          <p:cNvCxnSpPr/>
          <p:nvPr/>
        </p:nvCxnSpPr>
        <p:spPr>
          <a:xfrm>
            <a:off x="1676400" y="1752600"/>
            <a:ext cx="7467600" cy="1588"/>
          </a:xfrm>
          <a:prstGeom prst="line">
            <a:avLst/>
          </a:prstGeom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97" name="Straight Connector 96"/>
          <p:cNvCxnSpPr/>
          <p:nvPr/>
        </p:nvCxnSpPr>
        <p:spPr>
          <a:xfrm rot="10800000">
            <a:off x="0" y="1752600"/>
            <a:ext cx="228600" cy="1588"/>
          </a:xfrm>
          <a:prstGeom prst="line">
            <a:avLst/>
          </a:prstGeom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99" name="Round Single Corner Rectangle 98"/>
          <p:cNvSpPr/>
          <p:nvPr/>
        </p:nvSpPr>
        <p:spPr>
          <a:xfrm>
            <a:off x="6172200" y="1447800"/>
            <a:ext cx="1371600" cy="228600"/>
          </a:xfrm>
          <a:prstGeom prst="round1Rect">
            <a:avLst>
              <a:gd name="adj" fmla="val 50000"/>
            </a:avLst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Utilties</a:t>
            </a:r>
            <a:endParaRPr lang="en-US" dirty="0"/>
          </a:p>
        </p:txBody>
      </p:sp>
      <p:sp>
        <p:nvSpPr>
          <p:cNvPr id="101" name="Round Single Corner Rectangle 100"/>
          <p:cNvSpPr/>
          <p:nvPr/>
        </p:nvSpPr>
        <p:spPr>
          <a:xfrm>
            <a:off x="7543800" y="1447800"/>
            <a:ext cx="1280160" cy="228600"/>
          </a:xfrm>
          <a:prstGeom prst="round1Rect">
            <a:avLst>
              <a:gd name="adj" fmla="val 50000"/>
            </a:avLst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Enquiry</a:t>
            </a:r>
            <a:endParaRPr lang="en-US" dirty="0"/>
          </a:p>
        </p:txBody>
      </p:sp>
      <p:sp>
        <p:nvSpPr>
          <p:cNvPr id="74" name="TextBox 73"/>
          <p:cNvSpPr txBox="1"/>
          <p:nvPr/>
        </p:nvSpPr>
        <p:spPr>
          <a:xfrm>
            <a:off x="2209800" y="6564868"/>
            <a:ext cx="1524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Wingdings" pitchFamily="2" charset="2"/>
              <a:buChar char="§"/>
            </a:pPr>
            <a:r>
              <a:rPr lang="en-US" sz="1200" dirty="0" smtClean="0">
                <a:solidFill>
                  <a:schemeClr val="bg2"/>
                </a:solidFill>
              </a:rPr>
              <a:t>Privacy Policy</a:t>
            </a:r>
            <a:endParaRPr lang="en-US" sz="1200" dirty="0">
              <a:solidFill>
                <a:schemeClr val="bg2"/>
              </a:solidFill>
            </a:endParaRPr>
          </a:p>
        </p:txBody>
      </p:sp>
      <p:sp>
        <p:nvSpPr>
          <p:cNvPr id="78" name="TextBox 77"/>
          <p:cNvSpPr txBox="1"/>
          <p:nvPr/>
        </p:nvSpPr>
        <p:spPr>
          <a:xfrm>
            <a:off x="3352800" y="6581001"/>
            <a:ext cx="1524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Wingdings" pitchFamily="2" charset="2"/>
              <a:buChar char="§"/>
            </a:pPr>
            <a:r>
              <a:rPr lang="en-US" sz="1200" dirty="0" smtClean="0">
                <a:solidFill>
                  <a:schemeClr val="bg2"/>
                </a:solidFill>
              </a:rPr>
              <a:t>Copyrights</a:t>
            </a:r>
            <a:endParaRPr lang="en-US" sz="1200" dirty="0">
              <a:solidFill>
                <a:schemeClr val="bg2"/>
              </a:solidFill>
            </a:endParaRPr>
          </a:p>
        </p:txBody>
      </p:sp>
      <p:sp>
        <p:nvSpPr>
          <p:cNvPr id="79" name="TextBox 78"/>
          <p:cNvSpPr txBox="1"/>
          <p:nvPr/>
        </p:nvSpPr>
        <p:spPr>
          <a:xfrm>
            <a:off x="5334000" y="6581001"/>
            <a:ext cx="1524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Wingdings" pitchFamily="2" charset="2"/>
              <a:buChar char="§"/>
            </a:pPr>
            <a:r>
              <a:rPr lang="en-US" sz="1200" dirty="0" smtClean="0">
                <a:solidFill>
                  <a:schemeClr val="bg2"/>
                </a:solidFill>
              </a:rPr>
              <a:t>Terms of Use</a:t>
            </a:r>
            <a:endParaRPr lang="en-US" sz="1200" dirty="0">
              <a:solidFill>
                <a:schemeClr val="bg2"/>
              </a:solidFill>
            </a:endParaRPr>
          </a:p>
        </p:txBody>
      </p:sp>
      <p:sp>
        <p:nvSpPr>
          <p:cNvPr id="82" name="TextBox 81"/>
          <p:cNvSpPr txBox="1"/>
          <p:nvPr/>
        </p:nvSpPr>
        <p:spPr>
          <a:xfrm>
            <a:off x="4343400" y="6581001"/>
            <a:ext cx="1524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Wingdings" pitchFamily="2" charset="2"/>
              <a:buChar char="§"/>
            </a:pPr>
            <a:r>
              <a:rPr lang="en-US" sz="1200" dirty="0" smtClean="0">
                <a:solidFill>
                  <a:schemeClr val="bg2"/>
                </a:solidFill>
              </a:rPr>
              <a:t>Disclaimers</a:t>
            </a:r>
            <a:endParaRPr lang="en-US" sz="1200" dirty="0">
              <a:solidFill>
                <a:schemeClr val="bg2"/>
              </a:solidFill>
            </a:endParaRPr>
          </a:p>
        </p:txBody>
      </p:sp>
      <p:grpSp>
        <p:nvGrpSpPr>
          <p:cNvPr id="2" name="Group 39"/>
          <p:cNvGrpSpPr>
            <a:grpSpLocks/>
          </p:cNvGrpSpPr>
          <p:nvPr/>
        </p:nvGrpSpPr>
        <p:grpSpPr bwMode="auto">
          <a:xfrm>
            <a:off x="152400" y="1828800"/>
            <a:ext cx="1676400" cy="381000"/>
            <a:chOff x="6858000" y="6324600"/>
            <a:chExt cx="2133600" cy="381000"/>
          </a:xfrm>
        </p:grpSpPr>
        <p:sp>
          <p:nvSpPr>
            <p:cNvPr id="96" name="Rectangle 95"/>
            <p:cNvSpPr/>
            <p:nvPr/>
          </p:nvSpPr>
          <p:spPr>
            <a:xfrm>
              <a:off x="6858000" y="6324600"/>
              <a:ext cx="2133600" cy="381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00" name="Rectangle 99"/>
            <p:cNvSpPr/>
            <p:nvPr/>
          </p:nvSpPr>
          <p:spPr>
            <a:xfrm>
              <a:off x="6934200" y="6400800"/>
              <a:ext cx="1524000" cy="228600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sz="1200" dirty="0" smtClean="0"/>
                <a:t>Go to </a:t>
              </a:r>
              <a:r>
                <a:rPr lang="en-US" sz="1200" dirty="0" smtClean="0">
                  <a:sym typeface="Wingdings" pitchFamily="2" charset="2"/>
                </a:rPr>
                <a:t></a:t>
              </a:r>
              <a:endParaRPr lang="en-US" sz="1200" dirty="0"/>
            </a:p>
          </p:txBody>
        </p:sp>
        <p:sp>
          <p:nvSpPr>
            <p:cNvPr id="102" name="Rounded Rectangle 101"/>
            <p:cNvSpPr/>
            <p:nvPr/>
          </p:nvSpPr>
          <p:spPr>
            <a:xfrm>
              <a:off x="8409709" y="6400800"/>
              <a:ext cx="484909" cy="228600"/>
            </a:xfrm>
            <a:prstGeom prst="roundRect">
              <a:avLst/>
            </a:prstGeom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sz="1050" dirty="0"/>
                <a:t>GO</a:t>
              </a:r>
            </a:p>
          </p:txBody>
        </p:sp>
      </p:grpSp>
      <p:graphicFrame>
        <p:nvGraphicFramePr>
          <p:cNvPr id="112" name="Table 111"/>
          <p:cNvGraphicFramePr>
            <a:graphicFrameLocks noGrp="1"/>
          </p:cNvGraphicFramePr>
          <p:nvPr/>
        </p:nvGraphicFramePr>
        <p:xfrm>
          <a:off x="1905000" y="3733800"/>
          <a:ext cx="51816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816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Savings Account</a:t>
                      </a:r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3" name="Table 112"/>
          <p:cNvGraphicFramePr>
            <a:graphicFrameLocks noGrp="1"/>
          </p:cNvGraphicFramePr>
          <p:nvPr/>
        </p:nvGraphicFramePr>
        <p:xfrm>
          <a:off x="1905000" y="3352800"/>
          <a:ext cx="5181600" cy="38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81600"/>
              </a:tblGrid>
              <a:tr h="381000">
                <a:tc>
                  <a:txBody>
                    <a:bodyPr/>
                    <a:lstStyle/>
                    <a:p>
                      <a:r>
                        <a:rPr lang="en-US" dirty="0" smtClean="0"/>
                        <a:t>Current Account</a:t>
                      </a:r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6" name="Table 115"/>
          <p:cNvGraphicFramePr>
            <a:graphicFrameLocks noGrp="1"/>
          </p:cNvGraphicFramePr>
          <p:nvPr/>
        </p:nvGraphicFramePr>
        <p:xfrm>
          <a:off x="1905000" y="4114800"/>
          <a:ext cx="5181600" cy="889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38200"/>
                <a:gridCol w="889000"/>
                <a:gridCol w="711200"/>
                <a:gridCol w="800100"/>
                <a:gridCol w="809625"/>
                <a:gridCol w="1133475"/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A/c </a:t>
                      </a:r>
                      <a:r>
                        <a:rPr lang="en-US" sz="1400" baseline="0" dirty="0" smtClean="0"/>
                        <a:t> #</a:t>
                      </a:r>
                      <a:endParaRPr lang="en-US" sz="1400" dirty="0"/>
                    </a:p>
                  </a:txBody>
                  <a:tcPr>
                    <a:solidFill>
                      <a:schemeClr val="tx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Branch</a:t>
                      </a:r>
                      <a:endParaRPr lang="en-US" sz="1400" dirty="0"/>
                    </a:p>
                  </a:txBody>
                  <a:tcPr>
                    <a:solidFill>
                      <a:schemeClr val="tx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Name</a:t>
                      </a:r>
                      <a:endParaRPr lang="en-US" sz="1400" dirty="0"/>
                    </a:p>
                  </a:txBody>
                  <a:tcPr>
                    <a:solidFill>
                      <a:schemeClr val="tx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Balance</a:t>
                      </a:r>
                      <a:br>
                        <a:rPr lang="en-US" sz="1400" dirty="0" smtClean="0"/>
                      </a:br>
                      <a:r>
                        <a:rPr lang="en-US" sz="1400" dirty="0" smtClean="0"/>
                        <a:t>( INR)</a:t>
                      </a:r>
                      <a:endParaRPr lang="en-US" sz="1400" dirty="0"/>
                    </a:p>
                  </a:txBody>
                  <a:tcPr>
                    <a:solidFill>
                      <a:schemeClr val="tx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Details</a:t>
                      </a:r>
                      <a:endParaRPr lang="en-US" sz="1400" dirty="0"/>
                    </a:p>
                  </a:txBody>
                  <a:tcPr>
                    <a:solidFill>
                      <a:schemeClr val="tx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Mini</a:t>
                      </a:r>
                      <a:br>
                        <a:rPr lang="en-US" sz="1400" dirty="0" smtClean="0"/>
                      </a:br>
                      <a:r>
                        <a:rPr lang="en-US" sz="1400" dirty="0" smtClean="0"/>
                        <a:t>Statament</a:t>
                      </a:r>
                      <a:endParaRPr lang="en-US" sz="1400" dirty="0"/>
                    </a:p>
                  </a:txBody>
                  <a:tcPr>
                    <a:solidFill>
                      <a:schemeClr val="tx1">
                        <a:lumMod val="65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358989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BHU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Karan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5000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u="sng" dirty="0" smtClean="0">
                          <a:solidFill>
                            <a:srgbClr val="0070C0"/>
                          </a:solidFill>
                        </a:rPr>
                        <a:t>view</a:t>
                      </a:r>
                      <a:endParaRPr lang="en-US" sz="1400" u="sng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u="sng" dirty="0" smtClean="0">
                          <a:solidFill>
                            <a:srgbClr val="0070C0"/>
                          </a:solidFill>
                        </a:rPr>
                        <a:t>view</a:t>
                      </a:r>
                      <a:endParaRPr lang="en-US" sz="1400" u="sng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17" name="Table 116"/>
          <p:cNvGraphicFramePr>
            <a:graphicFrameLocks noGrp="1"/>
          </p:cNvGraphicFramePr>
          <p:nvPr/>
        </p:nvGraphicFramePr>
        <p:xfrm>
          <a:off x="1905000" y="5029200"/>
          <a:ext cx="5181600" cy="38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81600"/>
              </a:tblGrid>
              <a:tr h="381000">
                <a:tc>
                  <a:txBody>
                    <a:bodyPr/>
                    <a:lstStyle/>
                    <a:p>
                      <a:r>
                        <a:rPr lang="en-US" dirty="0" smtClean="0"/>
                        <a:t>Loan Account</a:t>
                      </a:r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</a:tr>
            </a:tbl>
          </a:graphicData>
        </a:graphic>
      </p:graphicFrame>
      <p:grpSp>
        <p:nvGrpSpPr>
          <p:cNvPr id="3" name="Group 43"/>
          <p:cNvGrpSpPr>
            <a:grpSpLocks/>
          </p:cNvGrpSpPr>
          <p:nvPr/>
        </p:nvGrpSpPr>
        <p:grpSpPr bwMode="auto">
          <a:xfrm>
            <a:off x="7162800" y="1828800"/>
            <a:ext cx="1828800" cy="2057400"/>
            <a:chOff x="6715760" y="2209800"/>
            <a:chExt cx="2275840" cy="2220686"/>
          </a:xfrm>
        </p:grpSpPr>
        <p:sp>
          <p:nvSpPr>
            <p:cNvPr id="124" name="Rectangle 123"/>
            <p:cNvSpPr/>
            <p:nvPr/>
          </p:nvSpPr>
          <p:spPr>
            <a:xfrm>
              <a:off x="6715760" y="2525939"/>
              <a:ext cx="2275840" cy="190454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125" name="Rectangle 124"/>
            <p:cNvSpPr/>
            <p:nvPr/>
          </p:nvSpPr>
          <p:spPr>
            <a:xfrm>
              <a:off x="6715760" y="2209800"/>
              <a:ext cx="2275840" cy="304574"/>
            </a:xfrm>
            <a:prstGeom prst="rect">
              <a:avLst/>
            </a:prstGeom>
          </p:spPr>
          <p:style>
            <a:lnRef idx="1">
              <a:schemeClr val="accent5"/>
            </a:lnRef>
            <a:fillRef idx="3">
              <a:schemeClr val="accent5"/>
            </a:fillRef>
            <a:effectRef idx="2">
              <a:schemeClr val="accent5"/>
            </a:effectRef>
            <a:fontRef idx="minor">
              <a:schemeClr val="lt1"/>
            </a:fontRef>
          </p:style>
          <p:txBody>
            <a:bodyPr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600" dirty="0"/>
                <a:t>Login Information</a:t>
              </a:r>
            </a:p>
          </p:txBody>
        </p:sp>
      </p:grpSp>
      <p:sp>
        <p:nvSpPr>
          <p:cNvPr id="126" name="TextBox 71"/>
          <p:cNvSpPr txBox="1">
            <a:spLocks noChangeArrowheads="1"/>
          </p:cNvSpPr>
          <p:nvPr/>
        </p:nvSpPr>
        <p:spPr bwMode="auto">
          <a:xfrm>
            <a:off x="7239000" y="3048000"/>
            <a:ext cx="1752600" cy="830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1600" dirty="0" smtClean="0"/>
              <a:t>Last </a:t>
            </a:r>
            <a:r>
              <a:rPr lang="en-US" sz="1600" dirty="0"/>
              <a:t>login:</a:t>
            </a:r>
            <a:r>
              <a:rPr lang="en-US" dirty="0"/>
              <a:t/>
            </a:r>
            <a:br>
              <a:rPr lang="en-US" dirty="0"/>
            </a:br>
            <a:r>
              <a:rPr lang="en-US" sz="1600" dirty="0"/>
              <a:t>24 March,2008</a:t>
            </a:r>
          </a:p>
          <a:p>
            <a:r>
              <a:rPr lang="en-US" sz="1600" dirty="0"/>
              <a:t>Time : 14:50 Hrs</a:t>
            </a:r>
          </a:p>
        </p:txBody>
      </p:sp>
      <p:sp>
        <p:nvSpPr>
          <p:cNvPr id="127" name="TextBox 73"/>
          <p:cNvSpPr txBox="1">
            <a:spLocks noChangeArrowheads="1"/>
          </p:cNvSpPr>
          <p:nvPr/>
        </p:nvSpPr>
        <p:spPr bwMode="auto">
          <a:xfrm>
            <a:off x="7239000" y="2209800"/>
            <a:ext cx="1676400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400" dirty="0" smtClean="0"/>
              <a:t>Welcome</a:t>
            </a:r>
          </a:p>
          <a:p>
            <a:r>
              <a:rPr lang="en-US" sz="1400" dirty="0" smtClean="0"/>
              <a:t>Mr. Karan Jain</a:t>
            </a:r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128" name="TextBox 127"/>
          <p:cNvSpPr txBox="1"/>
          <p:nvPr/>
        </p:nvSpPr>
        <p:spPr>
          <a:xfrm>
            <a:off x="1981200" y="1828800"/>
            <a:ext cx="28194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chemeClr val="bg2"/>
                </a:solidFill>
              </a:rPr>
              <a:t>My Accounts</a:t>
            </a:r>
          </a:p>
          <a:p>
            <a:r>
              <a:rPr lang="en-US" sz="1100" u="sng" dirty="0" smtClean="0">
                <a:solidFill>
                  <a:schemeClr val="accent1"/>
                </a:solidFill>
              </a:rPr>
              <a:t>My Profile</a:t>
            </a:r>
            <a:r>
              <a:rPr lang="en-US" sz="1100" dirty="0" smtClean="0">
                <a:solidFill>
                  <a:schemeClr val="accent1"/>
                </a:solidFill>
              </a:rPr>
              <a:t>  &gt; My Accounts</a:t>
            </a:r>
            <a:endParaRPr lang="en-US" sz="1100" dirty="0">
              <a:solidFill>
                <a:schemeClr val="accent1"/>
              </a:solidFill>
            </a:endParaRPr>
          </a:p>
        </p:txBody>
      </p:sp>
      <p:sp>
        <p:nvSpPr>
          <p:cNvPr id="58" name="Rectangle 57"/>
          <p:cNvSpPr/>
          <p:nvPr/>
        </p:nvSpPr>
        <p:spPr>
          <a:xfrm>
            <a:off x="1905000" y="2438400"/>
            <a:ext cx="5105400" cy="38100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TextBox 51"/>
          <p:cNvSpPr txBox="1"/>
          <p:nvPr/>
        </p:nvSpPr>
        <p:spPr>
          <a:xfrm>
            <a:off x="1981200" y="2480846"/>
            <a:ext cx="18288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/>
              <a:t>Default  Account</a:t>
            </a:r>
            <a:endParaRPr lang="en-US" sz="1600" dirty="0"/>
          </a:p>
        </p:txBody>
      </p:sp>
      <p:sp>
        <p:nvSpPr>
          <p:cNvPr id="53" name="Rectangle 52"/>
          <p:cNvSpPr/>
          <p:nvPr/>
        </p:nvSpPr>
        <p:spPr bwMode="auto">
          <a:xfrm>
            <a:off x="3657600" y="2514600"/>
            <a:ext cx="1447800" cy="2286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>
                <a:solidFill>
                  <a:schemeClr val="bg1"/>
                </a:solidFill>
              </a:rPr>
              <a:t>8594621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54" name="Rectangle 53"/>
          <p:cNvSpPr/>
          <p:nvPr/>
        </p:nvSpPr>
        <p:spPr>
          <a:xfrm>
            <a:off x="5105400" y="2514600"/>
            <a:ext cx="304800" cy="2286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 smtClean="0">
                <a:solidFill>
                  <a:schemeClr val="bg2"/>
                </a:solidFill>
              </a:rPr>
              <a:t>\/</a:t>
            </a:r>
            <a:endParaRPr lang="en-US" sz="1000" b="1" dirty="0">
              <a:solidFill>
                <a:schemeClr val="bg2"/>
              </a:solidFill>
            </a:endParaRPr>
          </a:p>
        </p:txBody>
      </p:sp>
      <p:sp>
        <p:nvSpPr>
          <p:cNvPr id="55" name="Rounded Rectangle 54"/>
          <p:cNvSpPr/>
          <p:nvPr/>
        </p:nvSpPr>
        <p:spPr>
          <a:xfrm>
            <a:off x="5715000" y="2514600"/>
            <a:ext cx="990600" cy="228600"/>
          </a:xfrm>
          <a:prstGeom prst="roundRect">
            <a:avLst/>
          </a:prstGeom>
          <a:solidFill>
            <a:schemeClr val="bg1">
              <a:lumMod val="50000"/>
              <a:lumOff val="50000"/>
            </a:schemeClr>
          </a:solidFill>
          <a:ln>
            <a:solidFill>
              <a:schemeClr val="bg1">
                <a:lumMod val="85000"/>
                <a:lumOff val="15000"/>
              </a:schemeClr>
            </a:solidFill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Change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276600" y="0"/>
            <a:ext cx="5867400" cy="82296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1" name="Rectangle 60"/>
          <p:cNvSpPr/>
          <p:nvPr/>
        </p:nvSpPr>
        <p:spPr>
          <a:xfrm>
            <a:off x="0" y="838200"/>
            <a:ext cx="9144000" cy="228600"/>
          </a:xfrm>
          <a:prstGeom prst="rect">
            <a:avLst/>
          </a:prstGeom>
          <a:solidFill>
            <a:schemeClr val="tx1">
              <a:lumMod val="85000"/>
            </a:schemeClr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00" dirty="0">
                <a:solidFill>
                  <a:schemeClr val="bg2"/>
                </a:solidFill>
              </a:rPr>
              <a:t>Home	</a:t>
            </a:r>
            <a:r>
              <a:rPr lang="en-US" sz="1400" dirty="0" smtClean="0">
                <a:solidFill>
                  <a:schemeClr val="bg2"/>
                </a:solidFill>
              </a:rPr>
              <a:t>Product and Services              </a:t>
            </a:r>
            <a:r>
              <a:rPr lang="en-US" sz="1400" dirty="0" smtClean="0">
                <a:solidFill>
                  <a:schemeClr val="bg2"/>
                </a:solidFill>
              </a:rPr>
              <a:t>Downloads                    Contact Us               Help</a:t>
            </a:r>
            <a:endParaRPr lang="en-US" sz="1400" dirty="0">
              <a:solidFill>
                <a:schemeClr val="bg2"/>
              </a:solidFill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0" y="0"/>
            <a:ext cx="9144000" cy="830997"/>
          </a:xfrm>
          <a:prstGeom prst="rect">
            <a:avLst/>
          </a:prstGeom>
          <a:scene3d>
            <a:camera prst="orthographicFront">
              <a:rot lat="0" lon="0" rev="0"/>
            </a:camera>
            <a:lightRig rig="brightRoom" dir="t"/>
          </a:scene3d>
          <a:sp3d>
            <a:bevelT w="63500" h="254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2400" b="1" dirty="0">
              <a:latin typeface="+mj-lt"/>
              <a:cs typeface="Tahoma" pitchFamily="34" charset="0"/>
            </a:endParaRP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2400" b="1" dirty="0">
              <a:latin typeface="+mj-lt"/>
              <a:cs typeface="Tahoma" pitchFamily="34" charset="0"/>
            </a:endParaRPr>
          </a:p>
        </p:txBody>
      </p:sp>
      <p:pic>
        <p:nvPicPr>
          <p:cNvPr id="64" name="Picture 7" descr="world.png"/>
          <p:cNvPicPr>
            <a:picLocks noChangeAspect="1"/>
          </p:cNvPicPr>
          <p:nvPr/>
        </p:nvPicPr>
        <p:blipFill>
          <a:blip r:embed="rId2">
            <a:lum bright="-60000" contrast="-100000"/>
          </a:blip>
          <a:srcRect/>
          <a:stretch>
            <a:fillRect/>
          </a:stretch>
        </p:blipFill>
        <p:spPr bwMode="auto">
          <a:xfrm>
            <a:off x="3352800" y="0"/>
            <a:ext cx="1609725" cy="809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5" name="TextBox 53"/>
          <p:cNvSpPr txBox="1">
            <a:spLocks noChangeArrowheads="1"/>
          </p:cNvSpPr>
          <p:nvPr/>
        </p:nvSpPr>
        <p:spPr bwMode="auto">
          <a:xfrm>
            <a:off x="2743200" y="152400"/>
            <a:ext cx="3124200" cy="430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2200" b="1" dirty="0">
                <a:latin typeface="Calibri" pitchFamily="34" charset="0"/>
              </a:rPr>
              <a:t>Internet Banking System</a:t>
            </a:r>
          </a:p>
        </p:txBody>
      </p:sp>
      <p:grpSp>
        <p:nvGrpSpPr>
          <p:cNvPr id="4" name="Group 77"/>
          <p:cNvGrpSpPr/>
          <p:nvPr/>
        </p:nvGrpSpPr>
        <p:grpSpPr>
          <a:xfrm>
            <a:off x="7162800" y="457200"/>
            <a:ext cx="1828800" cy="228600"/>
            <a:chOff x="7162800" y="533400"/>
            <a:chExt cx="1828800" cy="228600"/>
          </a:xfrm>
        </p:grpSpPr>
        <p:sp>
          <p:nvSpPr>
            <p:cNvPr id="67" name="Rectangle 66"/>
            <p:cNvSpPr/>
            <p:nvPr/>
          </p:nvSpPr>
          <p:spPr>
            <a:xfrm>
              <a:off x="7162800" y="533400"/>
              <a:ext cx="1295400" cy="228600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400" dirty="0">
                  <a:solidFill>
                    <a:schemeClr val="bg1"/>
                  </a:solidFill>
                </a:rPr>
                <a:t>Search</a:t>
              </a:r>
              <a:r>
                <a:rPr lang="en-US" dirty="0"/>
                <a:t> </a:t>
              </a:r>
            </a:p>
          </p:txBody>
        </p:sp>
        <p:sp>
          <p:nvSpPr>
            <p:cNvPr id="68" name="Rounded Rectangle 67"/>
            <p:cNvSpPr/>
            <p:nvPr/>
          </p:nvSpPr>
          <p:spPr>
            <a:xfrm>
              <a:off x="8534400" y="533400"/>
              <a:ext cx="457200" cy="228600"/>
            </a:xfrm>
            <a:prstGeom prst="roundRect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400" dirty="0">
                  <a:ln>
                    <a:solidFill>
                      <a:schemeClr val="accent1">
                        <a:shade val="50000"/>
                      </a:schemeClr>
                    </a:solidFill>
                  </a:ln>
                  <a:solidFill>
                    <a:schemeClr val="bg1"/>
                  </a:solidFill>
                </a:rPr>
                <a:t>GO</a:t>
              </a:r>
            </a:p>
          </p:txBody>
        </p:sp>
      </p:grpSp>
      <p:sp>
        <p:nvSpPr>
          <p:cNvPr id="69" name="Rounded Rectangle 68"/>
          <p:cNvSpPr/>
          <p:nvPr/>
        </p:nvSpPr>
        <p:spPr>
          <a:xfrm>
            <a:off x="7848600" y="838200"/>
            <a:ext cx="1219200" cy="228600"/>
          </a:xfrm>
          <a:prstGeom prst="round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/>
              <a:t>Log out</a:t>
            </a:r>
            <a:endParaRPr lang="en-US" sz="1600" dirty="0"/>
          </a:p>
        </p:txBody>
      </p:sp>
      <p:sp>
        <p:nvSpPr>
          <p:cNvPr id="81" name="Rectangle 80"/>
          <p:cNvSpPr/>
          <p:nvPr/>
        </p:nvSpPr>
        <p:spPr>
          <a:xfrm>
            <a:off x="0" y="1143000"/>
            <a:ext cx="9144000" cy="228600"/>
          </a:xfrm>
          <a:prstGeom prst="rect">
            <a:avLst/>
          </a:prstGeom>
          <a:ln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dirty="0"/>
              <a:t>               </a:t>
            </a:r>
            <a:r>
              <a:rPr lang="en-US" sz="1600" dirty="0">
                <a:solidFill>
                  <a:schemeClr val="tx1"/>
                </a:solidFill>
              </a:rPr>
              <a:t>&lt;---Presenting the new era of Banking                        &lt;---The front end has completed..</a:t>
            </a:r>
          </a:p>
        </p:txBody>
      </p:sp>
      <p:sp>
        <p:nvSpPr>
          <p:cNvPr id="49" name="Round Same Side Corner Rectangle 48"/>
          <p:cNvSpPr/>
          <p:nvPr/>
        </p:nvSpPr>
        <p:spPr>
          <a:xfrm>
            <a:off x="1905000" y="3048000"/>
            <a:ext cx="1981200" cy="304800"/>
          </a:xfrm>
          <a:prstGeom prst="round2SameRect">
            <a:avLst/>
          </a:prstGeom>
          <a:solidFill>
            <a:schemeClr val="tx1">
              <a:lumMod val="65000"/>
            </a:schemeClr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List of Accounts</a:t>
            </a:r>
            <a:endParaRPr lang="en-US" dirty="0"/>
          </a:p>
        </p:txBody>
      </p:sp>
      <p:graphicFrame>
        <p:nvGraphicFramePr>
          <p:cNvPr id="47" name="Table 46"/>
          <p:cNvGraphicFramePr>
            <a:graphicFrameLocks noGrp="1"/>
          </p:cNvGraphicFramePr>
          <p:nvPr/>
        </p:nvGraphicFramePr>
        <p:xfrm>
          <a:off x="152400" y="4267200"/>
          <a:ext cx="1600200" cy="1097280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1600200"/>
              </a:tblGrid>
              <a:tr h="215900">
                <a:tc>
                  <a:txBody>
                    <a:bodyPr/>
                    <a:lstStyle/>
                    <a:p>
                      <a:r>
                        <a:rPr lang="en-US" dirty="0" smtClean="0"/>
                        <a:t>Control Panel</a:t>
                      </a:r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215900">
                <a:tc>
                  <a:txBody>
                    <a:bodyPr/>
                    <a:lstStyle/>
                    <a:p>
                      <a:r>
                        <a:rPr lang="en-US" sz="1200" b="1" dirty="0" smtClean="0">
                          <a:solidFill>
                            <a:schemeClr val="bg2"/>
                          </a:solidFill>
                        </a:rPr>
                        <a:t>&gt;&gt;</a:t>
                      </a:r>
                      <a:r>
                        <a:rPr lang="en-US" sz="1200" b="1" u="sng" dirty="0" smtClean="0">
                          <a:solidFill>
                            <a:schemeClr val="bg2"/>
                          </a:solidFill>
                        </a:rPr>
                        <a:t>Block</a:t>
                      </a:r>
                      <a:r>
                        <a:rPr lang="en-US" sz="1200" b="1" u="sng" baseline="0" dirty="0" smtClean="0">
                          <a:solidFill>
                            <a:schemeClr val="bg2"/>
                          </a:solidFill>
                        </a:rPr>
                        <a:t> /Unblock</a:t>
                      </a:r>
                      <a:br>
                        <a:rPr lang="en-US" sz="1200" b="1" u="sng" baseline="0" dirty="0" smtClean="0">
                          <a:solidFill>
                            <a:schemeClr val="bg2"/>
                          </a:solidFill>
                        </a:rPr>
                      </a:br>
                      <a:r>
                        <a:rPr lang="en-US" sz="1200" b="1" u="none" baseline="0" dirty="0" smtClean="0">
                          <a:solidFill>
                            <a:schemeClr val="bg2"/>
                          </a:solidFill>
                        </a:rPr>
                        <a:t>      </a:t>
                      </a:r>
                      <a:r>
                        <a:rPr lang="en-US" sz="1200" b="1" u="sng" baseline="0" dirty="0" smtClean="0">
                          <a:solidFill>
                            <a:schemeClr val="bg2"/>
                          </a:solidFill>
                        </a:rPr>
                        <a:t>Account</a:t>
                      </a:r>
                      <a:endParaRPr lang="en-US" sz="1200" b="1" u="sng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</a:tr>
              <a:tr h="215900">
                <a:tc>
                  <a:txBody>
                    <a:bodyPr/>
                    <a:lstStyle/>
                    <a:p>
                      <a:r>
                        <a:rPr lang="en-US" sz="1200" b="1" dirty="0" smtClean="0">
                          <a:solidFill>
                            <a:schemeClr val="bg2"/>
                          </a:solidFill>
                        </a:rPr>
                        <a:t>&gt;&gt;</a:t>
                      </a:r>
                      <a:r>
                        <a:rPr lang="en-US" sz="1200" b="1" u="sng" dirty="0" smtClean="0">
                          <a:solidFill>
                            <a:schemeClr val="bg2"/>
                          </a:solidFill>
                        </a:rPr>
                        <a:t>Other</a:t>
                      </a:r>
                      <a:r>
                        <a:rPr lang="en-US" sz="1200" b="1" u="sng" baseline="0" dirty="0" smtClean="0">
                          <a:solidFill>
                            <a:schemeClr val="bg2"/>
                          </a:solidFill>
                        </a:rPr>
                        <a:t> Tasks</a:t>
                      </a:r>
                      <a:endParaRPr lang="en-US" sz="1200" b="1" u="sng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48" name="Line Callout 1 47"/>
          <p:cNvSpPr/>
          <p:nvPr/>
        </p:nvSpPr>
        <p:spPr>
          <a:xfrm>
            <a:off x="2286000" y="5943600"/>
            <a:ext cx="2133600" cy="533400"/>
          </a:xfrm>
          <a:prstGeom prst="borderCallout1">
            <a:avLst>
              <a:gd name="adj1" fmla="val 48073"/>
              <a:gd name="adj2" fmla="val -438"/>
              <a:gd name="adj3" fmla="val -289568"/>
              <a:gd name="adj4" fmla="val -33220"/>
            </a:avLst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For admin (it can be added to tab)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7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0" fill="hold"/>
                                        <p:tgtEl>
                                          <p:spTgt spid="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0" fill="hold"/>
                                        <p:tgtEl>
                                          <p:spTgt spid="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Rectangle 97"/>
          <p:cNvSpPr/>
          <p:nvPr/>
        </p:nvSpPr>
        <p:spPr>
          <a:xfrm>
            <a:off x="0" y="1752600"/>
            <a:ext cx="9144000" cy="51054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Rectangle 55"/>
          <p:cNvSpPr/>
          <p:nvPr/>
        </p:nvSpPr>
        <p:spPr>
          <a:xfrm>
            <a:off x="91440" y="1828800"/>
            <a:ext cx="1737360" cy="4800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graphicFrame>
        <p:nvGraphicFramePr>
          <p:cNvPr id="72" name="Table 71"/>
          <p:cNvGraphicFramePr>
            <a:graphicFrameLocks noGrp="1"/>
          </p:cNvGraphicFramePr>
          <p:nvPr/>
        </p:nvGraphicFramePr>
        <p:xfrm>
          <a:off x="152400" y="1905000"/>
          <a:ext cx="1600200" cy="2270760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1600200"/>
              </a:tblGrid>
              <a:tr h="21590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243840">
                <a:tc>
                  <a:txBody>
                    <a:bodyPr/>
                    <a:lstStyle/>
                    <a:p>
                      <a:r>
                        <a:rPr lang="en-US" sz="1100" b="1" dirty="0" smtClean="0">
                          <a:solidFill>
                            <a:schemeClr val="bg2"/>
                          </a:solidFill>
                        </a:rPr>
                        <a:t>&gt;&gt;</a:t>
                      </a:r>
                      <a:r>
                        <a:rPr lang="en-US" sz="1100" b="1" u="sng" dirty="0" smtClean="0">
                          <a:solidFill>
                            <a:schemeClr val="bg2"/>
                          </a:solidFill>
                        </a:rPr>
                        <a:t>M</a:t>
                      </a:r>
                      <a:r>
                        <a:rPr lang="en-US" sz="1100" b="1" u="sng" baseline="0" dirty="0" smtClean="0">
                          <a:solidFill>
                            <a:schemeClr val="bg2"/>
                          </a:solidFill>
                        </a:rPr>
                        <a:t>y Accounts</a:t>
                      </a:r>
                      <a:endParaRPr lang="en-US" sz="1100" b="1" u="sng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</a:tr>
              <a:tr h="215900">
                <a:tc>
                  <a:txBody>
                    <a:bodyPr/>
                    <a:lstStyle/>
                    <a:p>
                      <a:r>
                        <a:rPr lang="en-US" sz="1200" b="1" dirty="0" smtClean="0">
                          <a:solidFill>
                            <a:schemeClr val="bg2"/>
                          </a:solidFill>
                        </a:rPr>
                        <a:t>&gt;&gt;</a:t>
                      </a:r>
                      <a:r>
                        <a:rPr lang="en-US" sz="1200" b="1" u="sng" dirty="0" smtClean="0">
                          <a:solidFill>
                            <a:schemeClr val="bg2"/>
                          </a:solidFill>
                        </a:rPr>
                        <a:t>Profile</a:t>
                      </a:r>
                      <a:endParaRPr lang="en-US" sz="1200" b="1" u="sng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</a:tr>
              <a:tr h="215900">
                <a:tc>
                  <a:txBody>
                    <a:bodyPr/>
                    <a:lstStyle/>
                    <a:p>
                      <a:r>
                        <a:rPr lang="en-US" sz="1200" b="1" dirty="0" smtClean="0">
                          <a:solidFill>
                            <a:schemeClr val="bg2"/>
                          </a:solidFill>
                        </a:rPr>
                        <a:t>&gt;&gt;</a:t>
                      </a:r>
                      <a:r>
                        <a:rPr lang="en-US" sz="1200" b="1" u="sng" dirty="0" smtClean="0">
                          <a:solidFill>
                            <a:schemeClr val="bg2"/>
                          </a:solidFill>
                        </a:rPr>
                        <a:t>Settings</a:t>
                      </a:r>
                      <a:endParaRPr lang="en-US" sz="1200" b="1" u="sng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</a:tr>
              <a:tr h="215900">
                <a:tc>
                  <a:txBody>
                    <a:bodyPr/>
                    <a:lstStyle/>
                    <a:p>
                      <a:r>
                        <a:rPr lang="en-US" sz="1200" b="1" dirty="0" smtClean="0">
                          <a:solidFill>
                            <a:schemeClr val="bg2"/>
                          </a:solidFill>
                        </a:rPr>
                        <a:t>&gt;&gt;</a:t>
                      </a:r>
                      <a:r>
                        <a:rPr lang="en-US" sz="1200" b="1" u="sng" dirty="0" smtClean="0">
                          <a:solidFill>
                            <a:schemeClr val="bg2"/>
                          </a:solidFill>
                        </a:rPr>
                        <a:t>Change Password</a:t>
                      </a:r>
                      <a:endParaRPr lang="en-US" sz="1200" b="1" u="sng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</a:tr>
              <a:tr h="215900">
                <a:tc>
                  <a:txBody>
                    <a:bodyPr/>
                    <a:lstStyle/>
                    <a:p>
                      <a:r>
                        <a:rPr lang="en-US" sz="1200" b="1" dirty="0" smtClean="0">
                          <a:solidFill>
                            <a:schemeClr val="bg2"/>
                          </a:solidFill>
                        </a:rPr>
                        <a:t>&gt;&gt;</a:t>
                      </a:r>
                      <a:r>
                        <a:rPr lang="en-US" sz="1200" b="1" u="sng" dirty="0" smtClean="0">
                          <a:solidFill>
                            <a:schemeClr val="bg2"/>
                          </a:solidFill>
                        </a:rPr>
                        <a:t>Favorites</a:t>
                      </a:r>
                      <a:endParaRPr lang="en-US" sz="1200" b="1" u="sng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</a:tr>
              <a:tr h="215900">
                <a:tc>
                  <a:txBody>
                    <a:bodyPr/>
                    <a:lstStyle/>
                    <a:p>
                      <a:r>
                        <a:rPr lang="en-US" sz="1200" b="1" u="none" dirty="0" smtClean="0">
                          <a:solidFill>
                            <a:schemeClr val="bg2"/>
                          </a:solidFill>
                        </a:rPr>
                        <a:t>&gt;&gt;</a:t>
                      </a:r>
                      <a:r>
                        <a:rPr lang="en-US" sz="1200" b="1" u="sng" dirty="0" smtClean="0">
                          <a:solidFill>
                            <a:schemeClr val="bg2"/>
                          </a:solidFill>
                        </a:rPr>
                        <a:t> New Account</a:t>
                      </a:r>
                      <a:endParaRPr lang="en-US" sz="1200" b="1" u="sng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</a:tr>
              <a:tr h="215900">
                <a:tc>
                  <a:txBody>
                    <a:bodyPr/>
                    <a:lstStyle/>
                    <a:p>
                      <a:r>
                        <a:rPr lang="en-US" sz="1200" b="1" u="none" dirty="0" smtClean="0">
                          <a:solidFill>
                            <a:schemeClr val="bg2"/>
                          </a:solidFill>
                        </a:rPr>
                        <a:t>&gt;&gt; </a:t>
                      </a:r>
                      <a:r>
                        <a:rPr lang="en-US" sz="1200" b="1" u="sng" dirty="0" smtClean="0">
                          <a:solidFill>
                            <a:schemeClr val="bg2"/>
                          </a:solidFill>
                        </a:rPr>
                        <a:t>Loan</a:t>
                      </a:r>
                      <a:r>
                        <a:rPr lang="en-US" sz="1200" b="1" u="sng" baseline="0" dirty="0" smtClean="0">
                          <a:solidFill>
                            <a:schemeClr val="bg2"/>
                          </a:solidFill>
                        </a:rPr>
                        <a:t> Account</a:t>
                      </a:r>
                      <a:endParaRPr lang="en-US" sz="1200" b="1" u="sng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87" name="Round Single Corner Rectangle 86"/>
          <p:cNvSpPr/>
          <p:nvPr/>
        </p:nvSpPr>
        <p:spPr>
          <a:xfrm>
            <a:off x="228600" y="1447800"/>
            <a:ext cx="1524000" cy="304800"/>
          </a:xfrm>
          <a:prstGeom prst="round1Rect">
            <a:avLst>
              <a:gd name="adj" fmla="val 50000"/>
            </a:avLst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My Profile</a:t>
            </a:r>
            <a:endParaRPr lang="en-US" dirty="0"/>
          </a:p>
        </p:txBody>
      </p:sp>
      <p:sp>
        <p:nvSpPr>
          <p:cNvPr id="88" name="Round Single Corner Rectangle 87"/>
          <p:cNvSpPr/>
          <p:nvPr/>
        </p:nvSpPr>
        <p:spPr>
          <a:xfrm>
            <a:off x="2819401" y="1447800"/>
            <a:ext cx="1371600" cy="228600"/>
          </a:xfrm>
          <a:prstGeom prst="round1Rect">
            <a:avLst>
              <a:gd name="adj" fmla="val 50000"/>
            </a:avLst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Remittance</a:t>
            </a:r>
            <a:endParaRPr lang="en-US" dirty="0"/>
          </a:p>
        </p:txBody>
      </p:sp>
      <p:sp>
        <p:nvSpPr>
          <p:cNvPr id="90" name="Round Single Corner Rectangle 89"/>
          <p:cNvSpPr/>
          <p:nvPr/>
        </p:nvSpPr>
        <p:spPr>
          <a:xfrm>
            <a:off x="1752601" y="1447800"/>
            <a:ext cx="1066800" cy="228600"/>
          </a:xfrm>
          <a:prstGeom prst="round1Rect">
            <a:avLst>
              <a:gd name="adj" fmla="val 50000"/>
            </a:avLst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Bills</a:t>
            </a:r>
            <a:endParaRPr lang="en-US" dirty="0"/>
          </a:p>
        </p:txBody>
      </p:sp>
      <p:sp>
        <p:nvSpPr>
          <p:cNvPr id="91" name="Round Single Corner Rectangle 90"/>
          <p:cNvSpPr/>
          <p:nvPr/>
        </p:nvSpPr>
        <p:spPr>
          <a:xfrm>
            <a:off x="4191000" y="1447800"/>
            <a:ext cx="1447800" cy="228600"/>
          </a:xfrm>
          <a:prstGeom prst="round1Rect">
            <a:avLst>
              <a:gd name="adj" fmla="val 50000"/>
            </a:avLst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/>
              <a:t>Draft/Cheque</a:t>
            </a:r>
            <a:endParaRPr lang="en-US" sz="1600" dirty="0"/>
          </a:p>
        </p:txBody>
      </p:sp>
      <p:cxnSp>
        <p:nvCxnSpPr>
          <p:cNvPr id="93" name="Straight Connector 92"/>
          <p:cNvCxnSpPr/>
          <p:nvPr/>
        </p:nvCxnSpPr>
        <p:spPr>
          <a:xfrm>
            <a:off x="1676400" y="1752600"/>
            <a:ext cx="7467600" cy="1588"/>
          </a:xfrm>
          <a:prstGeom prst="line">
            <a:avLst/>
          </a:prstGeom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97" name="Straight Connector 96"/>
          <p:cNvCxnSpPr/>
          <p:nvPr/>
        </p:nvCxnSpPr>
        <p:spPr>
          <a:xfrm rot="10800000">
            <a:off x="0" y="1752600"/>
            <a:ext cx="228600" cy="1588"/>
          </a:xfrm>
          <a:prstGeom prst="line">
            <a:avLst/>
          </a:prstGeom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99" name="Round Single Corner Rectangle 98"/>
          <p:cNvSpPr/>
          <p:nvPr/>
        </p:nvSpPr>
        <p:spPr>
          <a:xfrm>
            <a:off x="5638800" y="1447800"/>
            <a:ext cx="990600" cy="228600"/>
          </a:xfrm>
          <a:prstGeom prst="round1Rect">
            <a:avLst>
              <a:gd name="adj" fmla="val 50000"/>
            </a:avLst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Utilties</a:t>
            </a:r>
            <a:endParaRPr lang="en-US" dirty="0"/>
          </a:p>
        </p:txBody>
      </p:sp>
      <p:sp>
        <p:nvSpPr>
          <p:cNvPr id="101" name="Round Single Corner Rectangle 100"/>
          <p:cNvSpPr/>
          <p:nvPr/>
        </p:nvSpPr>
        <p:spPr>
          <a:xfrm>
            <a:off x="6629400" y="1447800"/>
            <a:ext cx="990600" cy="228600"/>
          </a:xfrm>
          <a:prstGeom prst="round1Rect">
            <a:avLst>
              <a:gd name="adj" fmla="val 50000"/>
            </a:avLst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Enquiry</a:t>
            </a:r>
            <a:endParaRPr lang="en-US" dirty="0"/>
          </a:p>
        </p:txBody>
      </p:sp>
      <p:sp>
        <p:nvSpPr>
          <p:cNvPr id="74" name="TextBox 73"/>
          <p:cNvSpPr txBox="1"/>
          <p:nvPr/>
        </p:nvSpPr>
        <p:spPr>
          <a:xfrm>
            <a:off x="2209800" y="6564868"/>
            <a:ext cx="1524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Wingdings" pitchFamily="2" charset="2"/>
              <a:buChar char="§"/>
            </a:pPr>
            <a:r>
              <a:rPr lang="en-US" sz="1200" dirty="0" smtClean="0">
                <a:solidFill>
                  <a:schemeClr val="bg2"/>
                </a:solidFill>
              </a:rPr>
              <a:t>Privacy Policy</a:t>
            </a:r>
            <a:endParaRPr lang="en-US" sz="1200" dirty="0">
              <a:solidFill>
                <a:schemeClr val="bg2"/>
              </a:solidFill>
            </a:endParaRPr>
          </a:p>
        </p:txBody>
      </p:sp>
      <p:sp>
        <p:nvSpPr>
          <p:cNvPr id="78" name="TextBox 77"/>
          <p:cNvSpPr txBox="1"/>
          <p:nvPr/>
        </p:nvSpPr>
        <p:spPr>
          <a:xfrm>
            <a:off x="3352800" y="6581001"/>
            <a:ext cx="1524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Wingdings" pitchFamily="2" charset="2"/>
              <a:buChar char="§"/>
            </a:pPr>
            <a:r>
              <a:rPr lang="en-US" sz="1200" dirty="0" smtClean="0">
                <a:solidFill>
                  <a:schemeClr val="bg2"/>
                </a:solidFill>
              </a:rPr>
              <a:t>Copyrights</a:t>
            </a:r>
            <a:endParaRPr lang="en-US" sz="1200" dirty="0">
              <a:solidFill>
                <a:schemeClr val="bg2"/>
              </a:solidFill>
            </a:endParaRPr>
          </a:p>
        </p:txBody>
      </p:sp>
      <p:sp>
        <p:nvSpPr>
          <p:cNvPr id="79" name="TextBox 78"/>
          <p:cNvSpPr txBox="1"/>
          <p:nvPr/>
        </p:nvSpPr>
        <p:spPr>
          <a:xfrm>
            <a:off x="5334000" y="6581001"/>
            <a:ext cx="1524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Wingdings" pitchFamily="2" charset="2"/>
              <a:buChar char="§"/>
            </a:pPr>
            <a:r>
              <a:rPr lang="en-US" sz="1200" dirty="0" smtClean="0">
                <a:solidFill>
                  <a:schemeClr val="bg2"/>
                </a:solidFill>
              </a:rPr>
              <a:t>Terms of Use</a:t>
            </a:r>
            <a:endParaRPr lang="en-US" sz="1200" dirty="0">
              <a:solidFill>
                <a:schemeClr val="bg2"/>
              </a:solidFill>
            </a:endParaRPr>
          </a:p>
        </p:txBody>
      </p:sp>
      <p:sp>
        <p:nvSpPr>
          <p:cNvPr id="82" name="TextBox 81"/>
          <p:cNvSpPr txBox="1"/>
          <p:nvPr/>
        </p:nvSpPr>
        <p:spPr>
          <a:xfrm>
            <a:off x="4343400" y="6581001"/>
            <a:ext cx="1524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Wingdings" pitchFamily="2" charset="2"/>
              <a:buChar char="§"/>
            </a:pPr>
            <a:r>
              <a:rPr lang="en-US" sz="1200" dirty="0" smtClean="0">
                <a:solidFill>
                  <a:schemeClr val="bg2"/>
                </a:solidFill>
              </a:rPr>
              <a:t>Disclaimers</a:t>
            </a:r>
            <a:endParaRPr lang="en-US" sz="1200" dirty="0">
              <a:solidFill>
                <a:schemeClr val="bg2"/>
              </a:solidFill>
            </a:endParaRPr>
          </a:p>
        </p:txBody>
      </p:sp>
      <p:grpSp>
        <p:nvGrpSpPr>
          <p:cNvPr id="2" name="Group 39"/>
          <p:cNvGrpSpPr>
            <a:grpSpLocks/>
          </p:cNvGrpSpPr>
          <p:nvPr/>
        </p:nvGrpSpPr>
        <p:grpSpPr bwMode="auto">
          <a:xfrm>
            <a:off x="152400" y="1828800"/>
            <a:ext cx="1676400" cy="381000"/>
            <a:chOff x="6858000" y="6324600"/>
            <a:chExt cx="2133600" cy="381000"/>
          </a:xfrm>
        </p:grpSpPr>
        <p:sp>
          <p:nvSpPr>
            <p:cNvPr id="96" name="Rectangle 95"/>
            <p:cNvSpPr/>
            <p:nvPr/>
          </p:nvSpPr>
          <p:spPr>
            <a:xfrm>
              <a:off x="6858000" y="6324600"/>
              <a:ext cx="2133600" cy="381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00" name="Rectangle 99"/>
            <p:cNvSpPr/>
            <p:nvPr/>
          </p:nvSpPr>
          <p:spPr>
            <a:xfrm>
              <a:off x="6934200" y="6400800"/>
              <a:ext cx="1524000" cy="228600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sz="1200" dirty="0" smtClean="0"/>
                <a:t>Go to </a:t>
              </a:r>
              <a:r>
                <a:rPr lang="en-US" sz="1200" dirty="0" smtClean="0">
                  <a:sym typeface="Wingdings" pitchFamily="2" charset="2"/>
                </a:rPr>
                <a:t></a:t>
              </a:r>
              <a:endParaRPr lang="en-US" sz="1200" dirty="0"/>
            </a:p>
          </p:txBody>
        </p:sp>
        <p:sp>
          <p:nvSpPr>
            <p:cNvPr id="102" name="Rounded Rectangle 101"/>
            <p:cNvSpPr/>
            <p:nvPr/>
          </p:nvSpPr>
          <p:spPr>
            <a:xfrm>
              <a:off x="8409709" y="6400800"/>
              <a:ext cx="484909" cy="228600"/>
            </a:xfrm>
            <a:prstGeom prst="roundRect">
              <a:avLst/>
            </a:prstGeom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sz="1050" dirty="0"/>
                <a:t>GO</a:t>
              </a:r>
            </a:p>
          </p:txBody>
        </p:sp>
      </p:grpSp>
      <p:graphicFrame>
        <p:nvGraphicFramePr>
          <p:cNvPr id="112" name="Table 111"/>
          <p:cNvGraphicFramePr>
            <a:graphicFrameLocks noGrp="1"/>
          </p:cNvGraphicFramePr>
          <p:nvPr/>
        </p:nvGraphicFramePr>
        <p:xfrm>
          <a:off x="1905000" y="3733800"/>
          <a:ext cx="51816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816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Savings Account</a:t>
                      </a:r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3" name="Table 112"/>
          <p:cNvGraphicFramePr>
            <a:graphicFrameLocks noGrp="1"/>
          </p:cNvGraphicFramePr>
          <p:nvPr/>
        </p:nvGraphicFramePr>
        <p:xfrm>
          <a:off x="1905000" y="3352800"/>
          <a:ext cx="5181600" cy="38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81600"/>
              </a:tblGrid>
              <a:tr h="381000">
                <a:tc>
                  <a:txBody>
                    <a:bodyPr/>
                    <a:lstStyle/>
                    <a:p>
                      <a:r>
                        <a:rPr lang="en-US" dirty="0" smtClean="0"/>
                        <a:t>Current Account</a:t>
                      </a:r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6" name="Table 115"/>
          <p:cNvGraphicFramePr>
            <a:graphicFrameLocks noGrp="1"/>
          </p:cNvGraphicFramePr>
          <p:nvPr/>
        </p:nvGraphicFramePr>
        <p:xfrm>
          <a:off x="1905000" y="4114800"/>
          <a:ext cx="5181600" cy="889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38200"/>
                <a:gridCol w="889000"/>
                <a:gridCol w="711200"/>
                <a:gridCol w="800100"/>
                <a:gridCol w="809625"/>
                <a:gridCol w="1133475"/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A/c </a:t>
                      </a:r>
                      <a:r>
                        <a:rPr lang="en-US" sz="1400" baseline="0" dirty="0" smtClean="0"/>
                        <a:t> #</a:t>
                      </a:r>
                      <a:endParaRPr lang="en-US" sz="1400" dirty="0"/>
                    </a:p>
                  </a:txBody>
                  <a:tcPr>
                    <a:solidFill>
                      <a:schemeClr val="tx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Branch</a:t>
                      </a:r>
                      <a:endParaRPr lang="en-US" sz="1400" dirty="0"/>
                    </a:p>
                  </a:txBody>
                  <a:tcPr>
                    <a:solidFill>
                      <a:schemeClr val="tx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Name</a:t>
                      </a:r>
                      <a:endParaRPr lang="en-US" sz="1400" dirty="0"/>
                    </a:p>
                  </a:txBody>
                  <a:tcPr>
                    <a:solidFill>
                      <a:schemeClr val="tx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Balance</a:t>
                      </a:r>
                      <a:br>
                        <a:rPr lang="en-US" sz="1400" dirty="0" smtClean="0"/>
                      </a:br>
                      <a:r>
                        <a:rPr lang="en-US" sz="1400" dirty="0" smtClean="0"/>
                        <a:t>( INR)</a:t>
                      </a:r>
                      <a:endParaRPr lang="en-US" sz="1400" dirty="0"/>
                    </a:p>
                  </a:txBody>
                  <a:tcPr>
                    <a:solidFill>
                      <a:schemeClr val="tx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Details</a:t>
                      </a:r>
                      <a:endParaRPr lang="en-US" sz="1400" dirty="0"/>
                    </a:p>
                  </a:txBody>
                  <a:tcPr>
                    <a:solidFill>
                      <a:schemeClr val="tx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Mini</a:t>
                      </a:r>
                      <a:br>
                        <a:rPr lang="en-US" sz="1400" dirty="0" smtClean="0"/>
                      </a:br>
                      <a:r>
                        <a:rPr lang="en-US" sz="1400" dirty="0" smtClean="0"/>
                        <a:t>Statament</a:t>
                      </a:r>
                      <a:endParaRPr lang="en-US" sz="1400" dirty="0"/>
                    </a:p>
                  </a:txBody>
                  <a:tcPr>
                    <a:solidFill>
                      <a:schemeClr val="tx1">
                        <a:lumMod val="65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358989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BHU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Karan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5000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u="sng" dirty="0" smtClean="0">
                          <a:solidFill>
                            <a:srgbClr val="0070C0"/>
                          </a:solidFill>
                        </a:rPr>
                        <a:t>view</a:t>
                      </a:r>
                      <a:endParaRPr lang="en-US" sz="1400" u="sng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u="sng" dirty="0" smtClean="0">
                          <a:solidFill>
                            <a:srgbClr val="0070C0"/>
                          </a:solidFill>
                        </a:rPr>
                        <a:t>view</a:t>
                      </a:r>
                      <a:endParaRPr lang="en-US" sz="1400" u="sng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17" name="Table 116"/>
          <p:cNvGraphicFramePr>
            <a:graphicFrameLocks noGrp="1"/>
          </p:cNvGraphicFramePr>
          <p:nvPr/>
        </p:nvGraphicFramePr>
        <p:xfrm>
          <a:off x="1905000" y="5029200"/>
          <a:ext cx="5181600" cy="38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81600"/>
              </a:tblGrid>
              <a:tr h="381000">
                <a:tc>
                  <a:txBody>
                    <a:bodyPr/>
                    <a:lstStyle/>
                    <a:p>
                      <a:r>
                        <a:rPr lang="en-US" dirty="0" smtClean="0"/>
                        <a:t>Loan Account</a:t>
                      </a:r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</a:tr>
            </a:tbl>
          </a:graphicData>
        </a:graphic>
      </p:graphicFrame>
      <p:grpSp>
        <p:nvGrpSpPr>
          <p:cNvPr id="3" name="Group 43"/>
          <p:cNvGrpSpPr>
            <a:grpSpLocks/>
          </p:cNvGrpSpPr>
          <p:nvPr/>
        </p:nvGrpSpPr>
        <p:grpSpPr bwMode="auto">
          <a:xfrm>
            <a:off x="7162800" y="1828800"/>
            <a:ext cx="1828800" cy="2057400"/>
            <a:chOff x="6715760" y="2209800"/>
            <a:chExt cx="2275840" cy="2220686"/>
          </a:xfrm>
        </p:grpSpPr>
        <p:sp>
          <p:nvSpPr>
            <p:cNvPr id="124" name="Rectangle 123"/>
            <p:cNvSpPr/>
            <p:nvPr/>
          </p:nvSpPr>
          <p:spPr>
            <a:xfrm>
              <a:off x="6715760" y="2525939"/>
              <a:ext cx="2275840" cy="190454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125" name="Rectangle 124"/>
            <p:cNvSpPr/>
            <p:nvPr/>
          </p:nvSpPr>
          <p:spPr>
            <a:xfrm>
              <a:off x="6715760" y="2209800"/>
              <a:ext cx="2275840" cy="304574"/>
            </a:xfrm>
            <a:prstGeom prst="rect">
              <a:avLst/>
            </a:prstGeom>
          </p:spPr>
          <p:style>
            <a:lnRef idx="1">
              <a:schemeClr val="accent5"/>
            </a:lnRef>
            <a:fillRef idx="3">
              <a:schemeClr val="accent5"/>
            </a:fillRef>
            <a:effectRef idx="2">
              <a:schemeClr val="accent5"/>
            </a:effectRef>
            <a:fontRef idx="minor">
              <a:schemeClr val="lt1"/>
            </a:fontRef>
          </p:style>
          <p:txBody>
            <a:bodyPr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600" dirty="0"/>
                <a:t>Login Information</a:t>
              </a:r>
            </a:p>
          </p:txBody>
        </p:sp>
      </p:grpSp>
      <p:sp>
        <p:nvSpPr>
          <p:cNvPr id="126" name="TextBox 71"/>
          <p:cNvSpPr txBox="1">
            <a:spLocks noChangeArrowheads="1"/>
          </p:cNvSpPr>
          <p:nvPr/>
        </p:nvSpPr>
        <p:spPr bwMode="auto">
          <a:xfrm>
            <a:off x="7239000" y="3048000"/>
            <a:ext cx="1752600" cy="830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1600" dirty="0" smtClean="0"/>
              <a:t>Last </a:t>
            </a:r>
            <a:r>
              <a:rPr lang="en-US" sz="1600" dirty="0"/>
              <a:t>login:</a:t>
            </a:r>
            <a:r>
              <a:rPr lang="en-US" dirty="0"/>
              <a:t/>
            </a:r>
            <a:br>
              <a:rPr lang="en-US" dirty="0"/>
            </a:br>
            <a:r>
              <a:rPr lang="en-US" sz="1600" dirty="0"/>
              <a:t>24 March,2008</a:t>
            </a:r>
          </a:p>
          <a:p>
            <a:r>
              <a:rPr lang="en-US" sz="1600" dirty="0"/>
              <a:t>Time : 14:50 Hrs</a:t>
            </a:r>
          </a:p>
        </p:txBody>
      </p:sp>
      <p:sp>
        <p:nvSpPr>
          <p:cNvPr id="127" name="TextBox 73"/>
          <p:cNvSpPr txBox="1">
            <a:spLocks noChangeArrowheads="1"/>
          </p:cNvSpPr>
          <p:nvPr/>
        </p:nvSpPr>
        <p:spPr bwMode="auto">
          <a:xfrm>
            <a:off x="7239000" y="2209800"/>
            <a:ext cx="1676400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400" dirty="0" smtClean="0"/>
              <a:t>Welcome</a:t>
            </a:r>
          </a:p>
          <a:p>
            <a:r>
              <a:rPr lang="en-US" sz="1400" dirty="0" smtClean="0"/>
              <a:t>Mr. Karan Jain</a:t>
            </a:r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128" name="TextBox 127"/>
          <p:cNvSpPr txBox="1"/>
          <p:nvPr/>
        </p:nvSpPr>
        <p:spPr>
          <a:xfrm>
            <a:off x="1981200" y="1828800"/>
            <a:ext cx="28194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chemeClr val="bg2"/>
                </a:solidFill>
              </a:rPr>
              <a:t>My Accounts</a:t>
            </a:r>
          </a:p>
          <a:p>
            <a:r>
              <a:rPr lang="en-US" sz="1100" u="sng" dirty="0" smtClean="0">
                <a:solidFill>
                  <a:schemeClr val="accent1"/>
                </a:solidFill>
              </a:rPr>
              <a:t>My Profile</a:t>
            </a:r>
            <a:r>
              <a:rPr lang="en-US" sz="1100" dirty="0" smtClean="0">
                <a:solidFill>
                  <a:schemeClr val="accent1"/>
                </a:solidFill>
              </a:rPr>
              <a:t>  &gt; My Accounts</a:t>
            </a:r>
            <a:endParaRPr lang="en-US" sz="1100" dirty="0">
              <a:solidFill>
                <a:schemeClr val="accent1"/>
              </a:solidFill>
            </a:endParaRPr>
          </a:p>
        </p:txBody>
      </p:sp>
      <p:sp>
        <p:nvSpPr>
          <p:cNvPr id="58" name="Rectangle 57"/>
          <p:cNvSpPr/>
          <p:nvPr/>
        </p:nvSpPr>
        <p:spPr>
          <a:xfrm>
            <a:off x="1905000" y="2438400"/>
            <a:ext cx="5105400" cy="38100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TextBox 51"/>
          <p:cNvSpPr txBox="1"/>
          <p:nvPr/>
        </p:nvSpPr>
        <p:spPr>
          <a:xfrm>
            <a:off x="1981200" y="2480846"/>
            <a:ext cx="18288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/>
              <a:t>Default  Account</a:t>
            </a:r>
            <a:endParaRPr lang="en-US" sz="1600" dirty="0"/>
          </a:p>
        </p:txBody>
      </p:sp>
      <p:sp>
        <p:nvSpPr>
          <p:cNvPr id="53" name="Rectangle 52"/>
          <p:cNvSpPr/>
          <p:nvPr/>
        </p:nvSpPr>
        <p:spPr bwMode="auto">
          <a:xfrm>
            <a:off x="3657600" y="2514600"/>
            <a:ext cx="1447800" cy="2286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>
                <a:solidFill>
                  <a:schemeClr val="bg1"/>
                </a:solidFill>
              </a:rPr>
              <a:t>8594621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54" name="Rectangle 53"/>
          <p:cNvSpPr/>
          <p:nvPr/>
        </p:nvSpPr>
        <p:spPr>
          <a:xfrm>
            <a:off x="5105400" y="2514600"/>
            <a:ext cx="304800" cy="2286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 smtClean="0">
                <a:solidFill>
                  <a:schemeClr val="bg2"/>
                </a:solidFill>
              </a:rPr>
              <a:t>\/</a:t>
            </a:r>
            <a:endParaRPr lang="en-US" sz="1000" b="1" dirty="0">
              <a:solidFill>
                <a:schemeClr val="bg2"/>
              </a:solidFill>
            </a:endParaRPr>
          </a:p>
        </p:txBody>
      </p:sp>
      <p:sp>
        <p:nvSpPr>
          <p:cNvPr id="55" name="Rounded Rectangle 54"/>
          <p:cNvSpPr/>
          <p:nvPr/>
        </p:nvSpPr>
        <p:spPr>
          <a:xfrm>
            <a:off x="5715000" y="2514600"/>
            <a:ext cx="990600" cy="228600"/>
          </a:xfrm>
          <a:prstGeom prst="roundRect">
            <a:avLst/>
          </a:prstGeom>
          <a:solidFill>
            <a:schemeClr val="bg1">
              <a:lumMod val="50000"/>
              <a:lumOff val="50000"/>
            </a:schemeClr>
          </a:solidFill>
          <a:ln>
            <a:solidFill>
              <a:schemeClr val="bg1">
                <a:lumMod val="85000"/>
                <a:lumOff val="15000"/>
              </a:schemeClr>
            </a:solidFill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Change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276600" y="0"/>
            <a:ext cx="5867400" cy="82296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1" name="Rectangle 60"/>
          <p:cNvSpPr/>
          <p:nvPr/>
        </p:nvSpPr>
        <p:spPr>
          <a:xfrm>
            <a:off x="0" y="838200"/>
            <a:ext cx="9144000" cy="228600"/>
          </a:xfrm>
          <a:prstGeom prst="rect">
            <a:avLst/>
          </a:prstGeom>
          <a:solidFill>
            <a:schemeClr val="tx1">
              <a:lumMod val="85000"/>
            </a:schemeClr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00" dirty="0">
                <a:solidFill>
                  <a:schemeClr val="bg2"/>
                </a:solidFill>
              </a:rPr>
              <a:t>Home	</a:t>
            </a:r>
            <a:r>
              <a:rPr lang="en-US" sz="1400" dirty="0" smtClean="0">
                <a:solidFill>
                  <a:schemeClr val="bg2"/>
                </a:solidFill>
              </a:rPr>
              <a:t>Product and Services              </a:t>
            </a:r>
            <a:r>
              <a:rPr lang="en-US" sz="1400" dirty="0" smtClean="0">
                <a:solidFill>
                  <a:schemeClr val="bg2"/>
                </a:solidFill>
              </a:rPr>
              <a:t>Downloads                    Contact Us               Help</a:t>
            </a:r>
            <a:endParaRPr lang="en-US" sz="1400" dirty="0">
              <a:solidFill>
                <a:schemeClr val="bg2"/>
              </a:solidFill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0" y="0"/>
            <a:ext cx="9144000" cy="830997"/>
          </a:xfrm>
          <a:prstGeom prst="rect">
            <a:avLst/>
          </a:prstGeom>
          <a:scene3d>
            <a:camera prst="orthographicFront">
              <a:rot lat="0" lon="0" rev="0"/>
            </a:camera>
            <a:lightRig rig="brightRoom" dir="t"/>
          </a:scene3d>
          <a:sp3d>
            <a:bevelT w="63500" h="254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2400" b="1" dirty="0">
              <a:latin typeface="+mj-lt"/>
              <a:cs typeface="Tahoma" pitchFamily="34" charset="0"/>
            </a:endParaRP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2400" b="1" dirty="0">
              <a:latin typeface="+mj-lt"/>
              <a:cs typeface="Tahoma" pitchFamily="34" charset="0"/>
            </a:endParaRPr>
          </a:p>
        </p:txBody>
      </p:sp>
      <p:pic>
        <p:nvPicPr>
          <p:cNvPr id="64" name="Picture 7" descr="world.png"/>
          <p:cNvPicPr>
            <a:picLocks noChangeAspect="1"/>
          </p:cNvPicPr>
          <p:nvPr/>
        </p:nvPicPr>
        <p:blipFill>
          <a:blip r:embed="rId2">
            <a:lum bright="-60000" contrast="-100000"/>
          </a:blip>
          <a:srcRect/>
          <a:stretch>
            <a:fillRect/>
          </a:stretch>
        </p:blipFill>
        <p:spPr bwMode="auto">
          <a:xfrm>
            <a:off x="3352800" y="0"/>
            <a:ext cx="1609725" cy="809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5" name="TextBox 53"/>
          <p:cNvSpPr txBox="1">
            <a:spLocks noChangeArrowheads="1"/>
          </p:cNvSpPr>
          <p:nvPr/>
        </p:nvSpPr>
        <p:spPr bwMode="auto">
          <a:xfrm>
            <a:off x="2743200" y="152400"/>
            <a:ext cx="3124200" cy="430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2200" b="1" dirty="0">
                <a:latin typeface="Calibri" pitchFamily="34" charset="0"/>
              </a:rPr>
              <a:t>Internet Banking System</a:t>
            </a:r>
          </a:p>
        </p:txBody>
      </p:sp>
      <p:grpSp>
        <p:nvGrpSpPr>
          <p:cNvPr id="4" name="Group 77"/>
          <p:cNvGrpSpPr/>
          <p:nvPr/>
        </p:nvGrpSpPr>
        <p:grpSpPr>
          <a:xfrm>
            <a:off x="7162800" y="457200"/>
            <a:ext cx="1828800" cy="228600"/>
            <a:chOff x="7162800" y="533400"/>
            <a:chExt cx="1828800" cy="228600"/>
          </a:xfrm>
        </p:grpSpPr>
        <p:sp>
          <p:nvSpPr>
            <p:cNvPr id="67" name="Rectangle 66"/>
            <p:cNvSpPr/>
            <p:nvPr/>
          </p:nvSpPr>
          <p:spPr>
            <a:xfrm>
              <a:off x="7162800" y="533400"/>
              <a:ext cx="1295400" cy="228600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400" dirty="0">
                  <a:solidFill>
                    <a:schemeClr val="bg1"/>
                  </a:solidFill>
                </a:rPr>
                <a:t>Search</a:t>
              </a:r>
              <a:r>
                <a:rPr lang="en-US" dirty="0"/>
                <a:t> </a:t>
              </a:r>
            </a:p>
          </p:txBody>
        </p:sp>
        <p:sp>
          <p:nvSpPr>
            <p:cNvPr id="68" name="Rounded Rectangle 67"/>
            <p:cNvSpPr/>
            <p:nvPr/>
          </p:nvSpPr>
          <p:spPr>
            <a:xfrm>
              <a:off x="8534400" y="533400"/>
              <a:ext cx="457200" cy="228600"/>
            </a:xfrm>
            <a:prstGeom prst="roundRect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400" dirty="0">
                  <a:ln>
                    <a:solidFill>
                      <a:schemeClr val="accent1">
                        <a:shade val="50000"/>
                      </a:schemeClr>
                    </a:solidFill>
                  </a:ln>
                  <a:solidFill>
                    <a:schemeClr val="bg1"/>
                  </a:solidFill>
                </a:rPr>
                <a:t>GO</a:t>
              </a:r>
            </a:p>
          </p:txBody>
        </p:sp>
      </p:grpSp>
      <p:sp>
        <p:nvSpPr>
          <p:cNvPr id="69" name="Rounded Rectangle 68"/>
          <p:cNvSpPr/>
          <p:nvPr/>
        </p:nvSpPr>
        <p:spPr>
          <a:xfrm>
            <a:off x="7848600" y="838200"/>
            <a:ext cx="1219200" cy="228600"/>
          </a:xfrm>
          <a:prstGeom prst="round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/>
              <a:t>Log out</a:t>
            </a:r>
            <a:endParaRPr lang="en-US" sz="1600" dirty="0"/>
          </a:p>
        </p:txBody>
      </p:sp>
      <p:sp>
        <p:nvSpPr>
          <p:cNvPr id="81" name="Rectangle 80"/>
          <p:cNvSpPr/>
          <p:nvPr/>
        </p:nvSpPr>
        <p:spPr>
          <a:xfrm>
            <a:off x="0" y="1143000"/>
            <a:ext cx="9144000" cy="228600"/>
          </a:xfrm>
          <a:prstGeom prst="rect">
            <a:avLst/>
          </a:prstGeom>
          <a:ln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dirty="0"/>
              <a:t>               </a:t>
            </a:r>
            <a:r>
              <a:rPr lang="en-US" sz="1600" dirty="0">
                <a:solidFill>
                  <a:schemeClr val="tx1"/>
                </a:solidFill>
              </a:rPr>
              <a:t>&lt;---Presenting the new era of Banking                        &lt;---The front end has completed..</a:t>
            </a:r>
          </a:p>
        </p:txBody>
      </p:sp>
      <p:sp>
        <p:nvSpPr>
          <p:cNvPr id="83" name="Round Same Side Corner Rectangle 82"/>
          <p:cNvSpPr/>
          <p:nvPr/>
        </p:nvSpPr>
        <p:spPr>
          <a:xfrm>
            <a:off x="1905000" y="3048000"/>
            <a:ext cx="1981200" cy="304800"/>
          </a:xfrm>
          <a:prstGeom prst="round2SameRect">
            <a:avLst/>
          </a:prstGeom>
          <a:solidFill>
            <a:schemeClr val="tx1">
              <a:lumMod val="65000"/>
            </a:schemeClr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List of Accounts</a:t>
            </a:r>
            <a:endParaRPr lang="en-US" dirty="0"/>
          </a:p>
        </p:txBody>
      </p:sp>
      <p:sp>
        <p:nvSpPr>
          <p:cNvPr id="48" name="Round Single Corner Rectangle 47"/>
          <p:cNvSpPr/>
          <p:nvPr/>
        </p:nvSpPr>
        <p:spPr>
          <a:xfrm>
            <a:off x="7620000" y="1447800"/>
            <a:ext cx="1295400" cy="228600"/>
          </a:xfrm>
          <a:prstGeom prst="round1Rect">
            <a:avLst>
              <a:gd name="adj" fmla="val 50000"/>
            </a:avLst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/>
              <a:t>Trade Finance</a:t>
            </a:r>
            <a:endParaRPr lang="en-US" sz="1400" dirty="0"/>
          </a:p>
        </p:txBody>
      </p:sp>
      <p:sp>
        <p:nvSpPr>
          <p:cNvPr id="49" name="Line Callout 1 48"/>
          <p:cNvSpPr/>
          <p:nvPr/>
        </p:nvSpPr>
        <p:spPr>
          <a:xfrm>
            <a:off x="7696200" y="4419600"/>
            <a:ext cx="1219200" cy="914400"/>
          </a:xfrm>
          <a:prstGeom prst="borderCallout1">
            <a:avLst>
              <a:gd name="adj1" fmla="val 18750"/>
              <a:gd name="adj2" fmla="val -8333"/>
              <a:gd name="adj3" fmla="val -301974"/>
              <a:gd name="adj4" fmla="val 59364"/>
            </a:avLst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For corporate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7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0" fill="hold"/>
                                        <p:tgtEl>
                                          <p:spTgt spid="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0" fill="hold"/>
                                        <p:tgtEl>
                                          <p:spTgt spid="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1354</TotalTime>
  <Words>646</Words>
  <Application>Microsoft Office PowerPoint</Application>
  <PresentationFormat>On-screen Show (4:3)</PresentationFormat>
  <Paragraphs>295</Paragraphs>
  <Slides>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iimcal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Rohit Jaiswal</dc:creator>
  <cp:lastModifiedBy>rohyt</cp:lastModifiedBy>
  <cp:revision>181</cp:revision>
  <dcterms:created xsi:type="dcterms:W3CDTF">2008-06-15T07:46:54Z</dcterms:created>
  <dcterms:modified xsi:type="dcterms:W3CDTF">2008-09-05T21:50:26Z</dcterms:modified>
</cp:coreProperties>
</file>